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F4E79"/>
                </a:solidFill>
              </a:rPr>
              <a:t>Secure Execution in Embedded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Custom ISA + Compiler Binding</a:t>
            </a:r>
          </a:p>
          <a:p>
            <a:r>
              <a:rPr sz="2000"/>
              <a:t>Final Defense Presentation</a:t>
            </a:r>
          </a:p>
          <a:p>
            <a:r>
              <a:rPr sz="2000"/>
              <a:t>Author: Maria Ayub</a:t>
            </a:r>
          </a:p>
          <a:p>
            <a:r>
              <a:rPr sz="2000"/>
              <a:t>University Name (replace)</a:t>
            </a:r>
          </a:p>
          <a:p>
            <a:r>
              <a:rPr sz="2000"/>
              <a:t>Jan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Physical access allows firmware replacement</a:t>
            </a:r>
          </a:p>
          <a:p>
            <a:pPr>
              <a:defRPr sz="2400"/>
            </a:pPr>
            <a:r>
              <a:t>Debug interfaces give full control</a:t>
            </a:r>
          </a:p>
          <a:p>
            <a:pPr>
              <a:defRPr sz="2400"/>
            </a:pPr>
            <a:r>
              <a:t>Secure boot does not stop post-boot abuse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Only authorized users can program or debug</a:t>
            </a:r>
          </a:p>
          <a:p>
            <a:pPr>
              <a:defRPr sz="2400"/>
            </a:pPr>
            <a:r>
              <a:t>Device decides locally (not just the host)</a:t>
            </a:r>
          </a:p>
          <a:p>
            <a:pPr>
              <a:defRPr sz="2400"/>
            </a:pPr>
            <a:r>
              <a:t>Keys stay protected from normal memory reads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Add a custom instruction: kc</a:t>
            </a:r>
          </a:p>
          <a:p>
            <a:pPr>
              <a:defRPr sz="2400"/>
            </a:pPr>
            <a:r>
              <a:t>kc triggers a protected key check</a:t>
            </a:r>
          </a:p>
          <a:p>
            <a:pPr>
              <a:defRPr sz="2400"/>
            </a:pPr>
            <a:r>
              <a:t>A small FSM enables or blocks execution/debug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System Architecture</a:t>
            </a:r>
          </a:p>
        </p:txBody>
      </p:sp>
      <p:pic>
        <p:nvPicPr>
          <p:cNvPr id="4" name="Picture 3" descr="fig_arc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094415" cy="6185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Authorization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1) Start sequence from host</a:t>
            </a:r>
          </a:p>
          <a:p>
            <a:pPr>
              <a:defRPr sz="2400"/>
            </a:pPr>
            <a:r>
              <a:t>2) Send key parts</a:t>
            </a:r>
          </a:p>
          <a:p>
            <a:pPr>
              <a:defRPr sz="2400"/>
            </a:pPr>
            <a:r>
              <a:t>3) kc triggers device check</a:t>
            </a:r>
          </a:p>
          <a:p>
            <a:pPr>
              <a:defRPr sz="2400"/>
            </a:pPr>
            <a:r>
              <a:t>4) Match = enable, mismatch = halt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Toolchain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Custom GCC/binutils emit kc</a:t>
            </a:r>
          </a:p>
          <a:p>
            <a:pPr>
              <a:defRPr sz="2400"/>
            </a:pPr>
            <a:r>
              <a:t>Works with standard build flow</a:t>
            </a:r>
          </a:p>
          <a:p>
            <a:pPr>
              <a:defRPr sz="2400"/>
            </a:pPr>
            <a:r>
              <a:t>No manual binary patching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Host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Compile</a:t>
            </a:r>
          </a:p>
          <a:p>
            <a:pPr>
              <a:defRPr sz="2400"/>
            </a:pPr>
            <a:r>
              <a:t>Hex viewer</a:t>
            </a:r>
          </a:p>
          <a:p>
            <a:pPr>
              <a:defRPr sz="2400"/>
            </a:pPr>
            <a:r>
              <a:t>Key match</a:t>
            </a:r>
          </a:p>
          <a:p>
            <a:pPr>
              <a:defRPr sz="2400"/>
            </a:pPr>
            <a:r>
              <a:t>Connect and program</a:t>
            </a:r>
          </a:p>
          <a:p>
            <a:pPr>
              <a:defRPr sz="2400"/>
            </a:pPr>
            <a:r>
              <a:t>Logs for traceability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Results: Toolchain and Hex</a:t>
            </a:r>
          </a:p>
        </p:txBody>
      </p:sp>
      <p:pic>
        <p:nvPicPr>
          <p:cNvPr id="4" name="Picture 3" descr="fig_comp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207"/>
            <a:ext cx="5318607" cy="3211140"/>
          </a:xfrm>
          <a:prstGeom prst="rect">
            <a:avLst/>
          </a:prstGeom>
        </p:spPr>
      </p:pic>
      <p:pic>
        <p:nvPicPr>
          <p:cNvPr id="5" name="Picture 4" descr="fig_h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280160"/>
            <a:ext cx="5318607" cy="32112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Results: Authorization</a:t>
            </a:r>
          </a:p>
        </p:txBody>
      </p:sp>
      <p:pic>
        <p:nvPicPr>
          <p:cNvPr id="4" name="Picture 3" descr="fig_key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911535" cy="6583667"/>
          </a:xfrm>
          <a:prstGeom prst="rect">
            <a:avLst/>
          </a:prstGeom>
        </p:spPr>
      </p:pic>
      <p:pic>
        <p:nvPicPr>
          <p:cNvPr id="5" name="Picture 4" descr="fig_debugenab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726667"/>
            <a:ext cx="10911535" cy="66002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Results: Programming</a:t>
            </a:r>
          </a:p>
        </p:txBody>
      </p:sp>
      <p:pic>
        <p:nvPicPr>
          <p:cNvPr id="4" name="Picture 3" descr="fig_conn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911535" cy="7137749"/>
          </a:xfrm>
          <a:prstGeom prst="rect">
            <a:avLst/>
          </a:prstGeom>
        </p:spPr>
      </p:pic>
      <p:pic>
        <p:nvPicPr>
          <p:cNvPr id="5" name="Picture 4" descr="fig_loa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280749"/>
            <a:ext cx="10911535" cy="49717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Instruction-triggered authorization works</a:t>
            </a:r>
          </a:p>
          <a:p>
            <a:pPr>
              <a:defRPr sz="2400"/>
            </a:pPr>
            <a:r>
              <a:t>Execution and debug stay locked until verified</a:t>
            </a:r>
          </a:p>
          <a:p>
            <a:pPr>
              <a:defRPr sz="2400"/>
            </a:pPr>
            <a:r>
              <a:t>End-to-end workflow is practical</a:t>
            </a:r>
          </a:p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