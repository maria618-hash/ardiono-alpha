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 id="2147483712" r:id="rId5"/>
  </p:sldMasterIdLst>
  <p:notesMasterIdLst>
    <p:notesMasterId r:id="rId25"/>
  </p:notesMasterIdLst>
  <p:handoutMasterIdLst>
    <p:handoutMasterId r:id="rId26"/>
  </p:handoutMasterIdLst>
  <p:sldIdLst>
    <p:sldId id="410" r:id="rId6"/>
    <p:sldId id="411" r:id="rId7"/>
    <p:sldId id="383" r:id="rId8"/>
    <p:sldId id="415" r:id="rId9"/>
    <p:sldId id="412" r:id="rId10"/>
    <p:sldId id="416" r:id="rId11"/>
    <p:sldId id="428" r:id="rId12"/>
    <p:sldId id="417" r:id="rId13"/>
    <p:sldId id="418" r:id="rId14"/>
    <p:sldId id="419" r:id="rId15"/>
    <p:sldId id="421" r:id="rId16"/>
    <p:sldId id="426" r:id="rId17"/>
    <p:sldId id="427" r:id="rId18"/>
    <p:sldId id="422" r:id="rId19"/>
    <p:sldId id="423" r:id="rId20"/>
    <p:sldId id="424" r:id="rId21"/>
    <p:sldId id="256" r:id="rId22"/>
    <p:sldId id="425" r:id="rId23"/>
    <p:sldId id="39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5862" autoAdjust="0"/>
  </p:normalViewPr>
  <p:slideViewPr>
    <p:cSldViewPr snapToGrid="0">
      <p:cViewPr varScale="1">
        <p:scale>
          <a:sx n="63" d="100"/>
          <a:sy n="63" d="100"/>
        </p:scale>
        <p:origin x="806" y="3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commentAuthors" Target="commentAuthors.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085546-7C7C-4B3E-ABEB-2669F1A65FB2}" type="doc">
      <dgm:prSet loTypeId="urn:microsoft.com/office/officeart/2017/3/layout/DropPinTimeline" loCatId="process" qsTypeId="urn:microsoft.com/office/officeart/2005/8/quickstyle/simple1" qsCatId="simple" csTypeId="urn:microsoft.com/office/officeart/2005/8/colors/accent1_2" csCatId="accent1" phldr="1"/>
      <dgm:spPr/>
      <dgm:t>
        <a:bodyPr/>
        <a:lstStyle/>
        <a:p>
          <a:endParaRPr lang="en-US"/>
        </a:p>
      </dgm:t>
    </dgm:pt>
    <dgm:pt modelId="{9DCEA5FC-4640-45AF-B712-7A4FD94AEF0D}">
      <dgm:prSet phldrT="[Text]" custT="1"/>
      <dgm:spPr/>
      <dgm:t>
        <a:bodyPr/>
        <a:lstStyle/>
        <a:p>
          <a:pPr>
            <a:defRPr b="1"/>
          </a:pPr>
          <a:r>
            <a:rPr lang="en-US" sz="1600" b="1">
              <a:solidFill>
                <a:schemeClr val="bg1"/>
              </a:solidFill>
            </a:rPr>
            <a:t>Q1</a:t>
          </a:r>
          <a:endParaRPr lang="en-US" sz="1100" dirty="0">
            <a:solidFill>
              <a:schemeClr val="bg1"/>
            </a:solidFill>
          </a:endParaRPr>
        </a:p>
      </dgm:t>
    </dgm:pt>
    <dgm:pt modelId="{929A5FD9-0612-4B79-9B59-C3C36D34A069}" type="parTrans" cxnId="{DBD99269-D7F7-4B47-B17B-A5AE402751D9}">
      <dgm:prSet/>
      <dgm:spPr/>
      <dgm:t>
        <a:bodyPr/>
        <a:lstStyle/>
        <a:p>
          <a:endParaRPr lang="en-US">
            <a:solidFill>
              <a:schemeClr val="bg1"/>
            </a:solidFill>
          </a:endParaRPr>
        </a:p>
      </dgm:t>
    </dgm:pt>
    <dgm:pt modelId="{0A99745B-BB5C-49B3-A782-8DB57641F6C9}" type="sibTrans" cxnId="{DBD99269-D7F7-4B47-B17B-A5AE402751D9}">
      <dgm:prSet/>
      <dgm:spPr/>
      <dgm:t>
        <a:bodyPr/>
        <a:lstStyle/>
        <a:p>
          <a:endParaRPr lang="en-US">
            <a:solidFill>
              <a:schemeClr val="bg1"/>
            </a:solidFill>
          </a:endParaRPr>
        </a:p>
      </dgm:t>
    </dgm:pt>
    <dgm:pt modelId="{CA6B1BA0-B2FC-48AD-8EDA-F4AAA4AF2782}">
      <dgm:prSet custT="1"/>
      <dgm:spPr/>
      <dgm:t>
        <a:bodyPr/>
        <a:lstStyle/>
        <a:p>
          <a:pPr>
            <a:defRPr b="1"/>
          </a:pPr>
          <a:r>
            <a:rPr lang="en-US" sz="1600" b="1" dirty="0">
              <a:solidFill>
                <a:schemeClr val="bg1"/>
              </a:solidFill>
            </a:rPr>
            <a:t>Q3</a:t>
          </a:r>
          <a:endParaRPr lang="en-US" sz="1100" dirty="0">
            <a:solidFill>
              <a:schemeClr val="bg1"/>
            </a:solidFill>
          </a:endParaRPr>
        </a:p>
      </dgm:t>
    </dgm:pt>
    <dgm:pt modelId="{D7D3AA07-BCB9-4212-A556-E90870FB1413}" type="parTrans" cxnId="{CD6B6EE8-3813-4EF1-BFEC-C005A3326D63}">
      <dgm:prSet/>
      <dgm:spPr/>
      <dgm:t>
        <a:bodyPr/>
        <a:lstStyle/>
        <a:p>
          <a:endParaRPr lang="en-US">
            <a:solidFill>
              <a:schemeClr val="bg1"/>
            </a:solidFill>
          </a:endParaRPr>
        </a:p>
      </dgm:t>
    </dgm:pt>
    <dgm:pt modelId="{39FB540D-D808-4040-9A37-0AC474C0212F}" type="sibTrans" cxnId="{CD6B6EE8-3813-4EF1-BFEC-C005A3326D63}">
      <dgm:prSet/>
      <dgm:spPr/>
      <dgm:t>
        <a:bodyPr/>
        <a:lstStyle/>
        <a:p>
          <a:endParaRPr lang="en-US">
            <a:solidFill>
              <a:schemeClr val="bg1"/>
            </a:solidFill>
          </a:endParaRPr>
        </a:p>
      </dgm:t>
    </dgm:pt>
    <dgm:pt modelId="{3CB04A44-4013-4CA7-90FD-29AFC3C15E37}">
      <dgm:prSet/>
      <dgm:spPr/>
      <dgm:t>
        <a:bodyPr/>
        <a:lstStyle/>
        <a:p>
          <a:r>
            <a:rPr lang="en-US" dirty="0">
              <a:solidFill>
                <a:schemeClr val="bg1"/>
              </a:solidFill>
            </a:rPr>
            <a:t>Integrating software with core (processor).</a:t>
          </a:r>
        </a:p>
      </dgm:t>
    </dgm:pt>
    <dgm:pt modelId="{ECEE936A-E3CC-4209-BECC-1CD0C85A2B72}" type="parTrans" cxnId="{24A8F052-3377-4BA4-8C62-CCF5039C85D7}">
      <dgm:prSet/>
      <dgm:spPr/>
      <dgm:t>
        <a:bodyPr/>
        <a:lstStyle/>
        <a:p>
          <a:endParaRPr lang="en-US">
            <a:solidFill>
              <a:schemeClr val="bg1"/>
            </a:solidFill>
          </a:endParaRPr>
        </a:p>
      </dgm:t>
    </dgm:pt>
    <dgm:pt modelId="{D7A8F7A0-47A3-4464-B3B7-E0806DF46627}" type="sibTrans" cxnId="{24A8F052-3377-4BA4-8C62-CCF5039C85D7}">
      <dgm:prSet/>
      <dgm:spPr/>
      <dgm:t>
        <a:bodyPr/>
        <a:lstStyle/>
        <a:p>
          <a:endParaRPr lang="en-US">
            <a:solidFill>
              <a:schemeClr val="bg1"/>
            </a:solidFill>
          </a:endParaRPr>
        </a:p>
      </dgm:t>
    </dgm:pt>
    <dgm:pt modelId="{212ADAAB-D5CB-4BBC-8DAF-7340FD334994}">
      <dgm:prSet custT="1"/>
      <dgm:spPr/>
      <dgm:t>
        <a:bodyPr/>
        <a:lstStyle/>
        <a:p>
          <a:pPr>
            <a:defRPr b="1"/>
          </a:pPr>
          <a:r>
            <a:rPr lang="en-US" sz="1600" b="1" dirty="0">
              <a:solidFill>
                <a:schemeClr val="bg1"/>
              </a:solidFill>
            </a:rPr>
            <a:t>Q4</a:t>
          </a:r>
          <a:endParaRPr lang="en-US" sz="1100" dirty="0">
            <a:solidFill>
              <a:schemeClr val="bg1"/>
            </a:solidFill>
          </a:endParaRPr>
        </a:p>
      </dgm:t>
    </dgm:pt>
    <dgm:pt modelId="{45F6D312-A686-491E-95E3-EFB9640CC472}" type="parTrans" cxnId="{C8C7266C-2A0C-476A-85B3-F12BE2521F4C}">
      <dgm:prSet/>
      <dgm:spPr/>
      <dgm:t>
        <a:bodyPr/>
        <a:lstStyle/>
        <a:p>
          <a:endParaRPr lang="en-US">
            <a:solidFill>
              <a:schemeClr val="bg1"/>
            </a:solidFill>
          </a:endParaRPr>
        </a:p>
      </dgm:t>
    </dgm:pt>
    <dgm:pt modelId="{AB2787E4-2A8B-428D-A4AE-2B14DCFFC4E7}" type="sibTrans" cxnId="{C8C7266C-2A0C-476A-85B3-F12BE2521F4C}">
      <dgm:prSet/>
      <dgm:spPr/>
      <dgm:t>
        <a:bodyPr/>
        <a:lstStyle/>
        <a:p>
          <a:endParaRPr lang="en-US">
            <a:solidFill>
              <a:schemeClr val="bg1"/>
            </a:solidFill>
          </a:endParaRPr>
        </a:p>
      </dgm:t>
    </dgm:pt>
    <dgm:pt modelId="{2AEE5C11-34AE-4EB7-8907-9BED418EA471}">
      <dgm:prSet/>
      <dgm:spPr/>
      <dgm:t>
        <a:bodyPr/>
        <a:lstStyle/>
        <a:p>
          <a:r>
            <a:rPr lang="en-US" dirty="0">
              <a:solidFill>
                <a:schemeClr val="bg1"/>
              </a:solidFill>
            </a:rPr>
            <a:t>Testing and validation.</a:t>
          </a:r>
        </a:p>
      </dgm:t>
    </dgm:pt>
    <dgm:pt modelId="{2E14AD1F-C7EA-45AE-ADC0-0EE92A6516CB}" type="parTrans" cxnId="{DD687B5C-28C8-4088-99B8-D375C5FDAE4A}">
      <dgm:prSet/>
      <dgm:spPr/>
      <dgm:t>
        <a:bodyPr/>
        <a:lstStyle/>
        <a:p>
          <a:endParaRPr lang="en-US">
            <a:solidFill>
              <a:schemeClr val="bg1"/>
            </a:solidFill>
          </a:endParaRPr>
        </a:p>
      </dgm:t>
    </dgm:pt>
    <dgm:pt modelId="{F36FDDA0-6B91-47CB-8114-B6F076E55FC8}" type="sibTrans" cxnId="{DD687B5C-28C8-4088-99B8-D375C5FDAE4A}">
      <dgm:prSet/>
      <dgm:spPr/>
      <dgm:t>
        <a:bodyPr/>
        <a:lstStyle/>
        <a:p>
          <a:endParaRPr lang="en-US">
            <a:solidFill>
              <a:schemeClr val="bg1"/>
            </a:solidFill>
          </a:endParaRPr>
        </a:p>
      </dgm:t>
    </dgm:pt>
    <dgm:pt modelId="{A2560FD2-F12F-4A06-A96F-B86674952111}">
      <dgm:prSet/>
      <dgm:spPr/>
      <dgm:t>
        <a:bodyPr/>
        <a:lstStyle/>
        <a:p>
          <a:pPr>
            <a:defRPr b="1"/>
          </a:pPr>
          <a:r>
            <a:rPr lang="en-US" b="0" i="1" dirty="0">
              <a:solidFill>
                <a:schemeClr val="bg1"/>
              </a:solidFill>
            </a:rPr>
            <a:t>Final Step</a:t>
          </a:r>
        </a:p>
      </dgm:t>
    </dgm:pt>
    <dgm:pt modelId="{96173659-138A-4A00-AE0B-9063EA9393A6}" type="parTrans" cxnId="{F9D8B584-9399-4A2B-8ADC-F71293A4822C}">
      <dgm:prSet/>
      <dgm:spPr/>
      <dgm:t>
        <a:bodyPr/>
        <a:lstStyle/>
        <a:p>
          <a:endParaRPr lang="en-US">
            <a:solidFill>
              <a:schemeClr val="bg1"/>
            </a:solidFill>
          </a:endParaRPr>
        </a:p>
      </dgm:t>
    </dgm:pt>
    <dgm:pt modelId="{D3C3BC3F-2256-4FBC-AFA5-0D035E3EACD7}" type="sibTrans" cxnId="{F9D8B584-9399-4A2B-8ADC-F71293A4822C}">
      <dgm:prSet/>
      <dgm:spPr/>
      <dgm:t>
        <a:bodyPr/>
        <a:lstStyle/>
        <a:p>
          <a:endParaRPr lang="en-US">
            <a:solidFill>
              <a:schemeClr val="bg1"/>
            </a:solidFill>
          </a:endParaRPr>
        </a:p>
      </dgm:t>
    </dgm:pt>
    <dgm:pt modelId="{683CC5F6-E9B5-49F2-909E-A68D38896308}">
      <dgm:prSet/>
      <dgm:spPr/>
      <dgm:t>
        <a:bodyPr/>
        <a:lstStyle/>
        <a:p>
          <a:pPr>
            <a:defRPr b="1"/>
          </a:pPr>
          <a:r>
            <a:rPr lang="en-US" b="0" i="1" dirty="0">
              <a:solidFill>
                <a:schemeClr val="bg1"/>
              </a:solidFill>
            </a:rPr>
            <a:t>Intermediate Step</a:t>
          </a:r>
        </a:p>
      </dgm:t>
    </dgm:pt>
    <dgm:pt modelId="{4C61DDEE-8BBF-4CBF-B066-7E60B6DF0A11}" type="sibTrans" cxnId="{59786CF9-070F-4821-A4E9-D33DB930D8D2}">
      <dgm:prSet/>
      <dgm:spPr/>
      <dgm:t>
        <a:bodyPr/>
        <a:lstStyle/>
        <a:p>
          <a:endParaRPr lang="en-US">
            <a:solidFill>
              <a:schemeClr val="bg1"/>
            </a:solidFill>
          </a:endParaRPr>
        </a:p>
      </dgm:t>
    </dgm:pt>
    <dgm:pt modelId="{15BFC747-B881-4328-BFBE-9BC128388CC6}" type="parTrans" cxnId="{59786CF9-070F-4821-A4E9-D33DB930D8D2}">
      <dgm:prSet/>
      <dgm:spPr/>
      <dgm:t>
        <a:bodyPr/>
        <a:lstStyle/>
        <a:p>
          <a:endParaRPr lang="en-US">
            <a:solidFill>
              <a:schemeClr val="bg1"/>
            </a:solidFill>
          </a:endParaRPr>
        </a:p>
      </dgm:t>
    </dgm:pt>
    <dgm:pt modelId="{4EA069F3-397F-40D5-94A6-32C3E355C277}">
      <dgm:prSet/>
      <dgm:spPr/>
      <dgm:t>
        <a:bodyPr anchor="t"/>
        <a:lstStyle/>
        <a:p>
          <a:r>
            <a:rPr lang="en-US" i="1" dirty="0">
              <a:solidFill>
                <a:schemeClr val="bg1"/>
              </a:solidFill>
            </a:rPr>
            <a:t>Customizing compiler.</a:t>
          </a:r>
        </a:p>
      </dgm:t>
    </dgm:pt>
    <dgm:pt modelId="{2F99115B-608E-4E08-A503-B74879A76D07}" type="parTrans" cxnId="{BC5A70C8-9D97-4922-BCDB-6316D191C527}">
      <dgm:prSet/>
      <dgm:spPr/>
      <dgm:t>
        <a:bodyPr/>
        <a:lstStyle/>
        <a:p>
          <a:endParaRPr lang="en-US">
            <a:solidFill>
              <a:schemeClr val="bg1"/>
            </a:solidFill>
          </a:endParaRPr>
        </a:p>
      </dgm:t>
    </dgm:pt>
    <dgm:pt modelId="{E94D5EF7-F47C-476C-A5FE-1C35261B578A}" type="sibTrans" cxnId="{BC5A70C8-9D97-4922-BCDB-6316D191C527}">
      <dgm:prSet/>
      <dgm:spPr/>
      <dgm:t>
        <a:bodyPr/>
        <a:lstStyle/>
        <a:p>
          <a:endParaRPr lang="en-US">
            <a:solidFill>
              <a:schemeClr val="bg1"/>
            </a:solidFill>
          </a:endParaRPr>
        </a:p>
      </dgm:t>
    </dgm:pt>
    <dgm:pt modelId="{1E529C6E-C939-479A-A075-9E9B02837B50}">
      <dgm:prSet/>
      <dgm:spPr/>
      <dgm:t>
        <a:bodyPr anchor="b"/>
        <a:lstStyle/>
        <a:p>
          <a:r>
            <a:rPr lang="en-US" dirty="0">
              <a:solidFill>
                <a:schemeClr val="bg1"/>
              </a:solidFill>
            </a:rPr>
            <a:t>Documentation and result analysis.</a:t>
          </a:r>
        </a:p>
      </dgm:t>
    </dgm:pt>
    <dgm:pt modelId="{46B3C017-F97A-4640-992A-33AEE06B2EFC}" type="parTrans" cxnId="{99746BB5-7122-43B8-8680-CF610F03585C}">
      <dgm:prSet/>
      <dgm:spPr/>
      <dgm:t>
        <a:bodyPr/>
        <a:lstStyle/>
        <a:p>
          <a:endParaRPr lang="en-US">
            <a:solidFill>
              <a:schemeClr val="bg1"/>
            </a:solidFill>
          </a:endParaRPr>
        </a:p>
      </dgm:t>
    </dgm:pt>
    <dgm:pt modelId="{192E80CB-2667-481C-8244-6EC4AEED1BC2}" type="sibTrans" cxnId="{99746BB5-7122-43B8-8680-CF610F03585C}">
      <dgm:prSet/>
      <dgm:spPr/>
      <dgm:t>
        <a:bodyPr/>
        <a:lstStyle/>
        <a:p>
          <a:endParaRPr lang="en-US">
            <a:solidFill>
              <a:schemeClr val="bg1"/>
            </a:solidFill>
          </a:endParaRPr>
        </a:p>
      </dgm:t>
    </dgm:pt>
    <dgm:pt modelId="{831701CF-77C7-46C0-A913-8CC39517BAB8}">
      <dgm:prSet phldrT="[Text]"/>
      <dgm:spPr/>
      <dgm:t>
        <a:bodyPr/>
        <a:lstStyle/>
        <a:p>
          <a:r>
            <a:rPr lang="en-US" dirty="0">
              <a:solidFill>
                <a:schemeClr val="bg1"/>
              </a:solidFill>
            </a:rPr>
            <a:t>Literature review and understanding of base papers.</a:t>
          </a:r>
        </a:p>
      </dgm:t>
    </dgm:pt>
    <dgm:pt modelId="{75156CDF-E17B-4DAD-AE37-EA44D7F37090}" type="sibTrans" cxnId="{39A11E5C-7A57-4117-A6DF-36000C29509C}">
      <dgm:prSet/>
      <dgm:spPr/>
      <dgm:t>
        <a:bodyPr/>
        <a:lstStyle/>
        <a:p>
          <a:endParaRPr lang="en-US">
            <a:solidFill>
              <a:schemeClr val="bg1"/>
            </a:solidFill>
          </a:endParaRPr>
        </a:p>
      </dgm:t>
    </dgm:pt>
    <dgm:pt modelId="{13FBC60D-3EA6-4496-BA97-C1AE8C7F8961}" type="parTrans" cxnId="{39A11E5C-7A57-4117-A6DF-36000C29509C}">
      <dgm:prSet/>
      <dgm:spPr/>
      <dgm:t>
        <a:bodyPr/>
        <a:lstStyle/>
        <a:p>
          <a:endParaRPr lang="en-US">
            <a:solidFill>
              <a:schemeClr val="bg1"/>
            </a:solidFill>
          </a:endParaRPr>
        </a:p>
      </dgm:t>
    </dgm:pt>
    <dgm:pt modelId="{096A9AF0-0DAE-4EB3-B448-4501DA034F4A}">
      <dgm:prSet phldrT="[Text]" custT="1"/>
      <dgm:spPr/>
      <dgm:t>
        <a:bodyPr/>
        <a:lstStyle/>
        <a:p>
          <a:pPr>
            <a:defRPr b="1"/>
          </a:pPr>
          <a:r>
            <a:rPr lang="en-US" sz="1600" b="1">
              <a:solidFill>
                <a:schemeClr val="bg1"/>
              </a:solidFill>
            </a:rPr>
            <a:t>Q2</a:t>
          </a:r>
          <a:endParaRPr lang="en-US" sz="1100" dirty="0">
            <a:solidFill>
              <a:schemeClr val="bg1"/>
            </a:solidFill>
          </a:endParaRPr>
        </a:p>
      </dgm:t>
    </dgm:pt>
    <dgm:pt modelId="{6B0D7DA9-E6ED-4137-9716-F48BF62327A8}" type="sibTrans" cxnId="{CA0753BD-DB60-4D68-8486-5B376B839B26}">
      <dgm:prSet/>
      <dgm:spPr/>
      <dgm:t>
        <a:bodyPr/>
        <a:lstStyle/>
        <a:p>
          <a:endParaRPr lang="en-US">
            <a:solidFill>
              <a:schemeClr val="bg1"/>
            </a:solidFill>
          </a:endParaRPr>
        </a:p>
      </dgm:t>
    </dgm:pt>
    <dgm:pt modelId="{8CE6ABD6-768E-42C8-9029-C3B5F278B21C}" type="parTrans" cxnId="{CA0753BD-DB60-4D68-8486-5B376B839B26}">
      <dgm:prSet/>
      <dgm:spPr/>
      <dgm:t>
        <a:bodyPr/>
        <a:lstStyle/>
        <a:p>
          <a:endParaRPr lang="en-US">
            <a:solidFill>
              <a:schemeClr val="bg1"/>
            </a:solidFill>
          </a:endParaRPr>
        </a:p>
      </dgm:t>
    </dgm:pt>
    <dgm:pt modelId="{92921081-529B-4D1C-83A4-C416BB4C5224}">
      <dgm:prSet/>
      <dgm:spPr/>
      <dgm:t>
        <a:bodyPr/>
        <a:lstStyle/>
        <a:p>
          <a:r>
            <a:rPr lang="en-US" dirty="0">
              <a:solidFill>
                <a:schemeClr val="bg1"/>
              </a:solidFill>
            </a:rPr>
            <a:t>Architecture design and implementing key control mechanism. </a:t>
          </a:r>
        </a:p>
      </dgm:t>
    </dgm:pt>
    <dgm:pt modelId="{ECC13403-1F53-4ED4-AE4F-334EEC7C8710}" type="sibTrans" cxnId="{B05C4C7C-FEB8-4825-98A0-C38D3021918A}">
      <dgm:prSet/>
      <dgm:spPr/>
      <dgm:t>
        <a:bodyPr/>
        <a:lstStyle/>
        <a:p>
          <a:endParaRPr lang="en-US">
            <a:solidFill>
              <a:schemeClr val="bg1"/>
            </a:solidFill>
          </a:endParaRPr>
        </a:p>
      </dgm:t>
    </dgm:pt>
    <dgm:pt modelId="{5AD2C2F8-A1D7-469B-93D8-B578BEFE51F8}" type="parTrans" cxnId="{B05C4C7C-FEB8-4825-98A0-C38D3021918A}">
      <dgm:prSet/>
      <dgm:spPr/>
      <dgm:t>
        <a:bodyPr/>
        <a:lstStyle/>
        <a:p>
          <a:endParaRPr lang="en-US">
            <a:solidFill>
              <a:schemeClr val="bg1"/>
            </a:solidFill>
          </a:endParaRPr>
        </a:p>
      </dgm:t>
    </dgm:pt>
    <dgm:pt modelId="{18D8241B-9711-4542-8B08-BE98384C2C30}">
      <dgm:prSet/>
      <dgm:spPr/>
      <dgm:t>
        <a:bodyPr anchor="t"/>
        <a:lstStyle/>
        <a:p>
          <a:r>
            <a:rPr lang="en-US" i="1" dirty="0">
              <a:solidFill>
                <a:schemeClr val="bg1"/>
              </a:solidFill>
            </a:rPr>
            <a:t>Making necessary changes in boot rom.</a:t>
          </a:r>
        </a:p>
      </dgm:t>
    </dgm:pt>
    <dgm:pt modelId="{941DA2B3-9C6E-400C-8A52-17CC8A0B3A29}" type="parTrans" cxnId="{EAB2A365-5FFB-484F-B6D9-37598D114F27}">
      <dgm:prSet/>
      <dgm:spPr/>
      <dgm:t>
        <a:bodyPr/>
        <a:lstStyle/>
        <a:p>
          <a:endParaRPr lang="en-US"/>
        </a:p>
      </dgm:t>
    </dgm:pt>
    <dgm:pt modelId="{AE7D52F1-54CF-4895-A512-5CD788F3694A}" type="sibTrans" cxnId="{EAB2A365-5FFB-484F-B6D9-37598D114F27}">
      <dgm:prSet/>
      <dgm:spPr/>
      <dgm:t>
        <a:bodyPr/>
        <a:lstStyle/>
        <a:p>
          <a:endParaRPr lang="en-US"/>
        </a:p>
      </dgm:t>
    </dgm:pt>
    <dgm:pt modelId="{7A5D3400-AF5B-4297-8592-4C1EDB9D0973}" type="pres">
      <dgm:prSet presAssocID="{63085546-7C7C-4B3E-ABEB-2669F1A65FB2}" presName="root" presStyleCnt="0">
        <dgm:presLayoutVars>
          <dgm:chMax/>
          <dgm:chPref/>
          <dgm:animLvl val="lvl"/>
        </dgm:presLayoutVars>
      </dgm:prSet>
      <dgm:spPr/>
    </dgm:pt>
    <dgm:pt modelId="{BD204284-1F7C-4D58-BC79-8C2DEE7E9FAF}" type="pres">
      <dgm:prSet presAssocID="{63085546-7C7C-4B3E-ABEB-2669F1A65FB2}" presName="divider" presStyleLbl="fgAcc1" presStyleIdx="0" presStyleCnt="7" custSzY="428624"/>
      <dgm:spPr>
        <a:prstGeom prst="homePlate">
          <a:avLst/>
        </a:prstGeom>
        <a:gradFill rotWithShape="0">
          <a:gsLst>
            <a:gs pos="0">
              <a:schemeClr val="bg1">
                <a:lumMod val="95000"/>
              </a:schemeClr>
            </a:gs>
            <a:gs pos="100000">
              <a:schemeClr val="bg1">
                <a:lumMod val="85000"/>
              </a:schemeClr>
            </a:gs>
          </a:gsLst>
          <a:lin ang="1200000" scaled="0"/>
        </a:gradFill>
        <a:ln w="12700" cap="flat" cmpd="sng" algn="ctr">
          <a:noFill/>
          <a:prstDash val="solid"/>
          <a:miter lim="800000"/>
          <a:tailEnd type="arrow" w="sm" len="sm"/>
        </a:ln>
        <a:effectLst/>
      </dgm:spPr>
    </dgm:pt>
    <dgm:pt modelId="{46A6B157-7198-41C4-9D25-C4F8885F1B6F}" type="pres">
      <dgm:prSet presAssocID="{63085546-7C7C-4B3E-ABEB-2669F1A65FB2}" presName="nodes" presStyleCnt="0">
        <dgm:presLayoutVars>
          <dgm:chMax/>
          <dgm:chPref/>
          <dgm:animLvl val="lvl"/>
        </dgm:presLayoutVars>
      </dgm:prSet>
      <dgm:spPr/>
    </dgm:pt>
    <dgm:pt modelId="{578E6A06-6F61-48BD-9F1A-48E731D6E26D}" type="pres">
      <dgm:prSet presAssocID="{9DCEA5FC-4640-45AF-B712-7A4FD94AEF0D}" presName="composite" presStyleCnt="0"/>
      <dgm:spPr/>
    </dgm:pt>
    <dgm:pt modelId="{9F727168-E825-43C1-AF50-41E115F59C0C}" type="pres">
      <dgm:prSet presAssocID="{9DCEA5FC-4640-45AF-B712-7A4FD94AEF0D}" presName="ConnectorPoint" presStyleLbl="lnNode1" presStyleIdx="0" presStyleCnt="6"/>
      <dgm:spPr>
        <a:solidFill>
          <a:schemeClr val="accent1"/>
        </a:solidFill>
        <a:ln w="6350" cap="flat" cmpd="sng" algn="ctr">
          <a:noFill/>
          <a:prstDash val="solid"/>
          <a:miter lim="800000"/>
        </a:ln>
        <a:effectLst/>
      </dgm:spPr>
    </dgm:pt>
    <dgm:pt modelId="{0C380CA5-521A-4949-A022-450DA9C217F5}" type="pres">
      <dgm:prSet presAssocID="{9DCEA5FC-4640-45AF-B712-7A4FD94AEF0D}" presName="DropPinPlaceHolder" presStyleCnt="0"/>
      <dgm:spPr/>
    </dgm:pt>
    <dgm:pt modelId="{19EF924A-339B-436A-9151-9C7B0B0377B9}" type="pres">
      <dgm:prSet presAssocID="{9DCEA5FC-4640-45AF-B712-7A4FD94AEF0D}" presName="DropPin" presStyleLbl="alignNode1" presStyleIdx="0" presStyleCnt="6"/>
      <dgm:spPr>
        <a:ln>
          <a:noFill/>
        </a:ln>
      </dgm:spPr>
    </dgm:pt>
    <dgm:pt modelId="{846B4BA4-33F0-43CE-A60E-B95E195AD5A9}" type="pres">
      <dgm:prSet presAssocID="{9DCEA5FC-4640-45AF-B712-7A4FD94AEF0D}" presName="Ellipse" presStyleLbl="fgAcc1" presStyleIdx="1" presStyleCnt="7"/>
      <dgm:spPr>
        <a:prstGeom prst="donut">
          <a:avLst/>
        </a:prstGeom>
        <a:solidFill>
          <a:schemeClr val="bg1"/>
        </a:solidFill>
        <a:ln w="12700" cap="flat" cmpd="sng" algn="ctr">
          <a:noFill/>
          <a:prstDash val="solid"/>
          <a:miter lim="800000"/>
        </a:ln>
        <a:effectLst/>
      </dgm:spPr>
    </dgm:pt>
    <dgm:pt modelId="{A782CF5D-A585-4990-846A-5EDBD19A9BDB}" type="pres">
      <dgm:prSet presAssocID="{9DCEA5FC-4640-45AF-B712-7A4FD94AEF0D}" presName="L2TextContainer" presStyleLbl="revTx" presStyleIdx="0" presStyleCnt="12">
        <dgm:presLayoutVars>
          <dgm:bulletEnabled val="1"/>
        </dgm:presLayoutVars>
      </dgm:prSet>
      <dgm:spPr/>
    </dgm:pt>
    <dgm:pt modelId="{85C50C56-6DC8-4C47-8DBC-4FD6B1554AA4}" type="pres">
      <dgm:prSet presAssocID="{9DCEA5FC-4640-45AF-B712-7A4FD94AEF0D}" presName="L1TextContainer" presStyleLbl="revTx" presStyleIdx="1" presStyleCnt="12">
        <dgm:presLayoutVars>
          <dgm:chMax val="1"/>
          <dgm:chPref val="1"/>
          <dgm:bulletEnabled val="1"/>
        </dgm:presLayoutVars>
      </dgm:prSet>
      <dgm:spPr/>
    </dgm:pt>
    <dgm:pt modelId="{4F322B1B-F357-4BCD-BF34-8A0D705A1CE7}" type="pres">
      <dgm:prSet presAssocID="{9DCEA5FC-4640-45AF-B712-7A4FD94AEF0D}" presName="ConnectLine" presStyleLbl="sibTrans1D1" presStyleIdx="0" presStyleCnt="6"/>
      <dgm:spPr>
        <a:noFill/>
        <a:ln w="3175" cap="flat" cmpd="sng" algn="ctr">
          <a:solidFill>
            <a:schemeClr val="bg1">
              <a:lumMod val="85000"/>
            </a:schemeClr>
          </a:solidFill>
          <a:prstDash val="solid"/>
          <a:miter lim="800000"/>
        </a:ln>
        <a:effectLst/>
      </dgm:spPr>
    </dgm:pt>
    <dgm:pt modelId="{9FF32B1E-94FD-475E-9959-8E0546070C5B}" type="pres">
      <dgm:prSet presAssocID="{9DCEA5FC-4640-45AF-B712-7A4FD94AEF0D}" presName="EmptyPlaceHolder" presStyleCnt="0"/>
      <dgm:spPr/>
    </dgm:pt>
    <dgm:pt modelId="{C9E000F5-B650-46EB-A3B0-FBA6593CE548}" type="pres">
      <dgm:prSet presAssocID="{0A99745B-BB5C-49B3-A782-8DB57641F6C9}" presName="spaceBetweenRectangles" presStyleCnt="0"/>
      <dgm:spPr/>
    </dgm:pt>
    <dgm:pt modelId="{64373A7D-C7A5-4C0C-9781-58743159539A}" type="pres">
      <dgm:prSet presAssocID="{096A9AF0-0DAE-4EB3-B448-4501DA034F4A}" presName="composite" presStyleCnt="0"/>
      <dgm:spPr/>
    </dgm:pt>
    <dgm:pt modelId="{B57996C3-16BE-4CEB-B9E2-6FFC42938F41}" type="pres">
      <dgm:prSet presAssocID="{096A9AF0-0DAE-4EB3-B448-4501DA034F4A}" presName="ConnectorPoint" presStyleLbl="lnNode1" presStyleIdx="1" presStyleCnt="6"/>
      <dgm:spPr>
        <a:solidFill>
          <a:schemeClr val="accent1">
            <a:hueOff val="0"/>
            <a:satOff val="0"/>
            <a:lumOff val="0"/>
            <a:alphaOff val="0"/>
          </a:schemeClr>
        </a:solidFill>
        <a:ln w="6350" cap="flat" cmpd="sng" algn="ctr">
          <a:noFill/>
          <a:prstDash val="solid"/>
          <a:miter lim="800000"/>
        </a:ln>
        <a:effectLst/>
      </dgm:spPr>
    </dgm:pt>
    <dgm:pt modelId="{BC71368F-DA7E-405D-93AC-3A6767BF9FC6}" type="pres">
      <dgm:prSet presAssocID="{096A9AF0-0DAE-4EB3-B448-4501DA034F4A}" presName="DropPinPlaceHolder" presStyleCnt="0"/>
      <dgm:spPr/>
    </dgm:pt>
    <dgm:pt modelId="{5B4632EA-1574-417A-A3FA-D711159FBAD1}" type="pres">
      <dgm:prSet presAssocID="{096A9AF0-0DAE-4EB3-B448-4501DA034F4A}" presName="DropPin" presStyleLbl="alignNode1" presStyleIdx="1" presStyleCnt="6"/>
      <dgm:spPr>
        <a:ln>
          <a:noFill/>
        </a:ln>
      </dgm:spPr>
    </dgm:pt>
    <dgm:pt modelId="{032E0966-F86B-4BBD-BE80-8FAB861AF0E8}" type="pres">
      <dgm:prSet presAssocID="{096A9AF0-0DAE-4EB3-B448-4501DA034F4A}" presName="Ellipse" presStyleLbl="fgAcc1" presStyleIdx="2" presStyleCnt="7"/>
      <dgm:spPr>
        <a:prstGeom prst="donut">
          <a:avLst/>
        </a:prstGeom>
        <a:solidFill>
          <a:schemeClr val="lt1">
            <a:hueOff val="0"/>
            <a:satOff val="0"/>
            <a:lumOff val="0"/>
          </a:schemeClr>
        </a:solidFill>
        <a:ln w="12700" cap="flat" cmpd="sng" algn="ctr">
          <a:noFill/>
          <a:prstDash val="solid"/>
          <a:miter lim="800000"/>
        </a:ln>
        <a:effectLst/>
      </dgm:spPr>
    </dgm:pt>
    <dgm:pt modelId="{B608C5A1-CE9E-4410-9F2F-F714CC6AB069}" type="pres">
      <dgm:prSet presAssocID="{096A9AF0-0DAE-4EB3-B448-4501DA034F4A}" presName="L2TextContainer" presStyleLbl="revTx" presStyleIdx="2" presStyleCnt="12">
        <dgm:presLayoutVars>
          <dgm:bulletEnabled val="1"/>
        </dgm:presLayoutVars>
      </dgm:prSet>
      <dgm:spPr/>
    </dgm:pt>
    <dgm:pt modelId="{C1E34084-406C-48D5-88FE-7226282DBC49}" type="pres">
      <dgm:prSet presAssocID="{096A9AF0-0DAE-4EB3-B448-4501DA034F4A}" presName="L1TextContainer" presStyleLbl="revTx" presStyleIdx="3" presStyleCnt="12">
        <dgm:presLayoutVars>
          <dgm:chMax val="1"/>
          <dgm:chPref val="1"/>
          <dgm:bulletEnabled val="1"/>
        </dgm:presLayoutVars>
      </dgm:prSet>
      <dgm:spPr/>
    </dgm:pt>
    <dgm:pt modelId="{33168228-1414-4AAF-B7E5-C08A80BBB2F1}" type="pres">
      <dgm:prSet presAssocID="{096A9AF0-0DAE-4EB3-B448-4501DA034F4A}" presName="ConnectLine" presStyleLbl="sibTrans1D1" presStyleIdx="1" presStyleCnt="6"/>
      <dgm:spPr>
        <a:xfrm>
          <a:off x="1843314" y="2690813"/>
          <a:ext cx="0" cy="1592961"/>
        </a:xfrm>
        <a:prstGeom prst="line">
          <a:avLst/>
        </a:prstGeom>
        <a:noFill/>
        <a:ln w="3175" cap="flat" cmpd="sng" algn="ctr">
          <a:solidFill>
            <a:prstClr val="white">
              <a:lumMod val="85000"/>
            </a:prstClr>
          </a:solidFill>
          <a:prstDash val="solid"/>
          <a:miter lim="800000"/>
        </a:ln>
        <a:effectLst/>
      </dgm:spPr>
    </dgm:pt>
    <dgm:pt modelId="{C791BCDD-76D3-4E0E-98B9-0C4903CF0E94}" type="pres">
      <dgm:prSet presAssocID="{096A9AF0-0DAE-4EB3-B448-4501DA034F4A}" presName="EmptyPlaceHolder" presStyleCnt="0"/>
      <dgm:spPr/>
    </dgm:pt>
    <dgm:pt modelId="{3B1DA912-FDB7-4F73-8823-B30C56F7DE86}" type="pres">
      <dgm:prSet presAssocID="{6B0D7DA9-E6ED-4137-9716-F48BF62327A8}" presName="spaceBetweenRectangles" presStyleCnt="0"/>
      <dgm:spPr/>
    </dgm:pt>
    <dgm:pt modelId="{DCEEC7C0-6CAC-4153-B66A-D920E3B7F504}" type="pres">
      <dgm:prSet presAssocID="{683CC5F6-E9B5-49F2-909E-A68D38896308}" presName="composite" presStyleCnt="0"/>
      <dgm:spPr/>
    </dgm:pt>
    <dgm:pt modelId="{56361E50-9FEC-48AD-A369-C1A8379B35EC}" type="pres">
      <dgm:prSet presAssocID="{683CC5F6-E9B5-49F2-909E-A68D38896308}" presName="ConnectorPoint" presStyleLbl="lnNode1" presStyleIdx="2" presStyleCnt="6"/>
      <dgm:spPr>
        <a:solidFill>
          <a:schemeClr val="accent3"/>
        </a:solidFill>
        <a:ln w="6350" cap="flat" cmpd="sng" algn="ctr">
          <a:noFill/>
          <a:prstDash val="solid"/>
          <a:miter lim="800000"/>
        </a:ln>
        <a:effectLst/>
      </dgm:spPr>
    </dgm:pt>
    <dgm:pt modelId="{70AC7E27-D774-4261-A80F-683BBD09A81D}" type="pres">
      <dgm:prSet presAssocID="{683CC5F6-E9B5-49F2-909E-A68D38896308}" presName="DropPinPlaceHolder" presStyleCnt="0"/>
      <dgm:spPr/>
    </dgm:pt>
    <dgm:pt modelId="{7BC09B8D-1C75-4604-9F35-AEC078447C45}" type="pres">
      <dgm:prSet presAssocID="{683CC5F6-E9B5-49F2-909E-A68D38896308}" presName="DropPin" presStyleLbl="alignNode1" presStyleIdx="2" presStyleCnt="6"/>
      <dgm:spPr>
        <a:prstGeom prst="ellipse">
          <a:avLst/>
        </a:prstGeom>
        <a:solidFill>
          <a:schemeClr val="accent3"/>
        </a:solidFill>
        <a:ln>
          <a:noFill/>
        </a:ln>
      </dgm:spPr>
    </dgm:pt>
    <dgm:pt modelId="{DFE91A1F-E910-48AB-A4C9-128002268483}" type="pres">
      <dgm:prSet presAssocID="{683CC5F6-E9B5-49F2-909E-A68D38896308}" presName="Ellipse" presStyleLbl="fgAcc1" presStyleIdx="3" presStyleCnt="7"/>
      <dgm:spPr>
        <a:prstGeom prst="star12">
          <a:avLst/>
        </a:prstGeom>
        <a:solidFill>
          <a:schemeClr val="lt1">
            <a:hueOff val="0"/>
            <a:satOff val="0"/>
            <a:lumOff val="0"/>
          </a:schemeClr>
        </a:solidFill>
        <a:ln w="12700" cap="flat" cmpd="sng" algn="ctr">
          <a:noFill/>
          <a:prstDash val="solid"/>
          <a:miter lim="800000"/>
        </a:ln>
        <a:effectLst/>
      </dgm:spPr>
    </dgm:pt>
    <dgm:pt modelId="{FC8603F2-85FC-4134-978C-4054E468209C}" type="pres">
      <dgm:prSet presAssocID="{683CC5F6-E9B5-49F2-909E-A68D38896308}" presName="L2TextContainer" presStyleLbl="revTx" presStyleIdx="4" presStyleCnt="12">
        <dgm:presLayoutVars>
          <dgm:bulletEnabled val="1"/>
        </dgm:presLayoutVars>
      </dgm:prSet>
      <dgm:spPr/>
    </dgm:pt>
    <dgm:pt modelId="{4EB3AA5C-1289-44C6-9F3E-859ABA28E18F}" type="pres">
      <dgm:prSet presAssocID="{683CC5F6-E9B5-49F2-909E-A68D38896308}" presName="L1TextContainer" presStyleLbl="revTx" presStyleIdx="5" presStyleCnt="12">
        <dgm:presLayoutVars>
          <dgm:chMax val="1"/>
          <dgm:chPref val="1"/>
          <dgm:bulletEnabled val="1"/>
        </dgm:presLayoutVars>
      </dgm:prSet>
      <dgm:spPr/>
    </dgm:pt>
    <dgm:pt modelId="{0BB03C0E-97EC-4D66-9B09-35D689DAB28C}" type="pres">
      <dgm:prSet presAssocID="{683CC5F6-E9B5-49F2-909E-A68D38896308}" presName="ConnectLine" presStyleLbl="sibTrans1D1" presStyleIdx="2" presStyleCnt="6">
        <dgm:style>
          <a:lnRef idx="2">
            <a:schemeClr val="dk1">
              <a:shade val="15000"/>
            </a:schemeClr>
          </a:lnRef>
          <a:fillRef idx="1">
            <a:schemeClr val="dk1"/>
          </a:fillRef>
          <a:effectRef idx="0">
            <a:schemeClr val="dk1"/>
          </a:effectRef>
          <a:fontRef idx="minor">
            <a:schemeClr val="lt1"/>
          </a:fontRef>
        </dgm:style>
      </dgm:prSet>
      <dgm:spPr>
        <a:ln/>
      </dgm:spPr>
    </dgm:pt>
    <dgm:pt modelId="{1A7A92CB-81F0-42D4-87BF-4008DEFA9CA8}" type="pres">
      <dgm:prSet presAssocID="{683CC5F6-E9B5-49F2-909E-A68D38896308}" presName="EmptyPlaceHolder" presStyleCnt="0"/>
      <dgm:spPr/>
    </dgm:pt>
    <dgm:pt modelId="{ABE3202B-256B-4398-8B41-CB40EDB06266}" type="pres">
      <dgm:prSet presAssocID="{4C61DDEE-8BBF-4CBF-B066-7E60B6DF0A11}" presName="spaceBetweenRectangles" presStyleCnt="0"/>
      <dgm:spPr/>
    </dgm:pt>
    <dgm:pt modelId="{B744CD57-FD23-4E62-9589-4CAC57B034E9}" type="pres">
      <dgm:prSet presAssocID="{CA6B1BA0-B2FC-48AD-8EDA-F4AAA4AF2782}" presName="composite" presStyleCnt="0"/>
      <dgm:spPr/>
    </dgm:pt>
    <dgm:pt modelId="{D891B168-1DA5-4124-931F-A51FCB8EFC11}" type="pres">
      <dgm:prSet presAssocID="{CA6B1BA0-B2FC-48AD-8EDA-F4AAA4AF2782}" presName="ConnectorPoint" presStyleLbl="lnNode1" presStyleIdx="3" presStyleCnt="6"/>
      <dgm:spPr>
        <a:solidFill>
          <a:schemeClr val="accent1">
            <a:hueOff val="0"/>
            <a:satOff val="0"/>
            <a:lumOff val="0"/>
            <a:alphaOff val="0"/>
          </a:schemeClr>
        </a:solidFill>
        <a:ln w="6350" cap="flat" cmpd="sng" algn="ctr">
          <a:noFill/>
          <a:prstDash val="solid"/>
          <a:miter lim="800000"/>
        </a:ln>
        <a:effectLst/>
      </dgm:spPr>
    </dgm:pt>
    <dgm:pt modelId="{42206762-CD73-4F82-B16A-D168E2503215}" type="pres">
      <dgm:prSet presAssocID="{CA6B1BA0-B2FC-48AD-8EDA-F4AAA4AF2782}" presName="DropPinPlaceHolder" presStyleCnt="0"/>
      <dgm:spPr/>
    </dgm:pt>
    <dgm:pt modelId="{C0DBECBF-E3AA-450B-95D4-8349AA21B4F8}" type="pres">
      <dgm:prSet presAssocID="{CA6B1BA0-B2FC-48AD-8EDA-F4AAA4AF2782}" presName="DropPin" presStyleLbl="alignNode1" presStyleIdx="3" presStyleCnt="6"/>
      <dgm:spPr>
        <a:ln>
          <a:noFill/>
        </a:ln>
      </dgm:spPr>
    </dgm:pt>
    <dgm:pt modelId="{6EDDD44C-F5E4-49AD-B1D9-346B8B8AEE8F}" type="pres">
      <dgm:prSet presAssocID="{CA6B1BA0-B2FC-48AD-8EDA-F4AAA4AF2782}" presName="Ellipse" presStyleLbl="fgAcc1" presStyleIdx="4" presStyleCnt="7"/>
      <dgm:spPr>
        <a:prstGeom prst="donut">
          <a:avLst/>
        </a:prstGeom>
        <a:solidFill>
          <a:schemeClr val="lt1">
            <a:hueOff val="0"/>
            <a:satOff val="0"/>
            <a:lumOff val="0"/>
          </a:schemeClr>
        </a:solidFill>
        <a:ln w="12700" cap="flat" cmpd="sng" algn="ctr">
          <a:noFill/>
          <a:prstDash val="solid"/>
          <a:miter lim="800000"/>
        </a:ln>
        <a:effectLst/>
      </dgm:spPr>
    </dgm:pt>
    <dgm:pt modelId="{FE564261-183D-47F9-8E7E-BCFC5023A815}" type="pres">
      <dgm:prSet presAssocID="{CA6B1BA0-B2FC-48AD-8EDA-F4AAA4AF2782}" presName="L2TextContainer" presStyleLbl="revTx" presStyleIdx="6" presStyleCnt="12">
        <dgm:presLayoutVars>
          <dgm:bulletEnabled val="1"/>
        </dgm:presLayoutVars>
      </dgm:prSet>
      <dgm:spPr/>
    </dgm:pt>
    <dgm:pt modelId="{3DA36ABE-9810-4ED4-9A55-2905E7588D06}" type="pres">
      <dgm:prSet presAssocID="{CA6B1BA0-B2FC-48AD-8EDA-F4AAA4AF2782}" presName="L1TextContainer" presStyleLbl="revTx" presStyleIdx="7" presStyleCnt="12">
        <dgm:presLayoutVars>
          <dgm:chMax val="1"/>
          <dgm:chPref val="1"/>
          <dgm:bulletEnabled val="1"/>
        </dgm:presLayoutVars>
      </dgm:prSet>
      <dgm:spPr/>
    </dgm:pt>
    <dgm:pt modelId="{4B9F5909-A57C-4893-9C8A-D5960FE9BE37}" type="pres">
      <dgm:prSet presAssocID="{CA6B1BA0-B2FC-48AD-8EDA-F4AAA4AF2782}" presName="ConnectLine" presStyleLbl="sibTrans1D1" presStyleIdx="3" presStyleCnt="6"/>
      <dgm:spPr>
        <a:xfrm>
          <a:off x="4960678" y="2690813"/>
          <a:ext cx="0" cy="1592961"/>
        </a:xfrm>
        <a:prstGeom prst="line">
          <a:avLst/>
        </a:prstGeom>
        <a:noFill/>
        <a:ln w="3175" cap="flat" cmpd="sng" algn="ctr">
          <a:solidFill>
            <a:prstClr val="white">
              <a:lumMod val="85000"/>
            </a:prstClr>
          </a:solidFill>
          <a:prstDash val="solid"/>
          <a:miter lim="800000"/>
        </a:ln>
        <a:effectLst/>
      </dgm:spPr>
    </dgm:pt>
    <dgm:pt modelId="{DEDCEF89-DB8F-4197-B2D2-2D39426E0B96}" type="pres">
      <dgm:prSet presAssocID="{CA6B1BA0-B2FC-48AD-8EDA-F4AAA4AF2782}" presName="EmptyPlaceHolder" presStyleCnt="0"/>
      <dgm:spPr/>
    </dgm:pt>
    <dgm:pt modelId="{4A96FD2F-C127-41DC-AA54-1EEBED6BA483}" type="pres">
      <dgm:prSet presAssocID="{39FB540D-D808-4040-9A37-0AC474C0212F}" presName="spaceBetweenRectangles" presStyleCnt="0"/>
      <dgm:spPr/>
    </dgm:pt>
    <dgm:pt modelId="{A1AE2BC4-A99C-4DD3-A84D-EB3461D18287}" type="pres">
      <dgm:prSet presAssocID="{212ADAAB-D5CB-4BBC-8DAF-7340FD334994}" presName="composite" presStyleCnt="0"/>
      <dgm:spPr/>
    </dgm:pt>
    <dgm:pt modelId="{278CF1E0-B1C4-4B10-A5EC-FD7EF0557E2D}" type="pres">
      <dgm:prSet presAssocID="{212ADAAB-D5CB-4BBC-8DAF-7340FD334994}" presName="ConnectorPoint" presStyleLbl="lnNode1" presStyleIdx="4" presStyleCnt="6"/>
      <dgm:spPr>
        <a:solidFill>
          <a:schemeClr val="accent1">
            <a:hueOff val="0"/>
            <a:satOff val="0"/>
            <a:lumOff val="0"/>
            <a:alphaOff val="0"/>
          </a:schemeClr>
        </a:solidFill>
        <a:ln w="6350" cap="flat" cmpd="sng" algn="ctr">
          <a:noFill/>
          <a:prstDash val="solid"/>
          <a:miter lim="800000"/>
        </a:ln>
        <a:effectLst/>
      </dgm:spPr>
    </dgm:pt>
    <dgm:pt modelId="{27B65FB4-BE6A-41E6-BBE9-8DC9F7B73486}" type="pres">
      <dgm:prSet presAssocID="{212ADAAB-D5CB-4BBC-8DAF-7340FD334994}" presName="DropPinPlaceHolder" presStyleCnt="0"/>
      <dgm:spPr/>
    </dgm:pt>
    <dgm:pt modelId="{488CC4C6-DFBC-460C-A9ED-BEDA8CC682D4}" type="pres">
      <dgm:prSet presAssocID="{212ADAAB-D5CB-4BBC-8DAF-7340FD334994}" presName="DropPin" presStyleLbl="alignNode1" presStyleIdx="4" presStyleCnt="6"/>
      <dgm:spPr>
        <a:ln>
          <a:noFill/>
        </a:ln>
      </dgm:spPr>
    </dgm:pt>
    <dgm:pt modelId="{48CA82DA-B677-461B-A08D-337683480059}" type="pres">
      <dgm:prSet presAssocID="{212ADAAB-D5CB-4BBC-8DAF-7340FD334994}" presName="Ellipse" presStyleLbl="fgAcc1" presStyleIdx="5" presStyleCnt="7"/>
      <dgm:spPr>
        <a:prstGeom prst="donut">
          <a:avLst/>
        </a:prstGeom>
        <a:solidFill>
          <a:schemeClr val="lt1">
            <a:hueOff val="0"/>
            <a:satOff val="0"/>
            <a:lumOff val="0"/>
          </a:schemeClr>
        </a:solidFill>
        <a:ln w="12700" cap="flat" cmpd="sng" algn="ctr">
          <a:noFill/>
          <a:prstDash val="solid"/>
          <a:miter lim="800000"/>
        </a:ln>
        <a:effectLst/>
      </dgm:spPr>
    </dgm:pt>
    <dgm:pt modelId="{D1646913-A3FA-4470-A3E9-C64B0A13A62A}" type="pres">
      <dgm:prSet presAssocID="{212ADAAB-D5CB-4BBC-8DAF-7340FD334994}" presName="L2TextContainer" presStyleLbl="revTx" presStyleIdx="8" presStyleCnt="12">
        <dgm:presLayoutVars>
          <dgm:bulletEnabled val="1"/>
        </dgm:presLayoutVars>
      </dgm:prSet>
      <dgm:spPr/>
    </dgm:pt>
    <dgm:pt modelId="{6EC2FC68-E1B8-4274-8090-C2C96A4CD82C}" type="pres">
      <dgm:prSet presAssocID="{212ADAAB-D5CB-4BBC-8DAF-7340FD334994}" presName="L1TextContainer" presStyleLbl="revTx" presStyleIdx="9" presStyleCnt="12">
        <dgm:presLayoutVars>
          <dgm:chMax val="1"/>
          <dgm:chPref val="1"/>
          <dgm:bulletEnabled val="1"/>
        </dgm:presLayoutVars>
      </dgm:prSet>
      <dgm:spPr/>
    </dgm:pt>
    <dgm:pt modelId="{4F41BF23-550C-4E7F-977E-3D22E3AF7B51}" type="pres">
      <dgm:prSet presAssocID="{212ADAAB-D5CB-4BBC-8DAF-7340FD334994}" presName="ConnectLine" presStyleLbl="sibTrans1D1" presStyleIdx="4" presStyleCnt="6"/>
      <dgm:spPr>
        <a:xfrm>
          <a:off x="6519360" y="1097851"/>
          <a:ext cx="0" cy="1592961"/>
        </a:xfrm>
        <a:prstGeom prst="line">
          <a:avLst/>
        </a:prstGeom>
        <a:noFill/>
        <a:ln w="3175" cap="flat" cmpd="sng" algn="ctr">
          <a:solidFill>
            <a:prstClr val="white">
              <a:lumMod val="85000"/>
            </a:prstClr>
          </a:solidFill>
          <a:prstDash val="solid"/>
          <a:miter lim="800000"/>
        </a:ln>
        <a:effectLst/>
      </dgm:spPr>
    </dgm:pt>
    <dgm:pt modelId="{5018695D-CFD4-49F8-8967-BA8A0C0A0DE1}" type="pres">
      <dgm:prSet presAssocID="{212ADAAB-D5CB-4BBC-8DAF-7340FD334994}" presName="EmptyPlaceHolder" presStyleCnt="0"/>
      <dgm:spPr/>
    </dgm:pt>
    <dgm:pt modelId="{61EA613E-57A8-485F-A4A9-29037092E83A}" type="pres">
      <dgm:prSet presAssocID="{AB2787E4-2A8B-428D-A4AE-2B14DCFFC4E7}" presName="spaceBetweenRectangles" presStyleCnt="0"/>
      <dgm:spPr/>
    </dgm:pt>
    <dgm:pt modelId="{0F3B3032-C16A-44EB-AE28-CB7C1D797D2B}" type="pres">
      <dgm:prSet presAssocID="{A2560FD2-F12F-4A06-A96F-B86674952111}" presName="composite" presStyleCnt="0"/>
      <dgm:spPr/>
    </dgm:pt>
    <dgm:pt modelId="{A64C6D16-2F77-439A-848A-F1081C5E5CBE}" type="pres">
      <dgm:prSet presAssocID="{A2560FD2-F12F-4A06-A96F-B86674952111}" presName="ConnectorPoint" presStyleLbl="lnNode1" presStyleIdx="5" presStyleCnt="6"/>
      <dgm:spPr>
        <a:solidFill>
          <a:schemeClr val="accent3"/>
        </a:solidFill>
        <a:ln w="6350" cap="flat" cmpd="sng" algn="ctr">
          <a:noFill/>
          <a:prstDash val="solid"/>
          <a:miter lim="800000"/>
        </a:ln>
        <a:effectLst/>
      </dgm:spPr>
    </dgm:pt>
    <dgm:pt modelId="{8EFC6EAF-71E5-48C3-9F69-6FB96640B14F}" type="pres">
      <dgm:prSet presAssocID="{A2560FD2-F12F-4A06-A96F-B86674952111}" presName="DropPinPlaceHolder" presStyleCnt="0"/>
      <dgm:spPr/>
    </dgm:pt>
    <dgm:pt modelId="{73F98938-B973-410F-B6E0-43437FA146E6}" type="pres">
      <dgm:prSet presAssocID="{A2560FD2-F12F-4A06-A96F-B86674952111}" presName="DropPin" presStyleLbl="alignNode1" presStyleIdx="5" presStyleCnt="6"/>
      <dgm:spPr>
        <a:prstGeom prst="ellipse">
          <a:avLst/>
        </a:prstGeom>
        <a:solidFill>
          <a:schemeClr val="accent3"/>
        </a:solidFill>
        <a:ln>
          <a:noFill/>
        </a:ln>
      </dgm:spPr>
    </dgm:pt>
    <dgm:pt modelId="{26BE64BD-02BC-4C6F-AC50-F9617E59754D}" type="pres">
      <dgm:prSet presAssocID="{A2560FD2-F12F-4A06-A96F-B86674952111}" presName="Ellipse" presStyleLbl="fgAcc1" presStyleIdx="6" presStyleCnt="7"/>
      <dgm:spPr>
        <a:prstGeom prst="star12">
          <a:avLst/>
        </a:prstGeom>
        <a:solidFill>
          <a:schemeClr val="lt1">
            <a:hueOff val="0"/>
            <a:satOff val="0"/>
            <a:lumOff val="0"/>
          </a:schemeClr>
        </a:solidFill>
        <a:ln w="12700" cap="flat" cmpd="sng" algn="ctr">
          <a:noFill/>
          <a:prstDash val="solid"/>
          <a:miter lim="800000"/>
        </a:ln>
        <a:effectLst/>
      </dgm:spPr>
    </dgm:pt>
    <dgm:pt modelId="{5C5070CD-E29E-4F50-9A43-342A2DE968FF}" type="pres">
      <dgm:prSet presAssocID="{A2560FD2-F12F-4A06-A96F-B86674952111}" presName="L2TextContainer" presStyleLbl="revTx" presStyleIdx="10" presStyleCnt="12">
        <dgm:presLayoutVars>
          <dgm:bulletEnabled val="1"/>
        </dgm:presLayoutVars>
      </dgm:prSet>
      <dgm:spPr/>
    </dgm:pt>
    <dgm:pt modelId="{6FED4196-A0D3-4E5C-83DA-99291A8FFFC3}" type="pres">
      <dgm:prSet presAssocID="{A2560FD2-F12F-4A06-A96F-B86674952111}" presName="L1TextContainer" presStyleLbl="revTx" presStyleIdx="11" presStyleCnt="12">
        <dgm:presLayoutVars>
          <dgm:chMax val="1"/>
          <dgm:chPref val="1"/>
          <dgm:bulletEnabled val="1"/>
        </dgm:presLayoutVars>
      </dgm:prSet>
      <dgm:spPr/>
    </dgm:pt>
    <dgm:pt modelId="{54DE4918-169B-4E9C-B946-44A9D45AEC94}" type="pres">
      <dgm:prSet presAssocID="{A2560FD2-F12F-4A06-A96F-B86674952111}" presName="ConnectLine" presStyleLbl="sibTrans1D1" presStyleIdx="5" presStyleCnt="6">
        <dgm:style>
          <a:lnRef idx="2">
            <a:schemeClr val="dk1">
              <a:shade val="15000"/>
            </a:schemeClr>
          </a:lnRef>
          <a:fillRef idx="1">
            <a:schemeClr val="dk1"/>
          </a:fillRef>
          <a:effectRef idx="0">
            <a:schemeClr val="dk1"/>
          </a:effectRef>
          <a:fontRef idx="minor">
            <a:schemeClr val="lt1"/>
          </a:fontRef>
        </dgm:style>
      </dgm:prSet>
      <dgm:spPr>
        <a:xfrm>
          <a:off x="8078042" y="2690813"/>
          <a:ext cx="0" cy="1592961"/>
        </a:xfrm>
        <a:prstGeom prst="line">
          <a:avLst/>
        </a:prstGeom>
        <a:ln/>
      </dgm:spPr>
    </dgm:pt>
    <dgm:pt modelId="{75F2030E-997B-4809-B3F1-AEF48EEEDB2B}" type="pres">
      <dgm:prSet presAssocID="{A2560FD2-F12F-4A06-A96F-B86674952111}" presName="EmptyPlaceHolder" presStyleCnt="0"/>
      <dgm:spPr/>
    </dgm:pt>
  </dgm:ptLst>
  <dgm:cxnLst>
    <dgm:cxn modelId="{2FC11007-01BB-470D-9422-1671E01275CE}" type="presOf" srcId="{A2560FD2-F12F-4A06-A96F-B86674952111}" destId="{6FED4196-A0D3-4E5C-83DA-99291A8FFFC3}" srcOrd="0" destOrd="0" presId="urn:microsoft.com/office/officeart/2017/3/layout/DropPinTimeline"/>
    <dgm:cxn modelId="{2F02861A-3FDC-4C2B-B724-282D5914D85A}" type="presOf" srcId="{212ADAAB-D5CB-4BBC-8DAF-7340FD334994}" destId="{6EC2FC68-E1B8-4274-8090-C2C96A4CD82C}" srcOrd="0" destOrd="0" presId="urn:microsoft.com/office/officeart/2017/3/layout/DropPinTimeline"/>
    <dgm:cxn modelId="{146C3436-7349-460D-8FAF-B5C22B68A41F}" type="presOf" srcId="{CA6B1BA0-B2FC-48AD-8EDA-F4AAA4AF2782}" destId="{3DA36ABE-9810-4ED4-9A55-2905E7588D06}" srcOrd="0" destOrd="0" presId="urn:microsoft.com/office/officeart/2017/3/layout/DropPinTimeline"/>
    <dgm:cxn modelId="{991E153C-2D4A-4089-A3BB-23D6CF24990F}" type="presOf" srcId="{683CC5F6-E9B5-49F2-909E-A68D38896308}" destId="{4EB3AA5C-1289-44C6-9F3E-859ABA28E18F}" srcOrd="0" destOrd="0" presId="urn:microsoft.com/office/officeart/2017/3/layout/DropPinTimeline"/>
    <dgm:cxn modelId="{39A11E5C-7A57-4117-A6DF-36000C29509C}" srcId="{9DCEA5FC-4640-45AF-B712-7A4FD94AEF0D}" destId="{831701CF-77C7-46C0-A913-8CC39517BAB8}" srcOrd="0" destOrd="0" parTransId="{13FBC60D-3EA6-4496-BA97-C1AE8C7F8961}" sibTransId="{75156CDF-E17B-4DAD-AE37-EA44D7F37090}"/>
    <dgm:cxn modelId="{DD687B5C-28C8-4088-99B8-D375C5FDAE4A}" srcId="{212ADAAB-D5CB-4BBC-8DAF-7340FD334994}" destId="{2AEE5C11-34AE-4EB7-8907-9BED418EA471}" srcOrd="0" destOrd="0" parTransId="{2E14AD1F-C7EA-45AE-ADC0-0EE92A6516CB}" sibTransId="{F36FDDA0-6B91-47CB-8114-B6F076E55FC8}"/>
    <dgm:cxn modelId="{E4469D45-E897-415B-A682-716414212B34}" type="presOf" srcId="{1E529C6E-C939-479A-A075-9E9B02837B50}" destId="{5C5070CD-E29E-4F50-9A43-342A2DE968FF}" srcOrd="0" destOrd="0" presId="urn:microsoft.com/office/officeart/2017/3/layout/DropPinTimeline"/>
    <dgm:cxn modelId="{EAB2A365-5FFB-484F-B6D9-37598D114F27}" srcId="{683CC5F6-E9B5-49F2-909E-A68D38896308}" destId="{18D8241B-9711-4542-8B08-BE98384C2C30}" srcOrd="1" destOrd="0" parTransId="{941DA2B3-9C6E-400C-8A52-17CC8A0B3A29}" sibTransId="{AE7D52F1-54CF-4895-A512-5CD788F3694A}"/>
    <dgm:cxn modelId="{DBD99269-D7F7-4B47-B17B-A5AE402751D9}" srcId="{63085546-7C7C-4B3E-ABEB-2669F1A65FB2}" destId="{9DCEA5FC-4640-45AF-B712-7A4FD94AEF0D}" srcOrd="0" destOrd="0" parTransId="{929A5FD9-0612-4B79-9B59-C3C36D34A069}" sibTransId="{0A99745B-BB5C-49B3-A782-8DB57641F6C9}"/>
    <dgm:cxn modelId="{C8C7266C-2A0C-476A-85B3-F12BE2521F4C}" srcId="{63085546-7C7C-4B3E-ABEB-2669F1A65FB2}" destId="{212ADAAB-D5CB-4BBC-8DAF-7340FD334994}" srcOrd="4" destOrd="0" parTransId="{45F6D312-A686-491E-95E3-EFB9640CC472}" sibTransId="{AB2787E4-2A8B-428D-A4AE-2B14DCFFC4E7}"/>
    <dgm:cxn modelId="{2841EC4D-F3DC-4972-B897-89C9EA062B26}" type="presOf" srcId="{92921081-529B-4D1C-83A4-C416BB4C5224}" destId="{B608C5A1-CE9E-4410-9F2F-F714CC6AB069}" srcOrd="0" destOrd="0" presId="urn:microsoft.com/office/officeart/2017/3/layout/DropPinTimeline"/>
    <dgm:cxn modelId="{3C15AF51-54A6-4ED0-824A-52A4CE5468AB}" type="presOf" srcId="{2AEE5C11-34AE-4EB7-8907-9BED418EA471}" destId="{D1646913-A3FA-4470-A3E9-C64B0A13A62A}" srcOrd="0" destOrd="0" presId="urn:microsoft.com/office/officeart/2017/3/layout/DropPinTimeline"/>
    <dgm:cxn modelId="{24A8F052-3377-4BA4-8C62-CCF5039C85D7}" srcId="{CA6B1BA0-B2FC-48AD-8EDA-F4AAA4AF2782}" destId="{3CB04A44-4013-4CA7-90FD-29AFC3C15E37}" srcOrd="0" destOrd="0" parTransId="{ECEE936A-E3CC-4209-BECC-1CD0C85A2B72}" sibTransId="{D7A8F7A0-47A3-4464-B3B7-E0806DF46627}"/>
    <dgm:cxn modelId="{601FA375-B804-4895-B969-A3CE7B37C85C}" type="presOf" srcId="{096A9AF0-0DAE-4EB3-B448-4501DA034F4A}" destId="{C1E34084-406C-48D5-88FE-7226282DBC49}" srcOrd="0" destOrd="0" presId="urn:microsoft.com/office/officeart/2017/3/layout/DropPinTimeline"/>
    <dgm:cxn modelId="{F83DF077-A6DE-4B8C-A62E-2FB10C7306B7}" type="presOf" srcId="{4EA069F3-397F-40D5-94A6-32C3E355C277}" destId="{FC8603F2-85FC-4134-978C-4054E468209C}" srcOrd="0" destOrd="0" presId="urn:microsoft.com/office/officeart/2017/3/layout/DropPinTimeline"/>
    <dgm:cxn modelId="{761E4B58-8AA0-4EE9-9827-01A0CA5D8AAC}" type="presOf" srcId="{9DCEA5FC-4640-45AF-B712-7A4FD94AEF0D}" destId="{85C50C56-6DC8-4C47-8DBC-4FD6B1554AA4}" srcOrd="0" destOrd="0" presId="urn:microsoft.com/office/officeart/2017/3/layout/DropPinTimeline"/>
    <dgm:cxn modelId="{B05C4C7C-FEB8-4825-98A0-C38D3021918A}" srcId="{096A9AF0-0DAE-4EB3-B448-4501DA034F4A}" destId="{92921081-529B-4D1C-83A4-C416BB4C5224}" srcOrd="0" destOrd="0" parTransId="{5AD2C2F8-A1D7-469B-93D8-B578BEFE51F8}" sibTransId="{ECC13403-1F53-4ED4-AE4F-334EEC7C8710}"/>
    <dgm:cxn modelId="{2802187F-7EB3-49BE-9C62-E8F8F0567AFB}" type="presOf" srcId="{3CB04A44-4013-4CA7-90FD-29AFC3C15E37}" destId="{FE564261-183D-47F9-8E7E-BCFC5023A815}" srcOrd="0" destOrd="0" presId="urn:microsoft.com/office/officeart/2017/3/layout/DropPinTimeline"/>
    <dgm:cxn modelId="{F9D8B584-9399-4A2B-8ADC-F71293A4822C}" srcId="{63085546-7C7C-4B3E-ABEB-2669F1A65FB2}" destId="{A2560FD2-F12F-4A06-A96F-B86674952111}" srcOrd="5" destOrd="0" parTransId="{96173659-138A-4A00-AE0B-9063EA9393A6}" sibTransId="{D3C3BC3F-2256-4FBC-AFA5-0D035E3EACD7}"/>
    <dgm:cxn modelId="{247DE591-0579-4FF5-9C62-940C4F67096B}" type="presOf" srcId="{63085546-7C7C-4B3E-ABEB-2669F1A65FB2}" destId="{7A5D3400-AF5B-4297-8592-4C1EDB9D0973}" srcOrd="0" destOrd="0" presId="urn:microsoft.com/office/officeart/2017/3/layout/DropPinTimeline"/>
    <dgm:cxn modelId="{F16073A4-7F3E-4CB9-8FB4-14646A5FA672}" type="presOf" srcId="{831701CF-77C7-46C0-A913-8CC39517BAB8}" destId="{A782CF5D-A585-4990-846A-5EDBD19A9BDB}" srcOrd="0" destOrd="0" presId="urn:microsoft.com/office/officeart/2017/3/layout/DropPinTimeline"/>
    <dgm:cxn modelId="{99746BB5-7122-43B8-8680-CF610F03585C}" srcId="{A2560FD2-F12F-4A06-A96F-B86674952111}" destId="{1E529C6E-C939-479A-A075-9E9B02837B50}" srcOrd="0" destOrd="0" parTransId="{46B3C017-F97A-4640-992A-33AEE06B2EFC}" sibTransId="{192E80CB-2667-481C-8244-6EC4AEED1BC2}"/>
    <dgm:cxn modelId="{CA0753BD-DB60-4D68-8486-5B376B839B26}" srcId="{63085546-7C7C-4B3E-ABEB-2669F1A65FB2}" destId="{096A9AF0-0DAE-4EB3-B448-4501DA034F4A}" srcOrd="1" destOrd="0" parTransId="{8CE6ABD6-768E-42C8-9029-C3B5F278B21C}" sibTransId="{6B0D7DA9-E6ED-4137-9716-F48BF62327A8}"/>
    <dgm:cxn modelId="{BC5A70C8-9D97-4922-BCDB-6316D191C527}" srcId="{683CC5F6-E9B5-49F2-909E-A68D38896308}" destId="{4EA069F3-397F-40D5-94A6-32C3E355C277}" srcOrd="0" destOrd="0" parTransId="{2F99115B-608E-4E08-A503-B74879A76D07}" sibTransId="{E94D5EF7-F47C-476C-A5FE-1C35261B578A}"/>
    <dgm:cxn modelId="{CD6B6EE8-3813-4EF1-BFEC-C005A3326D63}" srcId="{63085546-7C7C-4B3E-ABEB-2669F1A65FB2}" destId="{CA6B1BA0-B2FC-48AD-8EDA-F4AAA4AF2782}" srcOrd="3" destOrd="0" parTransId="{D7D3AA07-BCB9-4212-A556-E90870FB1413}" sibTransId="{39FB540D-D808-4040-9A37-0AC474C0212F}"/>
    <dgm:cxn modelId="{59786CF9-070F-4821-A4E9-D33DB930D8D2}" srcId="{63085546-7C7C-4B3E-ABEB-2669F1A65FB2}" destId="{683CC5F6-E9B5-49F2-909E-A68D38896308}" srcOrd="2" destOrd="0" parTransId="{15BFC747-B881-4328-BFBE-9BC128388CC6}" sibTransId="{4C61DDEE-8BBF-4CBF-B066-7E60B6DF0A11}"/>
    <dgm:cxn modelId="{7D8ED7F9-36D8-494B-9BD9-5FA0FA06A04A}" type="presOf" srcId="{18D8241B-9711-4542-8B08-BE98384C2C30}" destId="{FC8603F2-85FC-4134-978C-4054E468209C}" srcOrd="0" destOrd="1" presId="urn:microsoft.com/office/officeart/2017/3/layout/DropPinTimeline"/>
    <dgm:cxn modelId="{DA6A51DB-6C18-400B-9DA5-E8330852483B}" type="presParOf" srcId="{7A5D3400-AF5B-4297-8592-4C1EDB9D0973}" destId="{BD204284-1F7C-4D58-BC79-8C2DEE7E9FAF}" srcOrd="0" destOrd="0" presId="urn:microsoft.com/office/officeart/2017/3/layout/DropPinTimeline"/>
    <dgm:cxn modelId="{B682209A-D180-4D3D-A7FE-3FF4623AAAC8}" type="presParOf" srcId="{7A5D3400-AF5B-4297-8592-4C1EDB9D0973}" destId="{46A6B157-7198-41C4-9D25-C4F8885F1B6F}" srcOrd="1" destOrd="0" presId="urn:microsoft.com/office/officeart/2017/3/layout/DropPinTimeline"/>
    <dgm:cxn modelId="{4CF30FDC-8EA5-4C55-A240-DA99543AE3C6}" type="presParOf" srcId="{46A6B157-7198-41C4-9D25-C4F8885F1B6F}" destId="{578E6A06-6F61-48BD-9F1A-48E731D6E26D}" srcOrd="0" destOrd="0" presId="urn:microsoft.com/office/officeart/2017/3/layout/DropPinTimeline"/>
    <dgm:cxn modelId="{7F06BCA7-F8E6-43B5-AEBF-3EA16A460043}" type="presParOf" srcId="{578E6A06-6F61-48BD-9F1A-48E731D6E26D}" destId="{9F727168-E825-43C1-AF50-41E115F59C0C}" srcOrd="0" destOrd="0" presId="urn:microsoft.com/office/officeart/2017/3/layout/DropPinTimeline"/>
    <dgm:cxn modelId="{39550BBA-C07C-435F-AE58-6A3869656E8F}" type="presParOf" srcId="{578E6A06-6F61-48BD-9F1A-48E731D6E26D}" destId="{0C380CA5-521A-4949-A022-450DA9C217F5}" srcOrd="1" destOrd="0" presId="urn:microsoft.com/office/officeart/2017/3/layout/DropPinTimeline"/>
    <dgm:cxn modelId="{50FAF036-8C4F-4AB4-964E-F6C0C8E1B366}" type="presParOf" srcId="{0C380CA5-521A-4949-A022-450DA9C217F5}" destId="{19EF924A-339B-436A-9151-9C7B0B0377B9}" srcOrd="0" destOrd="0" presId="urn:microsoft.com/office/officeart/2017/3/layout/DropPinTimeline"/>
    <dgm:cxn modelId="{FEF6FDFF-AC95-4350-940F-FC375C454173}" type="presParOf" srcId="{0C380CA5-521A-4949-A022-450DA9C217F5}" destId="{846B4BA4-33F0-43CE-A60E-B95E195AD5A9}" srcOrd="1" destOrd="0" presId="urn:microsoft.com/office/officeart/2017/3/layout/DropPinTimeline"/>
    <dgm:cxn modelId="{86FB1E3B-8C27-43E3-9CFC-6B9AD5B19723}" type="presParOf" srcId="{578E6A06-6F61-48BD-9F1A-48E731D6E26D}" destId="{A782CF5D-A585-4990-846A-5EDBD19A9BDB}" srcOrd="2" destOrd="0" presId="urn:microsoft.com/office/officeart/2017/3/layout/DropPinTimeline"/>
    <dgm:cxn modelId="{A2AA414F-7DC4-4250-B21D-62866A63C6BC}" type="presParOf" srcId="{578E6A06-6F61-48BD-9F1A-48E731D6E26D}" destId="{85C50C56-6DC8-4C47-8DBC-4FD6B1554AA4}" srcOrd="3" destOrd="0" presId="urn:microsoft.com/office/officeart/2017/3/layout/DropPinTimeline"/>
    <dgm:cxn modelId="{AEEA7548-3D0E-4A32-8C4A-EEFE5745C7DF}" type="presParOf" srcId="{578E6A06-6F61-48BD-9F1A-48E731D6E26D}" destId="{4F322B1B-F357-4BCD-BF34-8A0D705A1CE7}" srcOrd="4" destOrd="0" presId="urn:microsoft.com/office/officeart/2017/3/layout/DropPinTimeline"/>
    <dgm:cxn modelId="{7AB3159E-92F2-4399-AE36-6211AADC42EA}" type="presParOf" srcId="{578E6A06-6F61-48BD-9F1A-48E731D6E26D}" destId="{9FF32B1E-94FD-475E-9959-8E0546070C5B}" srcOrd="5" destOrd="0" presId="urn:microsoft.com/office/officeart/2017/3/layout/DropPinTimeline"/>
    <dgm:cxn modelId="{CAD3EAEA-2806-4987-BD88-048D89C54CF1}" type="presParOf" srcId="{46A6B157-7198-41C4-9D25-C4F8885F1B6F}" destId="{C9E000F5-B650-46EB-A3B0-FBA6593CE548}" srcOrd="1" destOrd="0" presId="urn:microsoft.com/office/officeart/2017/3/layout/DropPinTimeline"/>
    <dgm:cxn modelId="{5EA5B657-7F2F-44E2-B1DD-0B3ECBD1E99D}" type="presParOf" srcId="{46A6B157-7198-41C4-9D25-C4F8885F1B6F}" destId="{64373A7D-C7A5-4C0C-9781-58743159539A}" srcOrd="2" destOrd="0" presId="urn:microsoft.com/office/officeart/2017/3/layout/DropPinTimeline"/>
    <dgm:cxn modelId="{14BAE908-5010-418B-B10F-E0EF3644818C}" type="presParOf" srcId="{64373A7D-C7A5-4C0C-9781-58743159539A}" destId="{B57996C3-16BE-4CEB-B9E2-6FFC42938F41}" srcOrd="0" destOrd="0" presId="urn:microsoft.com/office/officeart/2017/3/layout/DropPinTimeline"/>
    <dgm:cxn modelId="{6EE799C9-2ACE-448A-B9B4-1F0BFCC5494D}" type="presParOf" srcId="{64373A7D-C7A5-4C0C-9781-58743159539A}" destId="{BC71368F-DA7E-405D-93AC-3A6767BF9FC6}" srcOrd="1" destOrd="0" presId="urn:microsoft.com/office/officeart/2017/3/layout/DropPinTimeline"/>
    <dgm:cxn modelId="{59CC3372-0972-45A9-AB2E-167939969C7E}" type="presParOf" srcId="{BC71368F-DA7E-405D-93AC-3A6767BF9FC6}" destId="{5B4632EA-1574-417A-A3FA-D711159FBAD1}" srcOrd="0" destOrd="0" presId="urn:microsoft.com/office/officeart/2017/3/layout/DropPinTimeline"/>
    <dgm:cxn modelId="{1BF47519-9E4E-4BB0-BCBA-A5961FF9A6CD}" type="presParOf" srcId="{BC71368F-DA7E-405D-93AC-3A6767BF9FC6}" destId="{032E0966-F86B-4BBD-BE80-8FAB861AF0E8}" srcOrd="1" destOrd="0" presId="urn:microsoft.com/office/officeart/2017/3/layout/DropPinTimeline"/>
    <dgm:cxn modelId="{882EEBD2-110A-4990-8880-616C578449B7}" type="presParOf" srcId="{64373A7D-C7A5-4C0C-9781-58743159539A}" destId="{B608C5A1-CE9E-4410-9F2F-F714CC6AB069}" srcOrd="2" destOrd="0" presId="urn:microsoft.com/office/officeart/2017/3/layout/DropPinTimeline"/>
    <dgm:cxn modelId="{E5F82FBD-2B6D-4121-BACE-4D1B9A91EC66}" type="presParOf" srcId="{64373A7D-C7A5-4C0C-9781-58743159539A}" destId="{C1E34084-406C-48D5-88FE-7226282DBC49}" srcOrd="3" destOrd="0" presId="urn:microsoft.com/office/officeart/2017/3/layout/DropPinTimeline"/>
    <dgm:cxn modelId="{B94D7E38-E5D7-44D5-B33C-E3A0C78F3780}" type="presParOf" srcId="{64373A7D-C7A5-4C0C-9781-58743159539A}" destId="{33168228-1414-4AAF-B7E5-C08A80BBB2F1}" srcOrd="4" destOrd="0" presId="urn:microsoft.com/office/officeart/2017/3/layout/DropPinTimeline"/>
    <dgm:cxn modelId="{397EE9F0-39A3-4A02-B678-70EBE6F9F893}" type="presParOf" srcId="{64373A7D-C7A5-4C0C-9781-58743159539A}" destId="{C791BCDD-76D3-4E0E-98B9-0C4903CF0E94}" srcOrd="5" destOrd="0" presId="urn:microsoft.com/office/officeart/2017/3/layout/DropPinTimeline"/>
    <dgm:cxn modelId="{AD2F3FEC-DCA0-43DB-982D-903784448797}" type="presParOf" srcId="{46A6B157-7198-41C4-9D25-C4F8885F1B6F}" destId="{3B1DA912-FDB7-4F73-8823-B30C56F7DE86}" srcOrd="3" destOrd="0" presId="urn:microsoft.com/office/officeart/2017/3/layout/DropPinTimeline"/>
    <dgm:cxn modelId="{51C3A01D-5793-42E1-B8B1-95C7AEB64581}" type="presParOf" srcId="{46A6B157-7198-41C4-9D25-C4F8885F1B6F}" destId="{DCEEC7C0-6CAC-4153-B66A-D920E3B7F504}" srcOrd="4" destOrd="0" presId="urn:microsoft.com/office/officeart/2017/3/layout/DropPinTimeline"/>
    <dgm:cxn modelId="{86D426D3-DE4C-4BB4-8C09-D2C63BD51E4E}" type="presParOf" srcId="{DCEEC7C0-6CAC-4153-B66A-D920E3B7F504}" destId="{56361E50-9FEC-48AD-A369-C1A8379B35EC}" srcOrd="0" destOrd="0" presId="urn:microsoft.com/office/officeart/2017/3/layout/DropPinTimeline"/>
    <dgm:cxn modelId="{02CD6C3F-E995-471C-94FB-C0D54B4842D5}" type="presParOf" srcId="{DCEEC7C0-6CAC-4153-B66A-D920E3B7F504}" destId="{70AC7E27-D774-4261-A80F-683BBD09A81D}" srcOrd="1" destOrd="0" presId="urn:microsoft.com/office/officeart/2017/3/layout/DropPinTimeline"/>
    <dgm:cxn modelId="{5CF11FCC-C23E-454E-AC1E-DFD67727D7CD}" type="presParOf" srcId="{70AC7E27-D774-4261-A80F-683BBD09A81D}" destId="{7BC09B8D-1C75-4604-9F35-AEC078447C45}" srcOrd="0" destOrd="0" presId="urn:microsoft.com/office/officeart/2017/3/layout/DropPinTimeline"/>
    <dgm:cxn modelId="{F5089ADD-33C1-472D-BAF2-91B6652DF1A9}" type="presParOf" srcId="{70AC7E27-D774-4261-A80F-683BBD09A81D}" destId="{DFE91A1F-E910-48AB-A4C9-128002268483}" srcOrd="1" destOrd="0" presId="urn:microsoft.com/office/officeart/2017/3/layout/DropPinTimeline"/>
    <dgm:cxn modelId="{FD943790-5411-4A3B-924D-4403B21626BA}" type="presParOf" srcId="{DCEEC7C0-6CAC-4153-B66A-D920E3B7F504}" destId="{FC8603F2-85FC-4134-978C-4054E468209C}" srcOrd="2" destOrd="0" presId="urn:microsoft.com/office/officeart/2017/3/layout/DropPinTimeline"/>
    <dgm:cxn modelId="{D5E16DB1-0EBE-490A-BD7E-FD19274E6A38}" type="presParOf" srcId="{DCEEC7C0-6CAC-4153-B66A-D920E3B7F504}" destId="{4EB3AA5C-1289-44C6-9F3E-859ABA28E18F}" srcOrd="3" destOrd="0" presId="urn:microsoft.com/office/officeart/2017/3/layout/DropPinTimeline"/>
    <dgm:cxn modelId="{8DE5DA9E-2AA7-43F7-8DD5-E5ECEF772101}" type="presParOf" srcId="{DCEEC7C0-6CAC-4153-B66A-D920E3B7F504}" destId="{0BB03C0E-97EC-4D66-9B09-35D689DAB28C}" srcOrd="4" destOrd="0" presId="urn:microsoft.com/office/officeart/2017/3/layout/DropPinTimeline"/>
    <dgm:cxn modelId="{DA57C1DD-192D-489A-BBC9-D9ACA01A09F2}" type="presParOf" srcId="{DCEEC7C0-6CAC-4153-B66A-D920E3B7F504}" destId="{1A7A92CB-81F0-42D4-87BF-4008DEFA9CA8}" srcOrd="5" destOrd="0" presId="urn:microsoft.com/office/officeart/2017/3/layout/DropPinTimeline"/>
    <dgm:cxn modelId="{7E5E61DA-CACE-4FC7-A295-A50C9FA0159E}" type="presParOf" srcId="{46A6B157-7198-41C4-9D25-C4F8885F1B6F}" destId="{ABE3202B-256B-4398-8B41-CB40EDB06266}" srcOrd="5" destOrd="0" presId="urn:microsoft.com/office/officeart/2017/3/layout/DropPinTimeline"/>
    <dgm:cxn modelId="{07DA9BDD-D756-4F29-80E5-7856AC99F270}" type="presParOf" srcId="{46A6B157-7198-41C4-9D25-C4F8885F1B6F}" destId="{B744CD57-FD23-4E62-9589-4CAC57B034E9}" srcOrd="6" destOrd="0" presId="urn:microsoft.com/office/officeart/2017/3/layout/DropPinTimeline"/>
    <dgm:cxn modelId="{A54741C0-57CC-4443-9EC5-35B27EE5E879}" type="presParOf" srcId="{B744CD57-FD23-4E62-9589-4CAC57B034E9}" destId="{D891B168-1DA5-4124-931F-A51FCB8EFC11}" srcOrd="0" destOrd="0" presId="urn:microsoft.com/office/officeart/2017/3/layout/DropPinTimeline"/>
    <dgm:cxn modelId="{44B3C3FE-C503-4088-9594-FF6526E19BF3}" type="presParOf" srcId="{B744CD57-FD23-4E62-9589-4CAC57B034E9}" destId="{42206762-CD73-4F82-B16A-D168E2503215}" srcOrd="1" destOrd="0" presId="urn:microsoft.com/office/officeart/2017/3/layout/DropPinTimeline"/>
    <dgm:cxn modelId="{239B9997-909E-499F-90E5-95A977AC216C}" type="presParOf" srcId="{42206762-CD73-4F82-B16A-D168E2503215}" destId="{C0DBECBF-E3AA-450B-95D4-8349AA21B4F8}" srcOrd="0" destOrd="0" presId="urn:microsoft.com/office/officeart/2017/3/layout/DropPinTimeline"/>
    <dgm:cxn modelId="{913BA6FA-228D-4434-8839-0BBC563346A1}" type="presParOf" srcId="{42206762-CD73-4F82-B16A-D168E2503215}" destId="{6EDDD44C-F5E4-49AD-B1D9-346B8B8AEE8F}" srcOrd="1" destOrd="0" presId="urn:microsoft.com/office/officeart/2017/3/layout/DropPinTimeline"/>
    <dgm:cxn modelId="{81CB2C61-6B70-4A51-ACCE-DD65EFE72264}" type="presParOf" srcId="{B744CD57-FD23-4E62-9589-4CAC57B034E9}" destId="{FE564261-183D-47F9-8E7E-BCFC5023A815}" srcOrd="2" destOrd="0" presId="urn:microsoft.com/office/officeart/2017/3/layout/DropPinTimeline"/>
    <dgm:cxn modelId="{0D94F868-59F8-4671-9038-53D01D6C70F0}" type="presParOf" srcId="{B744CD57-FD23-4E62-9589-4CAC57B034E9}" destId="{3DA36ABE-9810-4ED4-9A55-2905E7588D06}" srcOrd="3" destOrd="0" presId="urn:microsoft.com/office/officeart/2017/3/layout/DropPinTimeline"/>
    <dgm:cxn modelId="{A0A095FA-FAD3-4861-A220-140A889CB7D8}" type="presParOf" srcId="{B744CD57-FD23-4E62-9589-4CAC57B034E9}" destId="{4B9F5909-A57C-4893-9C8A-D5960FE9BE37}" srcOrd="4" destOrd="0" presId="urn:microsoft.com/office/officeart/2017/3/layout/DropPinTimeline"/>
    <dgm:cxn modelId="{8FFFA548-0EFE-4476-B5A5-95CB32500074}" type="presParOf" srcId="{B744CD57-FD23-4E62-9589-4CAC57B034E9}" destId="{DEDCEF89-DB8F-4197-B2D2-2D39426E0B96}" srcOrd="5" destOrd="0" presId="urn:microsoft.com/office/officeart/2017/3/layout/DropPinTimeline"/>
    <dgm:cxn modelId="{D7A836E4-E400-4ED7-ABF3-88920F3B86D1}" type="presParOf" srcId="{46A6B157-7198-41C4-9D25-C4F8885F1B6F}" destId="{4A96FD2F-C127-41DC-AA54-1EEBED6BA483}" srcOrd="7" destOrd="0" presId="urn:microsoft.com/office/officeart/2017/3/layout/DropPinTimeline"/>
    <dgm:cxn modelId="{2E35C8AB-C54E-4DE6-98F2-126D8B12CA35}" type="presParOf" srcId="{46A6B157-7198-41C4-9D25-C4F8885F1B6F}" destId="{A1AE2BC4-A99C-4DD3-A84D-EB3461D18287}" srcOrd="8" destOrd="0" presId="urn:microsoft.com/office/officeart/2017/3/layout/DropPinTimeline"/>
    <dgm:cxn modelId="{AC45CECB-C5CF-4E80-98D8-0844891DC577}" type="presParOf" srcId="{A1AE2BC4-A99C-4DD3-A84D-EB3461D18287}" destId="{278CF1E0-B1C4-4B10-A5EC-FD7EF0557E2D}" srcOrd="0" destOrd="0" presId="urn:microsoft.com/office/officeart/2017/3/layout/DropPinTimeline"/>
    <dgm:cxn modelId="{FAC5196A-0FF0-48C2-A8D5-A327A9296F37}" type="presParOf" srcId="{A1AE2BC4-A99C-4DD3-A84D-EB3461D18287}" destId="{27B65FB4-BE6A-41E6-BBE9-8DC9F7B73486}" srcOrd="1" destOrd="0" presId="urn:microsoft.com/office/officeart/2017/3/layout/DropPinTimeline"/>
    <dgm:cxn modelId="{6506C7DF-695E-463E-9F7A-076AACE839A3}" type="presParOf" srcId="{27B65FB4-BE6A-41E6-BBE9-8DC9F7B73486}" destId="{488CC4C6-DFBC-460C-A9ED-BEDA8CC682D4}" srcOrd="0" destOrd="0" presId="urn:microsoft.com/office/officeart/2017/3/layout/DropPinTimeline"/>
    <dgm:cxn modelId="{BB2EC07F-9382-4ADC-B58A-370E51165161}" type="presParOf" srcId="{27B65FB4-BE6A-41E6-BBE9-8DC9F7B73486}" destId="{48CA82DA-B677-461B-A08D-337683480059}" srcOrd="1" destOrd="0" presId="urn:microsoft.com/office/officeart/2017/3/layout/DropPinTimeline"/>
    <dgm:cxn modelId="{D2C7B1A6-CF92-4104-85AF-7ED69E77FB2E}" type="presParOf" srcId="{A1AE2BC4-A99C-4DD3-A84D-EB3461D18287}" destId="{D1646913-A3FA-4470-A3E9-C64B0A13A62A}" srcOrd="2" destOrd="0" presId="urn:microsoft.com/office/officeart/2017/3/layout/DropPinTimeline"/>
    <dgm:cxn modelId="{6DFB5DDF-069E-470A-9D51-14C2EEBAEAB6}" type="presParOf" srcId="{A1AE2BC4-A99C-4DD3-A84D-EB3461D18287}" destId="{6EC2FC68-E1B8-4274-8090-C2C96A4CD82C}" srcOrd="3" destOrd="0" presId="urn:microsoft.com/office/officeart/2017/3/layout/DropPinTimeline"/>
    <dgm:cxn modelId="{E13030DA-BCC9-42B5-90A4-C1245E765FC8}" type="presParOf" srcId="{A1AE2BC4-A99C-4DD3-A84D-EB3461D18287}" destId="{4F41BF23-550C-4E7F-977E-3D22E3AF7B51}" srcOrd="4" destOrd="0" presId="urn:microsoft.com/office/officeart/2017/3/layout/DropPinTimeline"/>
    <dgm:cxn modelId="{5DC7870F-4614-4A72-AB7A-994AF1F8A4DE}" type="presParOf" srcId="{A1AE2BC4-A99C-4DD3-A84D-EB3461D18287}" destId="{5018695D-CFD4-49F8-8967-BA8A0C0A0DE1}" srcOrd="5" destOrd="0" presId="urn:microsoft.com/office/officeart/2017/3/layout/DropPinTimeline"/>
    <dgm:cxn modelId="{39DED560-FDC7-4A20-BA37-B726CE3DBE1E}" type="presParOf" srcId="{46A6B157-7198-41C4-9D25-C4F8885F1B6F}" destId="{61EA613E-57A8-485F-A4A9-29037092E83A}" srcOrd="9" destOrd="0" presId="urn:microsoft.com/office/officeart/2017/3/layout/DropPinTimeline"/>
    <dgm:cxn modelId="{54E41EA0-9E87-40EF-B950-CD0D02632A5E}" type="presParOf" srcId="{46A6B157-7198-41C4-9D25-C4F8885F1B6F}" destId="{0F3B3032-C16A-44EB-AE28-CB7C1D797D2B}" srcOrd="10" destOrd="0" presId="urn:microsoft.com/office/officeart/2017/3/layout/DropPinTimeline"/>
    <dgm:cxn modelId="{1942FCC2-B760-454F-8ED4-284B5F0D173F}" type="presParOf" srcId="{0F3B3032-C16A-44EB-AE28-CB7C1D797D2B}" destId="{A64C6D16-2F77-439A-848A-F1081C5E5CBE}" srcOrd="0" destOrd="0" presId="urn:microsoft.com/office/officeart/2017/3/layout/DropPinTimeline"/>
    <dgm:cxn modelId="{AC143F48-BF04-4D0E-89BA-960F2ABBD0BF}" type="presParOf" srcId="{0F3B3032-C16A-44EB-AE28-CB7C1D797D2B}" destId="{8EFC6EAF-71E5-48C3-9F69-6FB96640B14F}" srcOrd="1" destOrd="0" presId="urn:microsoft.com/office/officeart/2017/3/layout/DropPinTimeline"/>
    <dgm:cxn modelId="{9D150C9C-5EFC-4A02-8C37-075CE44C91E1}" type="presParOf" srcId="{8EFC6EAF-71E5-48C3-9F69-6FB96640B14F}" destId="{73F98938-B973-410F-B6E0-43437FA146E6}" srcOrd="0" destOrd="0" presId="urn:microsoft.com/office/officeart/2017/3/layout/DropPinTimeline"/>
    <dgm:cxn modelId="{64F7D1CF-1C75-4E99-9650-834BFE5A5694}" type="presParOf" srcId="{8EFC6EAF-71E5-48C3-9F69-6FB96640B14F}" destId="{26BE64BD-02BC-4C6F-AC50-F9617E59754D}" srcOrd="1" destOrd="0" presId="urn:microsoft.com/office/officeart/2017/3/layout/DropPinTimeline"/>
    <dgm:cxn modelId="{C16907F7-D721-4CDC-AE06-6F5EE47FD277}" type="presParOf" srcId="{0F3B3032-C16A-44EB-AE28-CB7C1D797D2B}" destId="{5C5070CD-E29E-4F50-9A43-342A2DE968FF}" srcOrd="2" destOrd="0" presId="urn:microsoft.com/office/officeart/2017/3/layout/DropPinTimeline"/>
    <dgm:cxn modelId="{CA8AB878-D5FF-4555-BB9A-8E6D1CC53290}" type="presParOf" srcId="{0F3B3032-C16A-44EB-AE28-CB7C1D797D2B}" destId="{6FED4196-A0D3-4E5C-83DA-99291A8FFFC3}" srcOrd="3" destOrd="0" presId="urn:microsoft.com/office/officeart/2017/3/layout/DropPinTimeline"/>
    <dgm:cxn modelId="{55A40688-F4F2-41AC-A466-706C7C2D4FCF}" type="presParOf" srcId="{0F3B3032-C16A-44EB-AE28-CB7C1D797D2B}" destId="{54DE4918-169B-4E9C-B946-44A9D45AEC94}" srcOrd="4" destOrd="0" presId="urn:microsoft.com/office/officeart/2017/3/layout/DropPinTimeline"/>
    <dgm:cxn modelId="{506414DA-3D19-4555-9698-F2128A0EF183}" type="presParOf" srcId="{0F3B3032-C16A-44EB-AE28-CB7C1D797D2B}" destId="{75F2030E-997B-4809-B3F1-AEF48EEEDB2B}" srcOrd="5" destOrd="0" presId="urn:microsoft.com/office/officeart/2017/3/layout/DropPinTimeline"/>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204284-1F7C-4D58-BC79-8C2DEE7E9FAF}">
      <dsp:nvSpPr>
        <dsp:cNvPr id="0" name=""/>
        <dsp:cNvSpPr/>
      </dsp:nvSpPr>
      <dsp:spPr>
        <a:xfrm>
          <a:off x="0" y="1524794"/>
          <a:ext cx="10669875" cy="428624"/>
        </a:xfrm>
        <a:prstGeom prst="homePlate">
          <a:avLst/>
        </a:prstGeom>
        <a:gradFill rotWithShape="0">
          <a:gsLst>
            <a:gs pos="0">
              <a:schemeClr val="bg1">
                <a:lumMod val="95000"/>
              </a:schemeClr>
            </a:gs>
            <a:gs pos="100000">
              <a:schemeClr val="bg1">
                <a:lumMod val="85000"/>
              </a:schemeClr>
            </a:gs>
          </a:gsLst>
          <a:lin ang="1200000" scaled="0"/>
        </a:gradFill>
        <a:ln w="12700" cap="flat" cmpd="sng" algn="ctr">
          <a:noFill/>
          <a:prstDash val="solid"/>
          <a:miter lim="800000"/>
          <a:tailEnd type="arrow" w="sm" len="sm"/>
        </a:ln>
        <a:effectLst/>
      </dsp:spPr>
      <dsp:style>
        <a:lnRef idx="2">
          <a:scrgbClr r="0" g="0" b="0"/>
        </a:lnRef>
        <a:fillRef idx="1">
          <a:scrgbClr r="0" g="0" b="0"/>
        </a:fillRef>
        <a:effectRef idx="0">
          <a:scrgbClr r="0" g="0" b="0"/>
        </a:effectRef>
        <a:fontRef idx="minor"/>
      </dsp:style>
    </dsp:sp>
    <dsp:sp modelId="{19EF924A-339B-436A-9151-9C7B0B0377B9}">
      <dsp:nvSpPr>
        <dsp:cNvPr id="0" name=""/>
        <dsp:cNvSpPr/>
      </dsp:nvSpPr>
      <dsp:spPr>
        <a:xfrm rot="8100000">
          <a:off x="54881" y="400796"/>
          <a:ext cx="255784" cy="255784"/>
        </a:xfrm>
        <a:prstGeom prst="teardrop">
          <a:avLst>
            <a:gd name="adj" fmla="val 115000"/>
          </a:avLst>
        </a:prstGeom>
        <a:solidFill>
          <a:schemeClr val="accen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6B4BA4-33F0-43CE-A60E-B95E195AD5A9}">
      <dsp:nvSpPr>
        <dsp:cNvPr id="0" name=""/>
        <dsp:cNvSpPr/>
      </dsp:nvSpPr>
      <dsp:spPr>
        <a:xfrm>
          <a:off x="83296" y="429211"/>
          <a:ext cx="198953" cy="198953"/>
        </a:xfrm>
        <a:prstGeom prst="donut">
          <a:avLst/>
        </a:prstGeom>
        <a:solidFill>
          <a:schemeClr val="bg1"/>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A782CF5D-A585-4990-846A-5EDBD19A9BDB}">
      <dsp:nvSpPr>
        <dsp:cNvPr id="0" name=""/>
        <dsp:cNvSpPr/>
      </dsp:nvSpPr>
      <dsp:spPr>
        <a:xfrm>
          <a:off x="363640" y="709555"/>
          <a:ext cx="2534905" cy="10295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kern="1200" dirty="0">
              <a:solidFill>
                <a:schemeClr val="bg1"/>
              </a:solidFill>
            </a:rPr>
            <a:t>Literature review and understanding of base papers.</a:t>
          </a:r>
        </a:p>
      </dsp:txBody>
      <dsp:txXfrm>
        <a:off x="363640" y="709555"/>
        <a:ext cx="2534905" cy="1029551"/>
      </dsp:txXfrm>
    </dsp:sp>
    <dsp:sp modelId="{85C50C56-6DC8-4C47-8DBC-4FD6B1554AA4}">
      <dsp:nvSpPr>
        <dsp:cNvPr id="0" name=""/>
        <dsp:cNvSpPr/>
      </dsp:nvSpPr>
      <dsp:spPr>
        <a:xfrm>
          <a:off x="363640" y="347821"/>
          <a:ext cx="2534905" cy="361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1600" bIns="0" numCol="1" spcCol="1270" anchor="ctr" anchorCtr="0">
          <a:noAutofit/>
        </a:bodyPr>
        <a:lstStyle/>
        <a:p>
          <a:pPr marL="0" lvl="0" indent="0" algn="l" defTabSz="711200">
            <a:lnSpc>
              <a:spcPct val="90000"/>
            </a:lnSpc>
            <a:spcBef>
              <a:spcPct val="0"/>
            </a:spcBef>
            <a:spcAft>
              <a:spcPct val="35000"/>
            </a:spcAft>
            <a:buNone/>
            <a:defRPr b="1"/>
          </a:pPr>
          <a:r>
            <a:rPr lang="en-US" sz="1600" b="1" kern="1200">
              <a:solidFill>
                <a:schemeClr val="bg1"/>
              </a:solidFill>
            </a:rPr>
            <a:t>Q1</a:t>
          </a:r>
          <a:endParaRPr lang="en-US" sz="1100" kern="1200" dirty="0">
            <a:solidFill>
              <a:schemeClr val="bg1"/>
            </a:solidFill>
          </a:endParaRPr>
        </a:p>
      </dsp:txBody>
      <dsp:txXfrm>
        <a:off x="363640" y="347821"/>
        <a:ext cx="2534905" cy="361734"/>
      </dsp:txXfrm>
    </dsp:sp>
    <dsp:sp modelId="{4F322B1B-F357-4BCD-BF34-8A0D705A1CE7}">
      <dsp:nvSpPr>
        <dsp:cNvPr id="0" name=""/>
        <dsp:cNvSpPr/>
      </dsp:nvSpPr>
      <dsp:spPr>
        <a:xfrm>
          <a:off x="182773" y="709555"/>
          <a:ext cx="0" cy="1029551"/>
        </a:xfrm>
        <a:prstGeom prst="line">
          <a:avLst/>
        </a:prstGeom>
        <a:noFill/>
        <a:ln w="3175" cap="flat" cmpd="sng" algn="ctr">
          <a:solidFill>
            <a:schemeClr val="bg1">
              <a:lumMod val="85000"/>
            </a:schemeClr>
          </a:solidFill>
          <a:prstDash val="solid"/>
          <a:miter lim="800000"/>
        </a:ln>
        <a:effectLst/>
      </dsp:spPr>
      <dsp:style>
        <a:lnRef idx="1">
          <a:scrgbClr r="0" g="0" b="0"/>
        </a:lnRef>
        <a:fillRef idx="0">
          <a:scrgbClr r="0" g="0" b="0"/>
        </a:fillRef>
        <a:effectRef idx="0">
          <a:scrgbClr r="0" g="0" b="0"/>
        </a:effectRef>
        <a:fontRef idx="minor"/>
      </dsp:style>
    </dsp:sp>
    <dsp:sp modelId="{9F727168-E825-43C1-AF50-41E115F59C0C}">
      <dsp:nvSpPr>
        <dsp:cNvPr id="0" name=""/>
        <dsp:cNvSpPr/>
      </dsp:nvSpPr>
      <dsp:spPr>
        <a:xfrm>
          <a:off x="149667" y="1706550"/>
          <a:ext cx="65112" cy="65112"/>
        </a:xfrm>
        <a:prstGeom prst="ellipse">
          <a:avLst/>
        </a:prstGeom>
        <a:solidFill>
          <a:schemeClr val="accent1"/>
        </a:solidFill>
        <a:ln w="63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B4632EA-1574-417A-A3FA-D711159FBAD1}">
      <dsp:nvSpPr>
        <dsp:cNvPr id="0" name=""/>
        <dsp:cNvSpPr/>
      </dsp:nvSpPr>
      <dsp:spPr>
        <a:xfrm rot="18900000">
          <a:off x="1577273" y="2821632"/>
          <a:ext cx="255784" cy="255784"/>
        </a:xfrm>
        <a:prstGeom prst="teardrop">
          <a:avLst>
            <a:gd name="adj" fmla="val 115000"/>
          </a:avLst>
        </a:prstGeom>
        <a:solidFill>
          <a:schemeClr val="accen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32E0966-F86B-4BBD-BE80-8FAB861AF0E8}">
      <dsp:nvSpPr>
        <dsp:cNvPr id="0" name=""/>
        <dsp:cNvSpPr/>
      </dsp:nvSpPr>
      <dsp:spPr>
        <a:xfrm>
          <a:off x="1605688" y="2850047"/>
          <a:ext cx="198953" cy="198953"/>
        </a:xfrm>
        <a:prstGeom prst="donut">
          <a:avLst/>
        </a:prstGeom>
        <a:solidFill>
          <a:schemeClr val="lt1">
            <a:hueOff val="0"/>
            <a:satOff val="0"/>
            <a:lum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B608C5A1-CE9E-4410-9F2F-F714CC6AB069}">
      <dsp:nvSpPr>
        <dsp:cNvPr id="0" name=""/>
        <dsp:cNvSpPr/>
      </dsp:nvSpPr>
      <dsp:spPr>
        <a:xfrm>
          <a:off x="1886032" y="1739106"/>
          <a:ext cx="2534905" cy="10295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0" bIns="95250" numCol="1" spcCol="1270" anchor="b" anchorCtr="0">
          <a:noAutofit/>
        </a:bodyPr>
        <a:lstStyle/>
        <a:p>
          <a:pPr marL="0" lvl="0" indent="0" algn="l" defTabSz="666750">
            <a:lnSpc>
              <a:spcPct val="90000"/>
            </a:lnSpc>
            <a:spcBef>
              <a:spcPct val="0"/>
            </a:spcBef>
            <a:spcAft>
              <a:spcPct val="35000"/>
            </a:spcAft>
            <a:buNone/>
          </a:pPr>
          <a:r>
            <a:rPr lang="en-US" sz="1500" kern="1200" dirty="0">
              <a:solidFill>
                <a:schemeClr val="bg1"/>
              </a:solidFill>
            </a:rPr>
            <a:t>Architecture design and implementing key control mechanism. </a:t>
          </a:r>
        </a:p>
      </dsp:txBody>
      <dsp:txXfrm>
        <a:off x="1886032" y="1739106"/>
        <a:ext cx="2534905" cy="1029551"/>
      </dsp:txXfrm>
    </dsp:sp>
    <dsp:sp modelId="{C1E34084-406C-48D5-88FE-7226282DBC49}">
      <dsp:nvSpPr>
        <dsp:cNvPr id="0" name=""/>
        <dsp:cNvSpPr/>
      </dsp:nvSpPr>
      <dsp:spPr>
        <a:xfrm>
          <a:off x="1886032" y="2768657"/>
          <a:ext cx="2534905" cy="361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1600" bIns="0" numCol="1" spcCol="1270" anchor="ctr" anchorCtr="0">
          <a:noAutofit/>
        </a:bodyPr>
        <a:lstStyle/>
        <a:p>
          <a:pPr marL="0" lvl="0" indent="0" algn="l" defTabSz="711200">
            <a:lnSpc>
              <a:spcPct val="90000"/>
            </a:lnSpc>
            <a:spcBef>
              <a:spcPct val="0"/>
            </a:spcBef>
            <a:spcAft>
              <a:spcPct val="35000"/>
            </a:spcAft>
            <a:buNone/>
            <a:defRPr b="1"/>
          </a:pPr>
          <a:r>
            <a:rPr lang="en-US" sz="1600" b="1" kern="1200">
              <a:solidFill>
                <a:schemeClr val="bg1"/>
              </a:solidFill>
            </a:rPr>
            <a:t>Q2</a:t>
          </a:r>
          <a:endParaRPr lang="en-US" sz="1100" kern="1200" dirty="0">
            <a:solidFill>
              <a:schemeClr val="bg1"/>
            </a:solidFill>
          </a:endParaRPr>
        </a:p>
      </dsp:txBody>
      <dsp:txXfrm>
        <a:off x="1886032" y="2768657"/>
        <a:ext cx="2534905" cy="361734"/>
      </dsp:txXfrm>
    </dsp:sp>
    <dsp:sp modelId="{33168228-1414-4AAF-B7E5-C08A80BBB2F1}">
      <dsp:nvSpPr>
        <dsp:cNvPr id="0" name=""/>
        <dsp:cNvSpPr/>
      </dsp:nvSpPr>
      <dsp:spPr>
        <a:xfrm>
          <a:off x="1705165" y="1739106"/>
          <a:ext cx="0" cy="1029551"/>
        </a:xfrm>
        <a:prstGeom prst="line">
          <a:avLst/>
        </a:prstGeom>
        <a:noFill/>
        <a:ln w="3175" cap="flat" cmpd="sng" algn="ctr">
          <a:solidFill>
            <a:prstClr val="white">
              <a:lumMod val="85000"/>
            </a:prstClr>
          </a:solidFill>
          <a:prstDash val="solid"/>
          <a:miter lim="800000"/>
        </a:ln>
        <a:effectLst/>
      </dsp:spPr>
      <dsp:style>
        <a:lnRef idx="1">
          <a:scrgbClr r="0" g="0" b="0"/>
        </a:lnRef>
        <a:fillRef idx="0">
          <a:scrgbClr r="0" g="0" b="0"/>
        </a:fillRef>
        <a:effectRef idx="0">
          <a:scrgbClr r="0" g="0" b="0"/>
        </a:effectRef>
        <a:fontRef idx="minor"/>
      </dsp:style>
    </dsp:sp>
    <dsp:sp modelId="{B57996C3-16BE-4CEB-B9E2-6FFC42938F41}">
      <dsp:nvSpPr>
        <dsp:cNvPr id="0" name=""/>
        <dsp:cNvSpPr/>
      </dsp:nvSpPr>
      <dsp:spPr>
        <a:xfrm>
          <a:off x="1672059" y="1706550"/>
          <a:ext cx="65112" cy="65112"/>
        </a:xfrm>
        <a:prstGeom prst="ellipse">
          <a:avLst/>
        </a:prstGeom>
        <a:solidFill>
          <a:schemeClr val="accent1">
            <a:hueOff val="0"/>
            <a:satOff val="0"/>
            <a:lumOff val="0"/>
            <a:alphaOff val="0"/>
          </a:schemeClr>
        </a:solidFill>
        <a:ln w="63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BC09B8D-1C75-4604-9F35-AEC078447C45}">
      <dsp:nvSpPr>
        <dsp:cNvPr id="0" name=""/>
        <dsp:cNvSpPr/>
      </dsp:nvSpPr>
      <dsp:spPr>
        <a:xfrm rot="8100000">
          <a:off x="3099665" y="400796"/>
          <a:ext cx="255784" cy="255784"/>
        </a:xfrm>
        <a:prstGeom prst="ellipse">
          <a:avLst/>
        </a:prstGeom>
        <a:solidFill>
          <a:schemeClr val="accent3"/>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E91A1F-E910-48AB-A4C9-128002268483}">
      <dsp:nvSpPr>
        <dsp:cNvPr id="0" name=""/>
        <dsp:cNvSpPr/>
      </dsp:nvSpPr>
      <dsp:spPr>
        <a:xfrm>
          <a:off x="3128080" y="429211"/>
          <a:ext cx="198953" cy="198953"/>
        </a:xfrm>
        <a:prstGeom prst="star12">
          <a:avLst/>
        </a:prstGeom>
        <a:solidFill>
          <a:schemeClr val="lt1">
            <a:hueOff val="0"/>
            <a:satOff val="0"/>
            <a:lum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FC8603F2-85FC-4134-978C-4054E468209C}">
      <dsp:nvSpPr>
        <dsp:cNvPr id="0" name=""/>
        <dsp:cNvSpPr/>
      </dsp:nvSpPr>
      <dsp:spPr>
        <a:xfrm>
          <a:off x="3408424" y="709555"/>
          <a:ext cx="2534905" cy="10295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i="1" kern="1200" dirty="0">
              <a:solidFill>
                <a:schemeClr val="bg1"/>
              </a:solidFill>
            </a:rPr>
            <a:t>Customizing compiler.</a:t>
          </a:r>
        </a:p>
        <a:p>
          <a:pPr marL="0" lvl="0" indent="0" algn="l" defTabSz="666750">
            <a:lnSpc>
              <a:spcPct val="90000"/>
            </a:lnSpc>
            <a:spcBef>
              <a:spcPct val="0"/>
            </a:spcBef>
            <a:spcAft>
              <a:spcPct val="35000"/>
            </a:spcAft>
            <a:buNone/>
          </a:pPr>
          <a:r>
            <a:rPr lang="en-US" sz="1500" i="1" kern="1200" dirty="0">
              <a:solidFill>
                <a:schemeClr val="bg1"/>
              </a:solidFill>
            </a:rPr>
            <a:t>Making necessary changes in boot rom.</a:t>
          </a:r>
        </a:p>
      </dsp:txBody>
      <dsp:txXfrm>
        <a:off x="3408424" y="709555"/>
        <a:ext cx="2534905" cy="1029551"/>
      </dsp:txXfrm>
    </dsp:sp>
    <dsp:sp modelId="{4EB3AA5C-1289-44C6-9F3E-859ABA28E18F}">
      <dsp:nvSpPr>
        <dsp:cNvPr id="0" name=""/>
        <dsp:cNvSpPr/>
      </dsp:nvSpPr>
      <dsp:spPr>
        <a:xfrm>
          <a:off x="3408424" y="347821"/>
          <a:ext cx="2534905" cy="361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b="0" i="1" kern="1200" dirty="0">
              <a:solidFill>
                <a:schemeClr val="bg1"/>
              </a:solidFill>
            </a:rPr>
            <a:t>Intermediate Step</a:t>
          </a:r>
        </a:p>
      </dsp:txBody>
      <dsp:txXfrm>
        <a:off x="3408424" y="347821"/>
        <a:ext cx="2534905" cy="361734"/>
      </dsp:txXfrm>
    </dsp:sp>
    <dsp:sp modelId="{0BB03C0E-97EC-4D66-9B09-35D689DAB28C}">
      <dsp:nvSpPr>
        <dsp:cNvPr id="0" name=""/>
        <dsp:cNvSpPr/>
      </dsp:nvSpPr>
      <dsp:spPr>
        <a:xfrm>
          <a:off x="3227557" y="709555"/>
          <a:ext cx="0" cy="1029551"/>
        </a:xfrm>
        <a:prstGeom prst="line">
          <a:avLst/>
        </a:prstGeom>
        <a:solidFill>
          <a:schemeClr val="dk1"/>
        </a:solidFill>
        <a:ln w="12700" cap="flat" cmpd="sng" algn="ctr">
          <a:solidFill>
            <a:schemeClr val="dk1">
              <a:shade val="15000"/>
            </a:schemeClr>
          </a:solidFill>
          <a:prstDash val="solid"/>
          <a:miter lim="800000"/>
        </a:ln>
        <a:effectLst/>
      </dsp:spPr>
      <dsp:style>
        <a:lnRef idx="2">
          <a:schemeClr val="dk1">
            <a:shade val="15000"/>
          </a:schemeClr>
        </a:lnRef>
        <a:fillRef idx="1">
          <a:schemeClr val="dk1"/>
        </a:fillRef>
        <a:effectRef idx="0">
          <a:schemeClr val="dk1"/>
        </a:effectRef>
        <a:fontRef idx="minor">
          <a:schemeClr val="lt1"/>
        </a:fontRef>
      </dsp:style>
    </dsp:sp>
    <dsp:sp modelId="{56361E50-9FEC-48AD-A369-C1A8379B35EC}">
      <dsp:nvSpPr>
        <dsp:cNvPr id="0" name=""/>
        <dsp:cNvSpPr/>
      </dsp:nvSpPr>
      <dsp:spPr>
        <a:xfrm>
          <a:off x="3194451" y="1706550"/>
          <a:ext cx="65112" cy="65112"/>
        </a:xfrm>
        <a:prstGeom prst="ellipse">
          <a:avLst/>
        </a:prstGeom>
        <a:solidFill>
          <a:schemeClr val="accent3"/>
        </a:solidFill>
        <a:ln w="63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0DBECBF-E3AA-450B-95D4-8349AA21B4F8}">
      <dsp:nvSpPr>
        <dsp:cNvPr id="0" name=""/>
        <dsp:cNvSpPr/>
      </dsp:nvSpPr>
      <dsp:spPr>
        <a:xfrm rot="18900000">
          <a:off x="4622056" y="2821632"/>
          <a:ext cx="255784" cy="255784"/>
        </a:xfrm>
        <a:prstGeom prst="teardrop">
          <a:avLst>
            <a:gd name="adj" fmla="val 115000"/>
          </a:avLst>
        </a:prstGeom>
        <a:solidFill>
          <a:schemeClr val="accen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EDDD44C-F5E4-49AD-B1D9-346B8B8AEE8F}">
      <dsp:nvSpPr>
        <dsp:cNvPr id="0" name=""/>
        <dsp:cNvSpPr/>
      </dsp:nvSpPr>
      <dsp:spPr>
        <a:xfrm>
          <a:off x="4650472" y="2850047"/>
          <a:ext cx="198953" cy="198953"/>
        </a:xfrm>
        <a:prstGeom prst="donut">
          <a:avLst/>
        </a:prstGeom>
        <a:solidFill>
          <a:schemeClr val="lt1">
            <a:hueOff val="0"/>
            <a:satOff val="0"/>
            <a:lum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FE564261-183D-47F9-8E7E-BCFC5023A815}">
      <dsp:nvSpPr>
        <dsp:cNvPr id="0" name=""/>
        <dsp:cNvSpPr/>
      </dsp:nvSpPr>
      <dsp:spPr>
        <a:xfrm>
          <a:off x="4930816" y="1739106"/>
          <a:ext cx="2534905" cy="10295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0" bIns="95250" numCol="1" spcCol="1270" anchor="b" anchorCtr="0">
          <a:noAutofit/>
        </a:bodyPr>
        <a:lstStyle/>
        <a:p>
          <a:pPr marL="0" lvl="0" indent="0" algn="l" defTabSz="666750">
            <a:lnSpc>
              <a:spcPct val="90000"/>
            </a:lnSpc>
            <a:spcBef>
              <a:spcPct val="0"/>
            </a:spcBef>
            <a:spcAft>
              <a:spcPct val="35000"/>
            </a:spcAft>
            <a:buNone/>
          </a:pPr>
          <a:r>
            <a:rPr lang="en-US" sz="1500" kern="1200" dirty="0">
              <a:solidFill>
                <a:schemeClr val="bg1"/>
              </a:solidFill>
            </a:rPr>
            <a:t>Integrating software with core (processor).</a:t>
          </a:r>
        </a:p>
      </dsp:txBody>
      <dsp:txXfrm>
        <a:off x="4930816" y="1739106"/>
        <a:ext cx="2534905" cy="1029551"/>
      </dsp:txXfrm>
    </dsp:sp>
    <dsp:sp modelId="{3DA36ABE-9810-4ED4-9A55-2905E7588D06}">
      <dsp:nvSpPr>
        <dsp:cNvPr id="0" name=""/>
        <dsp:cNvSpPr/>
      </dsp:nvSpPr>
      <dsp:spPr>
        <a:xfrm>
          <a:off x="4930816" y="2768657"/>
          <a:ext cx="2534905" cy="361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1600" bIns="0" numCol="1" spcCol="1270" anchor="ctr" anchorCtr="0">
          <a:noAutofit/>
        </a:bodyPr>
        <a:lstStyle/>
        <a:p>
          <a:pPr marL="0" lvl="0" indent="0" algn="l" defTabSz="711200">
            <a:lnSpc>
              <a:spcPct val="90000"/>
            </a:lnSpc>
            <a:spcBef>
              <a:spcPct val="0"/>
            </a:spcBef>
            <a:spcAft>
              <a:spcPct val="35000"/>
            </a:spcAft>
            <a:buNone/>
            <a:defRPr b="1"/>
          </a:pPr>
          <a:r>
            <a:rPr lang="en-US" sz="1600" b="1" kern="1200" dirty="0">
              <a:solidFill>
                <a:schemeClr val="bg1"/>
              </a:solidFill>
            </a:rPr>
            <a:t>Q3</a:t>
          </a:r>
          <a:endParaRPr lang="en-US" sz="1100" kern="1200" dirty="0">
            <a:solidFill>
              <a:schemeClr val="bg1"/>
            </a:solidFill>
          </a:endParaRPr>
        </a:p>
      </dsp:txBody>
      <dsp:txXfrm>
        <a:off x="4930816" y="2768657"/>
        <a:ext cx="2534905" cy="361734"/>
      </dsp:txXfrm>
    </dsp:sp>
    <dsp:sp modelId="{4B9F5909-A57C-4893-9C8A-D5960FE9BE37}">
      <dsp:nvSpPr>
        <dsp:cNvPr id="0" name=""/>
        <dsp:cNvSpPr/>
      </dsp:nvSpPr>
      <dsp:spPr>
        <a:xfrm>
          <a:off x="4749949" y="1739106"/>
          <a:ext cx="0" cy="1029551"/>
        </a:xfrm>
        <a:prstGeom prst="line">
          <a:avLst/>
        </a:prstGeom>
        <a:noFill/>
        <a:ln w="3175" cap="flat" cmpd="sng" algn="ctr">
          <a:solidFill>
            <a:prstClr val="white">
              <a:lumMod val="85000"/>
            </a:prstClr>
          </a:solidFill>
          <a:prstDash val="solid"/>
          <a:miter lim="800000"/>
        </a:ln>
        <a:effectLst/>
      </dsp:spPr>
      <dsp:style>
        <a:lnRef idx="1">
          <a:scrgbClr r="0" g="0" b="0"/>
        </a:lnRef>
        <a:fillRef idx="0">
          <a:scrgbClr r="0" g="0" b="0"/>
        </a:fillRef>
        <a:effectRef idx="0">
          <a:scrgbClr r="0" g="0" b="0"/>
        </a:effectRef>
        <a:fontRef idx="minor"/>
      </dsp:style>
    </dsp:sp>
    <dsp:sp modelId="{D891B168-1DA5-4124-931F-A51FCB8EFC11}">
      <dsp:nvSpPr>
        <dsp:cNvPr id="0" name=""/>
        <dsp:cNvSpPr/>
      </dsp:nvSpPr>
      <dsp:spPr>
        <a:xfrm>
          <a:off x="4716843" y="1706550"/>
          <a:ext cx="65112" cy="65112"/>
        </a:xfrm>
        <a:prstGeom prst="ellipse">
          <a:avLst/>
        </a:prstGeom>
        <a:solidFill>
          <a:schemeClr val="accent1">
            <a:hueOff val="0"/>
            <a:satOff val="0"/>
            <a:lumOff val="0"/>
            <a:alphaOff val="0"/>
          </a:schemeClr>
        </a:solidFill>
        <a:ln w="63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8CC4C6-DFBC-460C-A9ED-BEDA8CC682D4}">
      <dsp:nvSpPr>
        <dsp:cNvPr id="0" name=""/>
        <dsp:cNvSpPr/>
      </dsp:nvSpPr>
      <dsp:spPr>
        <a:xfrm rot="8100000">
          <a:off x="6144448" y="400796"/>
          <a:ext cx="255784" cy="255784"/>
        </a:xfrm>
        <a:prstGeom prst="teardrop">
          <a:avLst>
            <a:gd name="adj" fmla="val 115000"/>
          </a:avLst>
        </a:prstGeom>
        <a:solidFill>
          <a:schemeClr val="accen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CA82DA-B677-461B-A08D-337683480059}">
      <dsp:nvSpPr>
        <dsp:cNvPr id="0" name=""/>
        <dsp:cNvSpPr/>
      </dsp:nvSpPr>
      <dsp:spPr>
        <a:xfrm>
          <a:off x="6172864" y="429211"/>
          <a:ext cx="198953" cy="198953"/>
        </a:xfrm>
        <a:prstGeom prst="donut">
          <a:avLst/>
        </a:prstGeom>
        <a:solidFill>
          <a:schemeClr val="lt1">
            <a:hueOff val="0"/>
            <a:satOff val="0"/>
            <a:lum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D1646913-A3FA-4470-A3E9-C64B0A13A62A}">
      <dsp:nvSpPr>
        <dsp:cNvPr id="0" name=""/>
        <dsp:cNvSpPr/>
      </dsp:nvSpPr>
      <dsp:spPr>
        <a:xfrm>
          <a:off x="6453208" y="709555"/>
          <a:ext cx="2534905" cy="10295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kern="1200" dirty="0">
              <a:solidFill>
                <a:schemeClr val="bg1"/>
              </a:solidFill>
            </a:rPr>
            <a:t>Testing and validation.</a:t>
          </a:r>
        </a:p>
      </dsp:txBody>
      <dsp:txXfrm>
        <a:off x="6453208" y="709555"/>
        <a:ext cx="2534905" cy="1029551"/>
      </dsp:txXfrm>
    </dsp:sp>
    <dsp:sp modelId="{6EC2FC68-E1B8-4274-8090-C2C96A4CD82C}">
      <dsp:nvSpPr>
        <dsp:cNvPr id="0" name=""/>
        <dsp:cNvSpPr/>
      </dsp:nvSpPr>
      <dsp:spPr>
        <a:xfrm>
          <a:off x="6453208" y="347821"/>
          <a:ext cx="2534905" cy="361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1600" bIns="0" numCol="1" spcCol="1270" anchor="ctr" anchorCtr="0">
          <a:noAutofit/>
        </a:bodyPr>
        <a:lstStyle/>
        <a:p>
          <a:pPr marL="0" lvl="0" indent="0" algn="l" defTabSz="711200">
            <a:lnSpc>
              <a:spcPct val="90000"/>
            </a:lnSpc>
            <a:spcBef>
              <a:spcPct val="0"/>
            </a:spcBef>
            <a:spcAft>
              <a:spcPct val="35000"/>
            </a:spcAft>
            <a:buNone/>
            <a:defRPr b="1"/>
          </a:pPr>
          <a:r>
            <a:rPr lang="en-US" sz="1600" b="1" kern="1200" dirty="0">
              <a:solidFill>
                <a:schemeClr val="bg1"/>
              </a:solidFill>
            </a:rPr>
            <a:t>Q4</a:t>
          </a:r>
          <a:endParaRPr lang="en-US" sz="1100" kern="1200" dirty="0">
            <a:solidFill>
              <a:schemeClr val="bg1"/>
            </a:solidFill>
          </a:endParaRPr>
        </a:p>
      </dsp:txBody>
      <dsp:txXfrm>
        <a:off x="6453208" y="347821"/>
        <a:ext cx="2534905" cy="361734"/>
      </dsp:txXfrm>
    </dsp:sp>
    <dsp:sp modelId="{4F41BF23-550C-4E7F-977E-3D22E3AF7B51}">
      <dsp:nvSpPr>
        <dsp:cNvPr id="0" name=""/>
        <dsp:cNvSpPr/>
      </dsp:nvSpPr>
      <dsp:spPr>
        <a:xfrm>
          <a:off x="6272341" y="709555"/>
          <a:ext cx="0" cy="1029551"/>
        </a:xfrm>
        <a:prstGeom prst="line">
          <a:avLst/>
        </a:prstGeom>
        <a:noFill/>
        <a:ln w="3175" cap="flat" cmpd="sng" algn="ctr">
          <a:solidFill>
            <a:prstClr val="white">
              <a:lumMod val="85000"/>
            </a:prstClr>
          </a:solidFill>
          <a:prstDash val="solid"/>
          <a:miter lim="800000"/>
        </a:ln>
        <a:effectLst/>
      </dsp:spPr>
      <dsp:style>
        <a:lnRef idx="1">
          <a:scrgbClr r="0" g="0" b="0"/>
        </a:lnRef>
        <a:fillRef idx="0">
          <a:scrgbClr r="0" g="0" b="0"/>
        </a:fillRef>
        <a:effectRef idx="0">
          <a:scrgbClr r="0" g="0" b="0"/>
        </a:effectRef>
        <a:fontRef idx="minor"/>
      </dsp:style>
    </dsp:sp>
    <dsp:sp modelId="{278CF1E0-B1C4-4B10-A5EC-FD7EF0557E2D}">
      <dsp:nvSpPr>
        <dsp:cNvPr id="0" name=""/>
        <dsp:cNvSpPr/>
      </dsp:nvSpPr>
      <dsp:spPr>
        <a:xfrm>
          <a:off x="6239234" y="1706550"/>
          <a:ext cx="65112" cy="65112"/>
        </a:xfrm>
        <a:prstGeom prst="ellipse">
          <a:avLst/>
        </a:prstGeom>
        <a:solidFill>
          <a:schemeClr val="accent1">
            <a:hueOff val="0"/>
            <a:satOff val="0"/>
            <a:lumOff val="0"/>
            <a:alphaOff val="0"/>
          </a:schemeClr>
        </a:solidFill>
        <a:ln w="63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3F98938-B973-410F-B6E0-43437FA146E6}">
      <dsp:nvSpPr>
        <dsp:cNvPr id="0" name=""/>
        <dsp:cNvSpPr/>
      </dsp:nvSpPr>
      <dsp:spPr>
        <a:xfrm rot="18900000">
          <a:off x="7666840" y="2821632"/>
          <a:ext cx="255784" cy="255784"/>
        </a:xfrm>
        <a:prstGeom prst="ellipse">
          <a:avLst/>
        </a:prstGeom>
        <a:solidFill>
          <a:schemeClr val="accent3"/>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6BE64BD-02BC-4C6F-AC50-F9617E59754D}">
      <dsp:nvSpPr>
        <dsp:cNvPr id="0" name=""/>
        <dsp:cNvSpPr/>
      </dsp:nvSpPr>
      <dsp:spPr>
        <a:xfrm>
          <a:off x="7695256" y="2850047"/>
          <a:ext cx="198953" cy="198953"/>
        </a:xfrm>
        <a:prstGeom prst="star12">
          <a:avLst/>
        </a:prstGeom>
        <a:solidFill>
          <a:schemeClr val="lt1">
            <a:hueOff val="0"/>
            <a:satOff val="0"/>
            <a:lum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5C5070CD-E29E-4F50-9A43-342A2DE968FF}">
      <dsp:nvSpPr>
        <dsp:cNvPr id="0" name=""/>
        <dsp:cNvSpPr/>
      </dsp:nvSpPr>
      <dsp:spPr>
        <a:xfrm>
          <a:off x="7975600" y="1739106"/>
          <a:ext cx="2534905" cy="10295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0" bIns="95250" numCol="1" spcCol="1270" anchor="b" anchorCtr="0">
          <a:noAutofit/>
        </a:bodyPr>
        <a:lstStyle/>
        <a:p>
          <a:pPr marL="0" lvl="0" indent="0" algn="l" defTabSz="666750">
            <a:lnSpc>
              <a:spcPct val="90000"/>
            </a:lnSpc>
            <a:spcBef>
              <a:spcPct val="0"/>
            </a:spcBef>
            <a:spcAft>
              <a:spcPct val="35000"/>
            </a:spcAft>
            <a:buNone/>
          </a:pPr>
          <a:r>
            <a:rPr lang="en-US" sz="1500" kern="1200" dirty="0">
              <a:solidFill>
                <a:schemeClr val="bg1"/>
              </a:solidFill>
            </a:rPr>
            <a:t>Documentation and result analysis.</a:t>
          </a:r>
        </a:p>
      </dsp:txBody>
      <dsp:txXfrm>
        <a:off x="7975600" y="1739106"/>
        <a:ext cx="2534905" cy="1029551"/>
      </dsp:txXfrm>
    </dsp:sp>
    <dsp:sp modelId="{6FED4196-A0D3-4E5C-83DA-99291A8FFFC3}">
      <dsp:nvSpPr>
        <dsp:cNvPr id="0" name=""/>
        <dsp:cNvSpPr/>
      </dsp:nvSpPr>
      <dsp:spPr>
        <a:xfrm>
          <a:off x="7975600" y="2768657"/>
          <a:ext cx="2534905" cy="361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b="0" i="1" kern="1200" dirty="0">
              <a:solidFill>
                <a:schemeClr val="bg1"/>
              </a:solidFill>
            </a:rPr>
            <a:t>Final Step</a:t>
          </a:r>
        </a:p>
      </dsp:txBody>
      <dsp:txXfrm>
        <a:off x="7975600" y="2768657"/>
        <a:ext cx="2534905" cy="361734"/>
      </dsp:txXfrm>
    </dsp:sp>
    <dsp:sp modelId="{54DE4918-169B-4E9C-B946-44A9D45AEC94}">
      <dsp:nvSpPr>
        <dsp:cNvPr id="0" name=""/>
        <dsp:cNvSpPr/>
      </dsp:nvSpPr>
      <dsp:spPr>
        <a:xfrm>
          <a:off x="7794732" y="1739106"/>
          <a:ext cx="0" cy="1029551"/>
        </a:xfrm>
        <a:prstGeom prst="line">
          <a:avLst/>
        </a:prstGeom>
        <a:solidFill>
          <a:schemeClr val="dk1"/>
        </a:solidFill>
        <a:ln w="12700" cap="flat" cmpd="sng" algn="ctr">
          <a:solidFill>
            <a:schemeClr val="dk1">
              <a:shade val="15000"/>
            </a:schemeClr>
          </a:solidFill>
          <a:prstDash val="solid"/>
          <a:miter lim="800000"/>
        </a:ln>
        <a:effectLst/>
      </dsp:spPr>
      <dsp:style>
        <a:lnRef idx="2">
          <a:schemeClr val="dk1">
            <a:shade val="15000"/>
          </a:schemeClr>
        </a:lnRef>
        <a:fillRef idx="1">
          <a:schemeClr val="dk1"/>
        </a:fillRef>
        <a:effectRef idx="0">
          <a:schemeClr val="dk1"/>
        </a:effectRef>
        <a:fontRef idx="minor">
          <a:schemeClr val="lt1"/>
        </a:fontRef>
      </dsp:style>
    </dsp:sp>
    <dsp:sp modelId="{A64C6D16-2F77-439A-848A-F1081C5E5CBE}">
      <dsp:nvSpPr>
        <dsp:cNvPr id="0" name=""/>
        <dsp:cNvSpPr/>
      </dsp:nvSpPr>
      <dsp:spPr>
        <a:xfrm>
          <a:off x="7761626" y="1706550"/>
          <a:ext cx="65112" cy="65112"/>
        </a:xfrm>
        <a:prstGeom prst="ellipse">
          <a:avLst/>
        </a:prstGeom>
        <a:solidFill>
          <a:schemeClr val="accent3"/>
        </a:solidFill>
        <a:ln w="63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7/3/layout/DropPinTimeline">
  <dgm:title val="Drop Pin Timeline"/>
  <dgm:desc val="Use to show a list of events in chronological order. An invisible box next to the pin contains the date and the description is immediately below. It can display a medium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9050">
                    <a:solidFill>
                      <a:srgbClr val="000000"/>
                    </a:solidFill>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55"/>
                  <dgm:constr type="h" for="ch" forName="Ellipse1" refType="w" refFor="ch" refForName="DropPin1" fact="0.55"/>
                  <dgm:constr type="ctrX" for="ch" forName="Ellipse1" refType="ctrX" refFor="ch" refForName="DropPin1"/>
                  <dgm:constr type="ctrY" for="ch" forName="Ellipse1" refType="ctrY" refFor="ch" refForName="DropPin1"/>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b"/>
                      <dgm:param type="parTxLTRAlign" val="l"/>
                      <dgm:param type="parTxRTLAlign" val="l"/>
                      <dgm:param type="txAnchorVertCh" val="b"/>
                      <dgm:param type="shpTxRTLAlignCh" val="l"/>
                      <dgm:param type="shpTxLTRAlignCh" val="l"/>
                    </dgm:alg>
                    <dgm:constrLst>
                      <dgm:constr type="lMarg"/>
                      <dgm:constr type="rMarg" refType="primFontSz" fact="0.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55"/>
                  <dgm:constr type="h" for="ch" forName="Ellipse" refType="w" refFor="ch" refForName="DropPin" fact="0.55"/>
                  <dgm:constr type="ctrX" for="ch" forName="Ellipse" refType="ctrX" refFor="ch" refForName="DropPin"/>
                  <dgm:constr type="ctrY" for="ch" forName="Ellipse" refType="ctrY" refFor="ch" refForName="DropPin"/>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b"/>
                      <dgm:param type="parTxLTRAlign" val="l"/>
                      <dgm:param type="parTxRTLAlign" val="l"/>
                      <dgm:param type="txAnchorVertCh" val="b"/>
                      <dgm:param type="shpTxRTLAlignCh" val="l"/>
                      <dgm:param type="shpTxLTRAlignCh" val="l"/>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4/25/2025</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4/25/2025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DF93A-A9D5-46AE-8E86-F71FF65539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19C45B-C807-FE7B-A5E7-F5DD700442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B79E76-451E-AC29-FBA8-9BEAADD54A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25F8DF-A808-9DE9-091E-DBB679433FAF}"/>
              </a:ext>
            </a:extLst>
          </p:cNvPr>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8525769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D3E3A-EE09-29BF-4718-1ECBB98AF5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342713-291E-9200-59A5-F1A8A1A8A7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C87263-7904-1D80-B585-E94F8B703E6D}"/>
              </a:ext>
            </a:extLst>
          </p:cNvPr>
          <p:cNvSpPr>
            <a:spLocks noGrp="1"/>
          </p:cNvSpPr>
          <p:nvPr>
            <p:ph type="body" idx="1"/>
          </p:nvPr>
        </p:nvSpPr>
        <p:spPr/>
        <p:txBody>
          <a:bodyPr/>
          <a:lstStyle/>
          <a:p>
            <a:pPr>
              <a:buNone/>
            </a:pPr>
            <a:r>
              <a:rPr lang="en-US" dirty="0"/>
              <a:t>"Before proposing our new approach, let's briefly talk about traditional methods used to secure embedded systems.</a:t>
            </a:r>
            <a:br>
              <a:rPr lang="en-US" dirty="0"/>
            </a:br>
            <a:r>
              <a:rPr lang="en-US" dirty="0"/>
              <a:t>Common methods include software-based encryption libraries, secure bootloaders, and external hardware security modules (HSMs).</a:t>
            </a:r>
          </a:p>
          <a:p>
            <a:pPr>
              <a:buNone/>
            </a:pPr>
            <a:r>
              <a:rPr lang="en-US" dirty="0"/>
              <a:t>However, these methods have problems in embedded environments:</a:t>
            </a:r>
          </a:p>
          <a:p>
            <a:pPr>
              <a:buFont typeface="Arial" panose="020B0604020202020204" pitchFamily="34" charset="0"/>
              <a:buChar char="•"/>
            </a:pPr>
            <a:r>
              <a:rPr lang="en-US" b="1" dirty="0"/>
              <a:t>Software encryption</a:t>
            </a:r>
            <a:r>
              <a:rPr lang="en-US" dirty="0"/>
              <a:t> can be bypassed by physical attacks or fault injection.</a:t>
            </a:r>
          </a:p>
          <a:p>
            <a:pPr>
              <a:buFont typeface="Arial" panose="020B0604020202020204" pitchFamily="34" charset="0"/>
              <a:buChar char="•"/>
            </a:pPr>
            <a:r>
              <a:rPr lang="en-US" b="1" dirty="0"/>
              <a:t>External security chips</a:t>
            </a:r>
            <a:r>
              <a:rPr lang="en-US" dirty="0"/>
              <a:t> add cost, complexity, and require more board space — which embedded devices often can't afford.</a:t>
            </a:r>
          </a:p>
          <a:p>
            <a:r>
              <a:rPr lang="en-US" dirty="0"/>
              <a:t>Therefore, there is a clear need for a security solution that's lightweight, processor-integrated, and cost-effective.</a:t>
            </a:r>
          </a:p>
          <a:p>
            <a:endParaRPr lang="en-US" dirty="0"/>
          </a:p>
        </p:txBody>
      </p:sp>
      <p:sp>
        <p:nvSpPr>
          <p:cNvPr id="4" name="Slide Number Placeholder 3">
            <a:extLst>
              <a:ext uri="{FF2B5EF4-FFF2-40B4-BE49-F238E27FC236}">
                <a16:creationId xmlns:a16="http://schemas.microsoft.com/office/drawing/2014/main" id="{7D668090-CCF1-7B90-ADB2-B37FB70350F6}"/>
              </a:ext>
            </a:extLst>
          </p:cNvPr>
          <p:cNvSpPr>
            <a:spLocks noGrp="1"/>
          </p:cNvSpPr>
          <p:nvPr>
            <p:ph type="sldNum" sz="quarter" idx="5"/>
          </p:nvPr>
        </p:nvSpPr>
        <p:spPr/>
        <p:txBody>
          <a:bodyPr/>
          <a:lstStyle/>
          <a:p>
            <a:fld id="{A89C7E07-3C67-C64C-8DA0-0404F6303970}" type="slidenum">
              <a:rPr lang="en-US" smtClean="0"/>
              <a:t>5</a:t>
            </a:fld>
            <a:endParaRPr lang="en-US" dirty="0"/>
          </a:p>
        </p:txBody>
      </p:sp>
    </p:spTree>
    <p:extLst>
      <p:ext uri="{BB962C8B-B14F-4D97-AF65-F5344CB8AC3E}">
        <p14:creationId xmlns:p14="http://schemas.microsoft.com/office/powerpoint/2010/main" val="37410461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075A2-0C9E-9102-C300-B88661F94A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BB875C-19EC-9684-192A-EF72484D0D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7878E3-2CC4-4EDF-85A9-B6988D924C77}"/>
              </a:ext>
            </a:extLst>
          </p:cNvPr>
          <p:cNvSpPr>
            <a:spLocks noGrp="1"/>
          </p:cNvSpPr>
          <p:nvPr>
            <p:ph type="body" idx="1"/>
          </p:nvPr>
        </p:nvSpPr>
        <p:spPr/>
        <p:txBody>
          <a:bodyPr/>
          <a:lstStyle/>
          <a:p>
            <a:pPr>
              <a:buNone/>
            </a:pPr>
            <a:r>
              <a:rPr lang="en-US" dirty="0"/>
              <a:t>"In this work, we embed security mechanisms directly into the processor’s architecture.</a:t>
            </a:r>
          </a:p>
          <a:p>
            <a:pPr>
              <a:buNone/>
            </a:pPr>
            <a:r>
              <a:rPr lang="en-US" dirty="0"/>
              <a:t>We introduce a </a:t>
            </a:r>
            <a:r>
              <a:rPr lang="en-US" b="1" dirty="0"/>
              <a:t>custom security instruction</a:t>
            </a:r>
            <a:r>
              <a:rPr lang="en-US" dirty="0"/>
              <a:t> into the instruction set. This instruction is responsible for controlling whether program execution and debugging are allowed, based on cryptographic validation.</a:t>
            </a:r>
          </a:p>
          <a:p>
            <a:pPr>
              <a:buNone/>
            </a:pPr>
            <a:r>
              <a:rPr lang="en-US" dirty="0"/>
              <a:t>The validation relies on </a:t>
            </a:r>
            <a:r>
              <a:rPr lang="en-US" b="1" dirty="0"/>
              <a:t>cryptographic keys securely stored in flash memory</a:t>
            </a:r>
            <a:r>
              <a:rPr lang="en-US" dirty="0"/>
              <a:t>. When the processor starts or when certain sensitive operations occur, it verifies these keys in real-time.</a:t>
            </a:r>
          </a:p>
          <a:p>
            <a:pPr>
              <a:buNone/>
            </a:pPr>
            <a:r>
              <a:rPr lang="en-US" dirty="0"/>
              <a:t>If the key verification is successful, normal program execution continues and secure debugging is enabled. Otherwise, access is denied at the hardware level.</a:t>
            </a:r>
          </a:p>
          <a:p>
            <a:pPr>
              <a:buNone/>
            </a:pPr>
            <a:r>
              <a:rPr lang="en-US" dirty="0"/>
              <a:t>This method removes reliance on external hardware security modules or software-only encryption solutions.</a:t>
            </a:r>
          </a:p>
          <a:p>
            <a:r>
              <a:rPr lang="en-US" dirty="0"/>
              <a:t>By tightly binding security into the processor itself, we achieve </a:t>
            </a:r>
            <a:r>
              <a:rPr lang="en-US" b="1" dirty="0"/>
              <a:t>hardware-enforced execution control</a:t>
            </a:r>
            <a:r>
              <a:rPr lang="en-US" dirty="0"/>
              <a:t> with minimal performance and resource overhead — ideal for embedded systems."</a:t>
            </a:r>
          </a:p>
          <a:p>
            <a:endParaRPr lang="en-US" dirty="0"/>
          </a:p>
        </p:txBody>
      </p:sp>
      <p:sp>
        <p:nvSpPr>
          <p:cNvPr id="4" name="Slide Number Placeholder 3">
            <a:extLst>
              <a:ext uri="{FF2B5EF4-FFF2-40B4-BE49-F238E27FC236}">
                <a16:creationId xmlns:a16="http://schemas.microsoft.com/office/drawing/2014/main" id="{4B898899-8BCA-C226-AED1-C70961E71BC0}"/>
              </a:ext>
            </a:extLst>
          </p:cNvPr>
          <p:cNvSpPr>
            <a:spLocks noGrp="1"/>
          </p:cNvSpPr>
          <p:nvPr>
            <p:ph type="sldNum" sz="quarter" idx="5"/>
          </p:nvPr>
        </p:nvSpPr>
        <p:spPr/>
        <p:txBody>
          <a:bodyPr/>
          <a:lstStyle/>
          <a:p>
            <a:fld id="{A89C7E07-3C67-C64C-8DA0-0404F6303970}" type="slidenum">
              <a:rPr lang="en-US" smtClean="0"/>
              <a:t>6</a:t>
            </a:fld>
            <a:endParaRPr lang="en-US" dirty="0"/>
          </a:p>
        </p:txBody>
      </p:sp>
    </p:spTree>
    <p:extLst>
      <p:ext uri="{BB962C8B-B14F-4D97-AF65-F5344CB8AC3E}">
        <p14:creationId xmlns:p14="http://schemas.microsoft.com/office/powerpoint/2010/main" val="1301815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9D9A8-F66C-DF71-C27B-113B777D94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05E623-E5E5-30D2-A004-10280DD30C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3E76AB-2BB2-AC05-4C03-9049BA4A60BC}"/>
              </a:ext>
            </a:extLst>
          </p:cNvPr>
          <p:cNvSpPr>
            <a:spLocks noGrp="1"/>
          </p:cNvSpPr>
          <p:nvPr>
            <p:ph type="body" idx="1"/>
          </p:nvPr>
        </p:nvSpPr>
        <p:spPr/>
        <p:txBody>
          <a:bodyPr/>
          <a:lstStyle/>
          <a:p>
            <a:pPr>
              <a:buNone/>
            </a:pPr>
            <a:r>
              <a:rPr lang="en-US" dirty="0"/>
              <a:t>"In this work, we embed security mechanisms directly into the processor’s architecture.</a:t>
            </a:r>
          </a:p>
          <a:p>
            <a:pPr>
              <a:buNone/>
            </a:pPr>
            <a:r>
              <a:rPr lang="en-US" dirty="0"/>
              <a:t>We introduce a </a:t>
            </a:r>
            <a:r>
              <a:rPr lang="en-US" b="1" dirty="0"/>
              <a:t>custom security instruction</a:t>
            </a:r>
            <a:r>
              <a:rPr lang="en-US" dirty="0"/>
              <a:t> into the instruction set. This instruction is responsible for controlling whether program execution and debugging are allowed, based on cryptographic validation.</a:t>
            </a:r>
          </a:p>
          <a:p>
            <a:pPr>
              <a:buNone/>
            </a:pPr>
            <a:r>
              <a:rPr lang="en-US" dirty="0"/>
              <a:t>The validation relies on </a:t>
            </a:r>
            <a:r>
              <a:rPr lang="en-US" b="1" dirty="0"/>
              <a:t>cryptographic keys securely stored in flash memory</a:t>
            </a:r>
            <a:r>
              <a:rPr lang="en-US" dirty="0"/>
              <a:t>. When the processor starts or when certain sensitive operations occur, it verifies these keys in real-time.</a:t>
            </a:r>
          </a:p>
          <a:p>
            <a:pPr>
              <a:buNone/>
            </a:pPr>
            <a:r>
              <a:rPr lang="en-US" dirty="0"/>
              <a:t>If the key verification is successful, normal program execution continues and secure debugging is enabled. Otherwise, access is denied at the hardware level.</a:t>
            </a:r>
          </a:p>
          <a:p>
            <a:pPr>
              <a:buNone/>
            </a:pPr>
            <a:r>
              <a:rPr lang="en-US" dirty="0"/>
              <a:t>This method removes reliance on external hardware security modules or software-only encryption solutions.</a:t>
            </a:r>
          </a:p>
          <a:p>
            <a:r>
              <a:rPr lang="en-US" dirty="0"/>
              <a:t>By tightly binding security into the processor itself, we achieve </a:t>
            </a:r>
            <a:r>
              <a:rPr lang="en-US" b="1" dirty="0"/>
              <a:t>hardware-enforced execution control</a:t>
            </a:r>
            <a:r>
              <a:rPr lang="en-US" dirty="0"/>
              <a:t> with minimal performance and resource overhead — ideal for embedded systems."</a:t>
            </a:r>
          </a:p>
          <a:p>
            <a:endParaRPr lang="en-US" dirty="0"/>
          </a:p>
        </p:txBody>
      </p:sp>
      <p:sp>
        <p:nvSpPr>
          <p:cNvPr id="4" name="Slide Number Placeholder 3">
            <a:extLst>
              <a:ext uri="{FF2B5EF4-FFF2-40B4-BE49-F238E27FC236}">
                <a16:creationId xmlns:a16="http://schemas.microsoft.com/office/drawing/2014/main" id="{EE2B854D-AA5E-B517-1B3E-F5D1E9E6686F}"/>
              </a:ext>
            </a:extLst>
          </p:cNvPr>
          <p:cNvSpPr>
            <a:spLocks noGrp="1"/>
          </p:cNvSpPr>
          <p:nvPr>
            <p:ph type="sldNum" sz="quarter" idx="5"/>
          </p:nvPr>
        </p:nvSpPr>
        <p:spPr/>
        <p:txBody>
          <a:bodyPr/>
          <a:lstStyle/>
          <a:p>
            <a:fld id="{A89C7E07-3C67-C64C-8DA0-0404F6303970}" type="slidenum">
              <a:rPr lang="en-US" smtClean="0"/>
              <a:t>7</a:t>
            </a:fld>
            <a:endParaRPr lang="en-US" dirty="0"/>
          </a:p>
        </p:txBody>
      </p:sp>
    </p:spTree>
    <p:extLst>
      <p:ext uri="{BB962C8B-B14F-4D97-AF65-F5344CB8AC3E}">
        <p14:creationId xmlns:p14="http://schemas.microsoft.com/office/powerpoint/2010/main" val="3825313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Another advantage is RISC-V’s </a:t>
            </a:r>
            <a:r>
              <a:rPr lang="en-US" b="1" dirty="0"/>
              <a:t>modular design</a:t>
            </a:r>
            <a:r>
              <a:rPr lang="en-US" dirty="0"/>
              <a:t>. It has a small, clean base instruction set, with optional extensions.</a:t>
            </a:r>
          </a:p>
          <a:p>
            <a:pPr>
              <a:buNone/>
            </a:pPr>
            <a:r>
              <a:rPr lang="en-US" dirty="0"/>
              <a:t>This modularity makes it very easy to integrate </a:t>
            </a:r>
            <a:r>
              <a:rPr lang="en-US" b="1" dirty="0"/>
              <a:t>custom instructions</a:t>
            </a:r>
            <a:r>
              <a:rPr lang="en-US" dirty="0"/>
              <a:t> — like our security instruction — without violating the ISA standards or breaking compatibility with existing tools and compilers.</a:t>
            </a:r>
          </a:p>
          <a:p>
            <a:r>
              <a:rPr lang="en-US" dirty="0"/>
              <a:t>As a result, RISC-V offers both technical flexibility and strong community support, which greatly benefits our work."</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8</a:t>
            </a:fld>
            <a:endParaRPr lang="en-US" dirty="0"/>
          </a:p>
        </p:txBody>
      </p:sp>
    </p:spTree>
    <p:extLst>
      <p:ext uri="{BB962C8B-B14F-4D97-AF65-F5344CB8AC3E}">
        <p14:creationId xmlns:p14="http://schemas.microsoft.com/office/powerpoint/2010/main" val="17686726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"In this paper, the authors focus on improving security at the very first stage of system operation — the boot process.</a:t>
            </a:r>
            <a:br>
              <a:rPr lang="en-US" dirty="0"/>
            </a:br>
            <a:r>
              <a:rPr lang="en-US" dirty="0"/>
              <a:t>They propose enhancing the </a:t>
            </a:r>
            <a:r>
              <a:rPr lang="en-US" dirty="0" err="1"/>
              <a:t>BootROM</a:t>
            </a:r>
            <a:r>
              <a:rPr lang="en-US" dirty="0"/>
              <a:t> to verify the </a:t>
            </a:r>
            <a:r>
              <a:rPr lang="en-US" b="1" dirty="0"/>
              <a:t>authenticity</a:t>
            </a:r>
            <a:r>
              <a:rPr lang="en-US" dirty="0"/>
              <a:t> of the system image before allowing the processor to load and run the operating system.</a:t>
            </a:r>
            <a:br>
              <a:rPr lang="en-US" dirty="0"/>
            </a:br>
            <a:r>
              <a:rPr lang="en-US" dirty="0"/>
              <a:t>This ensures that only </a:t>
            </a:r>
            <a:r>
              <a:rPr lang="en-US" b="1" dirty="0"/>
              <a:t>trusted</a:t>
            </a:r>
            <a:r>
              <a:rPr lang="en-US" dirty="0"/>
              <a:t> </a:t>
            </a:r>
            <a:r>
              <a:rPr lang="en-US" b="1" dirty="0"/>
              <a:t>firmware</a:t>
            </a:r>
            <a:r>
              <a:rPr lang="en-US" dirty="0"/>
              <a:t> is loaded, significantly strengthening the system's defense against early-stage attacks.</a:t>
            </a:r>
          </a:p>
          <a:p>
            <a:pPr>
              <a:buNone/>
            </a:pPr>
            <a:r>
              <a:rPr lang="en-US" dirty="0"/>
              <a:t>While this solution is effective for image-level authentication, it does have some limitations.</a:t>
            </a:r>
            <a:br>
              <a:rPr lang="en-US" dirty="0"/>
            </a:br>
            <a:r>
              <a:rPr lang="en-US" dirty="0"/>
              <a:t>The focus remains mostly at the boot image level — it does not control what happens at the instruction level after boot, nor does it manage debug port security.</a:t>
            </a:r>
            <a:br>
              <a:rPr lang="en-US" dirty="0"/>
            </a:br>
            <a:r>
              <a:rPr lang="en-US" dirty="0"/>
              <a:t>This leaves a gap where malicious commands could potentially still be injected after boot, or unauthorized debugging could occur.</a:t>
            </a:r>
          </a:p>
          <a:p>
            <a:r>
              <a:rPr lang="en-US" dirty="0"/>
              <a:t>Building on this idea, our contribution addresses these gaps.</a:t>
            </a:r>
            <a:br>
              <a:rPr lang="en-US" dirty="0"/>
            </a:br>
            <a:r>
              <a:rPr lang="en-US" dirty="0"/>
              <a:t>We propose adding a custom instruction in the </a:t>
            </a:r>
            <a:r>
              <a:rPr lang="en-US" dirty="0" err="1"/>
              <a:t>BootROM</a:t>
            </a:r>
            <a:r>
              <a:rPr lang="en-US" dirty="0"/>
              <a:t> itself, tied to a secure key stored in flash memory.</a:t>
            </a:r>
            <a:br>
              <a:rPr lang="en-US" dirty="0"/>
            </a:br>
            <a:r>
              <a:rPr lang="en-US" dirty="0"/>
              <a:t>Only after successful key matching will the processor allow command execution and enable debug access.</a:t>
            </a:r>
            <a:br>
              <a:rPr lang="en-US" dirty="0"/>
            </a:br>
            <a:r>
              <a:rPr lang="en-US" dirty="0"/>
              <a:t>This approach secures not just the boot process but also the processor’s runtime operations and hardware interfaces, offering a more complete defense</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10</a:t>
            </a:fld>
            <a:endParaRPr lang="en-US" dirty="0"/>
          </a:p>
        </p:txBody>
      </p:sp>
    </p:spTree>
    <p:extLst>
      <p:ext uri="{BB962C8B-B14F-4D97-AF65-F5344CB8AC3E}">
        <p14:creationId xmlns:p14="http://schemas.microsoft.com/office/powerpoint/2010/main" val="2463604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19</a:t>
            </a:fld>
            <a:endParaRPr lang="en-US"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7CCF0-CA8E-263A-E32E-9351A3B66F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7A753D9-303A-CB00-7956-3C1880C0AE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5CF57E-8E77-A676-66E8-A65F60DC1329}"/>
              </a:ext>
            </a:extLst>
          </p:cNvPr>
          <p:cNvSpPr>
            <a:spLocks noGrp="1"/>
          </p:cNvSpPr>
          <p:nvPr>
            <p:ph type="dt" sz="half" idx="10"/>
          </p:nvPr>
        </p:nvSpPr>
        <p:spPr/>
        <p:txBody>
          <a:bodyPr/>
          <a:lstStyle/>
          <a:p>
            <a:fld id="{36922B8D-3499-4803-9C15-D1107C8D5AA9}" type="datetimeFigureOut">
              <a:rPr lang="en-US" smtClean="0"/>
              <a:t>4/25/2025</a:t>
            </a:fld>
            <a:endParaRPr lang="en-US"/>
          </a:p>
        </p:txBody>
      </p:sp>
      <p:sp>
        <p:nvSpPr>
          <p:cNvPr id="5" name="Footer Placeholder 4">
            <a:extLst>
              <a:ext uri="{FF2B5EF4-FFF2-40B4-BE49-F238E27FC236}">
                <a16:creationId xmlns:a16="http://schemas.microsoft.com/office/drawing/2014/main" id="{66B8D29E-A11C-7C85-F8B3-716B547B6E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949781-BCA0-7EA9-2353-436F7BAE2EA2}"/>
              </a:ext>
            </a:extLst>
          </p:cNvPr>
          <p:cNvSpPr>
            <a:spLocks noGrp="1"/>
          </p:cNvSpPr>
          <p:nvPr>
            <p:ph type="sldNum" sz="quarter" idx="12"/>
          </p:nvPr>
        </p:nvSpPr>
        <p:spPr/>
        <p:txBody>
          <a:bodyPr/>
          <a:lstStyle/>
          <a:p>
            <a:fld id="{7771A7F8-BF8E-432C-83D1-2FC7AC8B3ABA}" type="slidenum">
              <a:rPr lang="en-US" smtClean="0"/>
              <a:t>‹#›</a:t>
            </a:fld>
            <a:endParaRPr lang="en-US"/>
          </a:p>
        </p:txBody>
      </p:sp>
    </p:spTree>
    <p:extLst>
      <p:ext uri="{BB962C8B-B14F-4D97-AF65-F5344CB8AC3E}">
        <p14:creationId xmlns:p14="http://schemas.microsoft.com/office/powerpoint/2010/main" val="29585233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65E5B-A78A-F055-881C-1328FC5088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A35E64-2FD5-394D-8858-904F02A9DE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20E40E-542C-1D71-A4CB-29E49590CEFA}"/>
              </a:ext>
            </a:extLst>
          </p:cNvPr>
          <p:cNvSpPr>
            <a:spLocks noGrp="1"/>
          </p:cNvSpPr>
          <p:nvPr>
            <p:ph type="dt" sz="half" idx="10"/>
          </p:nvPr>
        </p:nvSpPr>
        <p:spPr/>
        <p:txBody>
          <a:bodyPr/>
          <a:lstStyle/>
          <a:p>
            <a:fld id="{36922B8D-3499-4803-9C15-D1107C8D5AA9}" type="datetimeFigureOut">
              <a:rPr lang="en-US" smtClean="0"/>
              <a:t>4/25/2025</a:t>
            </a:fld>
            <a:endParaRPr lang="en-US"/>
          </a:p>
        </p:txBody>
      </p:sp>
      <p:sp>
        <p:nvSpPr>
          <p:cNvPr id="5" name="Footer Placeholder 4">
            <a:extLst>
              <a:ext uri="{FF2B5EF4-FFF2-40B4-BE49-F238E27FC236}">
                <a16:creationId xmlns:a16="http://schemas.microsoft.com/office/drawing/2014/main" id="{2B87DB73-B215-6708-9555-CD55FC65A3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60DBC3-9BCF-FFD3-8EA8-2542A0E45D6E}"/>
              </a:ext>
            </a:extLst>
          </p:cNvPr>
          <p:cNvSpPr>
            <a:spLocks noGrp="1"/>
          </p:cNvSpPr>
          <p:nvPr>
            <p:ph type="sldNum" sz="quarter" idx="12"/>
          </p:nvPr>
        </p:nvSpPr>
        <p:spPr/>
        <p:txBody>
          <a:bodyPr/>
          <a:lstStyle/>
          <a:p>
            <a:fld id="{7771A7F8-BF8E-432C-83D1-2FC7AC8B3ABA}" type="slidenum">
              <a:rPr lang="en-US" smtClean="0"/>
              <a:t>‹#›</a:t>
            </a:fld>
            <a:endParaRPr lang="en-US"/>
          </a:p>
        </p:txBody>
      </p:sp>
    </p:spTree>
    <p:extLst>
      <p:ext uri="{BB962C8B-B14F-4D97-AF65-F5344CB8AC3E}">
        <p14:creationId xmlns:p14="http://schemas.microsoft.com/office/powerpoint/2010/main" val="21737119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8442E-B83C-E13B-1683-67F510B3EC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A2B5548-B119-C493-8480-AA8041C33FB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B3ECF6-AC47-E09F-CC54-516E0A235D8B}"/>
              </a:ext>
            </a:extLst>
          </p:cNvPr>
          <p:cNvSpPr>
            <a:spLocks noGrp="1"/>
          </p:cNvSpPr>
          <p:nvPr>
            <p:ph type="dt" sz="half" idx="10"/>
          </p:nvPr>
        </p:nvSpPr>
        <p:spPr/>
        <p:txBody>
          <a:bodyPr/>
          <a:lstStyle/>
          <a:p>
            <a:fld id="{36922B8D-3499-4803-9C15-D1107C8D5AA9}" type="datetimeFigureOut">
              <a:rPr lang="en-US" smtClean="0"/>
              <a:t>4/25/2025</a:t>
            </a:fld>
            <a:endParaRPr lang="en-US"/>
          </a:p>
        </p:txBody>
      </p:sp>
      <p:sp>
        <p:nvSpPr>
          <p:cNvPr id="5" name="Footer Placeholder 4">
            <a:extLst>
              <a:ext uri="{FF2B5EF4-FFF2-40B4-BE49-F238E27FC236}">
                <a16:creationId xmlns:a16="http://schemas.microsoft.com/office/drawing/2014/main" id="{5960D711-E15C-2D96-60B2-9404EA603E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29902D-C8FB-8772-ABEC-00A538EC8C53}"/>
              </a:ext>
            </a:extLst>
          </p:cNvPr>
          <p:cNvSpPr>
            <a:spLocks noGrp="1"/>
          </p:cNvSpPr>
          <p:nvPr>
            <p:ph type="sldNum" sz="quarter" idx="12"/>
          </p:nvPr>
        </p:nvSpPr>
        <p:spPr/>
        <p:txBody>
          <a:bodyPr/>
          <a:lstStyle/>
          <a:p>
            <a:fld id="{7771A7F8-BF8E-432C-83D1-2FC7AC8B3ABA}" type="slidenum">
              <a:rPr lang="en-US" smtClean="0"/>
              <a:t>‹#›</a:t>
            </a:fld>
            <a:endParaRPr lang="en-US"/>
          </a:p>
        </p:txBody>
      </p:sp>
    </p:spTree>
    <p:extLst>
      <p:ext uri="{BB962C8B-B14F-4D97-AF65-F5344CB8AC3E}">
        <p14:creationId xmlns:p14="http://schemas.microsoft.com/office/powerpoint/2010/main" val="27137909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75572-DC41-0B72-67FA-DE1813AC9B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3C3996E-7797-FA13-0D4F-F7C951821A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6046748-34C5-4481-ABBB-4E730B97D8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1763F6C-918F-42AB-D751-AC792159B30F}"/>
              </a:ext>
            </a:extLst>
          </p:cNvPr>
          <p:cNvSpPr>
            <a:spLocks noGrp="1"/>
          </p:cNvSpPr>
          <p:nvPr>
            <p:ph type="dt" sz="half" idx="10"/>
          </p:nvPr>
        </p:nvSpPr>
        <p:spPr/>
        <p:txBody>
          <a:bodyPr/>
          <a:lstStyle/>
          <a:p>
            <a:fld id="{36922B8D-3499-4803-9C15-D1107C8D5AA9}" type="datetimeFigureOut">
              <a:rPr lang="en-US" smtClean="0"/>
              <a:t>4/25/2025</a:t>
            </a:fld>
            <a:endParaRPr lang="en-US"/>
          </a:p>
        </p:txBody>
      </p:sp>
      <p:sp>
        <p:nvSpPr>
          <p:cNvPr id="6" name="Footer Placeholder 5">
            <a:extLst>
              <a:ext uri="{FF2B5EF4-FFF2-40B4-BE49-F238E27FC236}">
                <a16:creationId xmlns:a16="http://schemas.microsoft.com/office/drawing/2014/main" id="{6B2E1E35-F52F-2C37-60E5-0507BA702D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912928-1E27-EC12-F2CA-B53AE41313C7}"/>
              </a:ext>
            </a:extLst>
          </p:cNvPr>
          <p:cNvSpPr>
            <a:spLocks noGrp="1"/>
          </p:cNvSpPr>
          <p:nvPr>
            <p:ph type="sldNum" sz="quarter" idx="12"/>
          </p:nvPr>
        </p:nvSpPr>
        <p:spPr/>
        <p:txBody>
          <a:bodyPr/>
          <a:lstStyle/>
          <a:p>
            <a:fld id="{7771A7F8-BF8E-432C-83D1-2FC7AC8B3ABA}" type="slidenum">
              <a:rPr lang="en-US" smtClean="0"/>
              <a:t>‹#›</a:t>
            </a:fld>
            <a:endParaRPr lang="en-US"/>
          </a:p>
        </p:txBody>
      </p:sp>
    </p:spTree>
    <p:extLst>
      <p:ext uri="{BB962C8B-B14F-4D97-AF65-F5344CB8AC3E}">
        <p14:creationId xmlns:p14="http://schemas.microsoft.com/office/powerpoint/2010/main" val="13849525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3FA51-FC79-7C59-3CC2-D42A441406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71A50EF-142E-57CD-64C6-0BE50C6047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A98E711-AC01-316D-6F7D-F57A628737D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40170D-D0B1-F42A-C461-B7D2305653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94053A-20FB-5F8C-AB3D-577C08E46C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D851030-CC4B-E1D1-DCAD-855CF15F442F}"/>
              </a:ext>
            </a:extLst>
          </p:cNvPr>
          <p:cNvSpPr>
            <a:spLocks noGrp="1"/>
          </p:cNvSpPr>
          <p:nvPr>
            <p:ph type="dt" sz="half" idx="10"/>
          </p:nvPr>
        </p:nvSpPr>
        <p:spPr/>
        <p:txBody>
          <a:bodyPr/>
          <a:lstStyle/>
          <a:p>
            <a:fld id="{36922B8D-3499-4803-9C15-D1107C8D5AA9}" type="datetimeFigureOut">
              <a:rPr lang="en-US" smtClean="0"/>
              <a:t>4/25/2025</a:t>
            </a:fld>
            <a:endParaRPr lang="en-US"/>
          </a:p>
        </p:txBody>
      </p:sp>
      <p:sp>
        <p:nvSpPr>
          <p:cNvPr id="8" name="Footer Placeholder 7">
            <a:extLst>
              <a:ext uri="{FF2B5EF4-FFF2-40B4-BE49-F238E27FC236}">
                <a16:creationId xmlns:a16="http://schemas.microsoft.com/office/drawing/2014/main" id="{C683EFD0-6ED8-348E-BC15-AA465A6C2B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67F1D49-2DA9-A450-0233-B859DDF7D739}"/>
              </a:ext>
            </a:extLst>
          </p:cNvPr>
          <p:cNvSpPr>
            <a:spLocks noGrp="1"/>
          </p:cNvSpPr>
          <p:nvPr>
            <p:ph type="sldNum" sz="quarter" idx="12"/>
          </p:nvPr>
        </p:nvSpPr>
        <p:spPr/>
        <p:txBody>
          <a:bodyPr/>
          <a:lstStyle/>
          <a:p>
            <a:fld id="{7771A7F8-BF8E-432C-83D1-2FC7AC8B3ABA}" type="slidenum">
              <a:rPr lang="en-US" smtClean="0"/>
              <a:t>‹#›</a:t>
            </a:fld>
            <a:endParaRPr lang="en-US"/>
          </a:p>
        </p:txBody>
      </p:sp>
    </p:spTree>
    <p:extLst>
      <p:ext uri="{BB962C8B-B14F-4D97-AF65-F5344CB8AC3E}">
        <p14:creationId xmlns:p14="http://schemas.microsoft.com/office/powerpoint/2010/main" val="2563748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9632F-1307-15D2-61BB-D05A89B51E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421D317-D569-1F37-FC43-020DBCBFBE73}"/>
              </a:ext>
            </a:extLst>
          </p:cNvPr>
          <p:cNvSpPr>
            <a:spLocks noGrp="1"/>
          </p:cNvSpPr>
          <p:nvPr>
            <p:ph type="dt" sz="half" idx="10"/>
          </p:nvPr>
        </p:nvSpPr>
        <p:spPr/>
        <p:txBody>
          <a:bodyPr/>
          <a:lstStyle/>
          <a:p>
            <a:fld id="{36922B8D-3499-4803-9C15-D1107C8D5AA9}" type="datetimeFigureOut">
              <a:rPr lang="en-US" smtClean="0"/>
              <a:t>4/25/2025</a:t>
            </a:fld>
            <a:endParaRPr lang="en-US"/>
          </a:p>
        </p:txBody>
      </p:sp>
      <p:sp>
        <p:nvSpPr>
          <p:cNvPr id="4" name="Footer Placeholder 3">
            <a:extLst>
              <a:ext uri="{FF2B5EF4-FFF2-40B4-BE49-F238E27FC236}">
                <a16:creationId xmlns:a16="http://schemas.microsoft.com/office/drawing/2014/main" id="{E5CAC7AF-D189-D99C-7817-55A01175A1C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F802DBE-477C-0565-2947-A62ADC1BA5A6}"/>
              </a:ext>
            </a:extLst>
          </p:cNvPr>
          <p:cNvSpPr>
            <a:spLocks noGrp="1"/>
          </p:cNvSpPr>
          <p:nvPr>
            <p:ph type="sldNum" sz="quarter" idx="12"/>
          </p:nvPr>
        </p:nvSpPr>
        <p:spPr/>
        <p:txBody>
          <a:bodyPr/>
          <a:lstStyle/>
          <a:p>
            <a:fld id="{7771A7F8-BF8E-432C-83D1-2FC7AC8B3ABA}" type="slidenum">
              <a:rPr lang="en-US" smtClean="0"/>
              <a:t>‹#›</a:t>
            </a:fld>
            <a:endParaRPr lang="en-US"/>
          </a:p>
        </p:txBody>
      </p:sp>
    </p:spTree>
    <p:extLst>
      <p:ext uri="{BB962C8B-B14F-4D97-AF65-F5344CB8AC3E}">
        <p14:creationId xmlns:p14="http://schemas.microsoft.com/office/powerpoint/2010/main" val="4746605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3D3245-F15E-2699-BC50-293191A4173A}"/>
              </a:ext>
            </a:extLst>
          </p:cNvPr>
          <p:cNvSpPr>
            <a:spLocks noGrp="1"/>
          </p:cNvSpPr>
          <p:nvPr>
            <p:ph type="dt" sz="half" idx="10"/>
          </p:nvPr>
        </p:nvSpPr>
        <p:spPr/>
        <p:txBody>
          <a:bodyPr/>
          <a:lstStyle/>
          <a:p>
            <a:fld id="{36922B8D-3499-4803-9C15-D1107C8D5AA9}" type="datetimeFigureOut">
              <a:rPr lang="en-US" smtClean="0"/>
              <a:t>4/25/2025</a:t>
            </a:fld>
            <a:endParaRPr lang="en-US"/>
          </a:p>
        </p:txBody>
      </p:sp>
      <p:sp>
        <p:nvSpPr>
          <p:cNvPr id="3" name="Footer Placeholder 2">
            <a:extLst>
              <a:ext uri="{FF2B5EF4-FFF2-40B4-BE49-F238E27FC236}">
                <a16:creationId xmlns:a16="http://schemas.microsoft.com/office/drawing/2014/main" id="{A3CCF796-1781-8BFF-33F6-AB0828A100F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8D5475-19F3-5A57-E0CF-892BB8337A30}"/>
              </a:ext>
            </a:extLst>
          </p:cNvPr>
          <p:cNvSpPr>
            <a:spLocks noGrp="1"/>
          </p:cNvSpPr>
          <p:nvPr>
            <p:ph type="sldNum" sz="quarter" idx="12"/>
          </p:nvPr>
        </p:nvSpPr>
        <p:spPr/>
        <p:txBody>
          <a:bodyPr/>
          <a:lstStyle/>
          <a:p>
            <a:fld id="{7771A7F8-BF8E-432C-83D1-2FC7AC8B3ABA}" type="slidenum">
              <a:rPr lang="en-US" smtClean="0"/>
              <a:t>‹#›</a:t>
            </a:fld>
            <a:endParaRPr lang="en-US"/>
          </a:p>
        </p:txBody>
      </p:sp>
    </p:spTree>
    <p:extLst>
      <p:ext uri="{BB962C8B-B14F-4D97-AF65-F5344CB8AC3E}">
        <p14:creationId xmlns:p14="http://schemas.microsoft.com/office/powerpoint/2010/main" val="30092031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9204E-0B22-2BB2-517E-AEA73B459E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5BAB9D0-0F79-B4C6-086D-E5E799D217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8DC8D38-82E0-9A6A-2AFB-F57C10E04F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718B54-503E-03D8-B60E-2DF6C4CE8F7C}"/>
              </a:ext>
            </a:extLst>
          </p:cNvPr>
          <p:cNvSpPr>
            <a:spLocks noGrp="1"/>
          </p:cNvSpPr>
          <p:nvPr>
            <p:ph type="dt" sz="half" idx="10"/>
          </p:nvPr>
        </p:nvSpPr>
        <p:spPr/>
        <p:txBody>
          <a:bodyPr/>
          <a:lstStyle/>
          <a:p>
            <a:fld id="{36922B8D-3499-4803-9C15-D1107C8D5AA9}" type="datetimeFigureOut">
              <a:rPr lang="en-US" smtClean="0"/>
              <a:t>4/25/2025</a:t>
            </a:fld>
            <a:endParaRPr lang="en-US"/>
          </a:p>
        </p:txBody>
      </p:sp>
      <p:sp>
        <p:nvSpPr>
          <p:cNvPr id="6" name="Footer Placeholder 5">
            <a:extLst>
              <a:ext uri="{FF2B5EF4-FFF2-40B4-BE49-F238E27FC236}">
                <a16:creationId xmlns:a16="http://schemas.microsoft.com/office/drawing/2014/main" id="{B6F007A7-DDF8-2B24-1D8E-3255E2FFF4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5FF70E-66B0-5535-19D5-B91ABA65FCB3}"/>
              </a:ext>
            </a:extLst>
          </p:cNvPr>
          <p:cNvSpPr>
            <a:spLocks noGrp="1"/>
          </p:cNvSpPr>
          <p:nvPr>
            <p:ph type="sldNum" sz="quarter" idx="12"/>
          </p:nvPr>
        </p:nvSpPr>
        <p:spPr/>
        <p:txBody>
          <a:bodyPr/>
          <a:lstStyle/>
          <a:p>
            <a:fld id="{7771A7F8-BF8E-432C-83D1-2FC7AC8B3ABA}" type="slidenum">
              <a:rPr lang="en-US" smtClean="0"/>
              <a:t>‹#›</a:t>
            </a:fld>
            <a:endParaRPr lang="en-US"/>
          </a:p>
        </p:txBody>
      </p:sp>
    </p:spTree>
    <p:extLst>
      <p:ext uri="{BB962C8B-B14F-4D97-AF65-F5344CB8AC3E}">
        <p14:creationId xmlns:p14="http://schemas.microsoft.com/office/powerpoint/2010/main" val="14326475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F2477-1635-21E1-B721-B5C3562F41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2493CB-E3E3-DEDD-141A-ACF60F11C1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B028A30-4D9E-402D-6A2A-14DE552872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771E02-8EDC-8E15-5887-034C804F41AF}"/>
              </a:ext>
            </a:extLst>
          </p:cNvPr>
          <p:cNvSpPr>
            <a:spLocks noGrp="1"/>
          </p:cNvSpPr>
          <p:nvPr>
            <p:ph type="dt" sz="half" idx="10"/>
          </p:nvPr>
        </p:nvSpPr>
        <p:spPr/>
        <p:txBody>
          <a:bodyPr/>
          <a:lstStyle/>
          <a:p>
            <a:fld id="{36922B8D-3499-4803-9C15-D1107C8D5AA9}" type="datetimeFigureOut">
              <a:rPr lang="en-US" smtClean="0"/>
              <a:t>4/25/2025</a:t>
            </a:fld>
            <a:endParaRPr lang="en-US"/>
          </a:p>
        </p:txBody>
      </p:sp>
      <p:sp>
        <p:nvSpPr>
          <p:cNvPr id="6" name="Footer Placeholder 5">
            <a:extLst>
              <a:ext uri="{FF2B5EF4-FFF2-40B4-BE49-F238E27FC236}">
                <a16:creationId xmlns:a16="http://schemas.microsoft.com/office/drawing/2014/main" id="{A72451CF-0645-89DD-4427-E2C7A8B4E4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98BCCD-C53B-A6C8-ACE1-BA79FD689BC0}"/>
              </a:ext>
            </a:extLst>
          </p:cNvPr>
          <p:cNvSpPr>
            <a:spLocks noGrp="1"/>
          </p:cNvSpPr>
          <p:nvPr>
            <p:ph type="sldNum" sz="quarter" idx="12"/>
          </p:nvPr>
        </p:nvSpPr>
        <p:spPr/>
        <p:txBody>
          <a:bodyPr/>
          <a:lstStyle/>
          <a:p>
            <a:fld id="{7771A7F8-BF8E-432C-83D1-2FC7AC8B3ABA}" type="slidenum">
              <a:rPr lang="en-US" smtClean="0"/>
              <a:t>‹#›</a:t>
            </a:fld>
            <a:endParaRPr lang="en-US"/>
          </a:p>
        </p:txBody>
      </p:sp>
    </p:spTree>
    <p:extLst>
      <p:ext uri="{BB962C8B-B14F-4D97-AF65-F5344CB8AC3E}">
        <p14:creationId xmlns:p14="http://schemas.microsoft.com/office/powerpoint/2010/main" val="18918995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EC814-8538-AFA9-41A4-C413E5F633B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A74CD1-CD42-56B3-897F-B2F409F421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3052A4-6106-88A4-76F1-DAA842B96B6C}"/>
              </a:ext>
            </a:extLst>
          </p:cNvPr>
          <p:cNvSpPr>
            <a:spLocks noGrp="1"/>
          </p:cNvSpPr>
          <p:nvPr>
            <p:ph type="dt" sz="half" idx="10"/>
          </p:nvPr>
        </p:nvSpPr>
        <p:spPr/>
        <p:txBody>
          <a:bodyPr/>
          <a:lstStyle/>
          <a:p>
            <a:fld id="{36922B8D-3499-4803-9C15-D1107C8D5AA9}" type="datetimeFigureOut">
              <a:rPr lang="en-US" smtClean="0"/>
              <a:t>4/25/2025</a:t>
            </a:fld>
            <a:endParaRPr lang="en-US"/>
          </a:p>
        </p:txBody>
      </p:sp>
      <p:sp>
        <p:nvSpPr>
          <p:cNvPr id="5" name="Footer Placeholder 4">
            <a:extLst>
              <a:ext uri="{FF2B5EF4-FFF2-40B4-BE49-F238E27FC236}">
                <a16:creationId xmlns:a16="http://schemas.microsoft.com/office/drawing/2014/main" id="{82C1FA83-8FA6-2B0D-A639-2FCB4A8E40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3F11EC-601C-5F6D-B8AD-3413B5521236}"/>
              </a:ext>
            </a:extLst>
          </p:cNvPr>
          <p:cNvSpPr>
            <a:spLocks noGrp="1"/>
          </p:cNvSpPr>
          <p:nvPr>
            <p:ph type="sldNum" sz="quarter" idx="12"/>
          </p:nvPr>
        </p:nvSpPr>
        <p:spPr/>
        <p:txBody>
          <a:bodyPr/>
          <a:lstStyle/>
          <a:p>
            <a:fld id="{7771A7F8-BF8E-432C-83D1-2FC7AC8B3ABA}" type="slidenum">
              <a:rPr lang="en-US" smtClean="0"/>
              <a:t>‹#›</a:t>
            </a:fld>
            <a:endParaRPr lang="en-US"/>
          </a:p>
        </p:txBody>
      </p:sp>
    </p:spTree>
    <p:extLst>
      <p:ext uri="{BB962C8B-B14F-4D97-AF65-F5344CB8AC3E}">
        <p14:creationId xmlns:p14="http://schemas.microsoft.com/office/powerpoint/2010/main" val="41795394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96FFDC-5543-88B3-B819-847B6DD3E7A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A0F110D-801D-323D-E669-A439295E3E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B71A86-5FE6-589D-0D7A-0F009E25C841}"/>
              </a:ext>
            </a:extLst>
          </p:cNvPr>
          <p:cNvSpPr>
            <a:spLocks noGrp="1"/>
          </p:cNvSpPr>
          <p:nvPr>
            <p:ph type="dt" sz="half" idx="10"/>
          </p:nvPr>
        </p:nvSpPr>
        <p:spPr/>
        <p:txBody>
          <a:bodyPr/>
          <a:lstStyle/>
          <a:p>
            <a:fld id="{36922B8D-3499-4803-9C15-D1107C8D5AA9}" type="datetimeFigureOut">
              <a:rPr lang="en-US" smtClean="0"/>
              <a:t>4/25/2025</a:t>
            </a:fld>
            <a:endParaRPr lang="en-US"/>
          </a:p>
        </p:txBody>
      </p:sp>
      <p:sp>
        <p:nvSpPr>
          <p:cNvPr id="5" name="Footer Placeholder 4">
            <a:extLst>
              <a:ext uri="{FF2B5EF4-FFF2-40B4-BE49-F238E27FC236}">
                <a16:creationId xmlns:a16="http://schemas.microsoft.com/office/drawing/2014/main" id="{CC5D648F-8098-A3AF-8781-8DA3EFE1F2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5FE540-B784-C6DE-B144-E340D7C53F61}"/>
              </a:ext>
            </a:extLst>
          </p:cNvPr>
          <p:cNvSpPr>
            <a:spLocks noGrp="1"/>
          </p:cNvSpPr>
          <p:nvPr>
            <p:ph type="sldNum" sz="quarter" idx="12"/>
          </p:nvPr>
        </p:nvSpPr>
        <p:spPr/>
        <p:txBody>
          <a:bodyPr/>
          <a:lstStyle/>
          <a:p>
            <a:fld id="{7771A7F8-BF8E-432C-83D1-2FC7AC8B3ABA}" type="slidenum">
              <a:rPr lang="en-US" smtClean="0"/>
              <a:t>‹#›</a:t>
            </a:fld>
            <a:endParaRPr lang="en-US"/>
          </a:p>
        </p:txBody>
      </p:sp>
    </p:spTree>
    <p:extLst>
      <p:ext uri="{BB962C8B-B14F-4D97-AF65-F5344CB8AC3E}">
        <p14:creationId xmlns:p14="http://schemas.microsoft.com/office/powerpoint/2010/main" val="177202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019CB2-D7CB-79F9-A0C6-736963F6C1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BBF6506-6177-E03B-5886-2D4E789A63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4430EA-B2C0-7B78-B0DC-5F22F59FC4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922B8D-3499-4803-9C15-D1107C8D5AA9}" type="datetimeFigureOut">
              <a:rPr lang="en-US" smtClean="0"/>
              <a:t>4/25/2025</a:t>
            </a:fld>
            <a:endParaRPr lang="en-US"/>
          </a:p>
        </p:txBody>
      </p:sp>
      <p:sp>
        <p:nvSpPr>
          <p:cNvPr id="5" name="Footer Placeholder 4">
            <a:extLst>
              <a:ext uri="{FF2B5EF4-FFF2-40B4-BE49-F238E27FC236}">
                <a16:creationId xmlns:a16="http://schemas.microsoft.com/office/drawing/2014/main" id="{F461E533-532B-7F21-5DEB-D4E9528554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E546CBA-6FC9-920A-E029-D0D439FB3A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71A7F8-BF8E-432C-83D1-2FC7AC8B3ABA}" type="slidenum">
              <a:rPr lang="en-US" smtClean="0"/>
              <a:t>‹#›</a:t>
            </a:fld>
            <a:endParaRPr lang="en-US"/>
          </a:p>
        </p:txBody>
      </p:sp>
    </p:spTree>
    <p:extLst>
      <p:ext uri="{BB962C8B-B14F-4D97-AF65-F5344CB8AC3E}">
        <p14:creationId xmlns:p14="http://schemas.microsoft.com/office/powerpoint/2010/main" val="1389307711"/>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6325670" y="1120928"/>
            <a:ext cx="5486400" cy="3291840"/>
          </a:xfrm>
        </p:spPr>
        <p:txBody>
          <a:bodyPr/>
          <a:lstStyle/>
          <a:p>
            <a:pPr algn="l">
              <a:buNone/>
            </a:pPr>
            <a:r>
              <a:rPr lang="en-US" sz="3200" i="0" dirty="0">
                <a:solidFill>
                  <a:srgbClr val="222222"/>
                </a:solidFill>
                <a:effectLst/>
                <a:latin typeface="Arial" panose="020B0604020202020204" pitchFamily="34" charset="0"/>
              </a:rPr>
              <a:t>A Novel Approach to Secure Execution in Embedded Systems: Custom ISA and Compiler Binding</a:t>
            </a:r>
            <a:br>
              <a:rPr lang="en-US" sz="2800" i="0" dirty="0">
                <a:solidFill>
                  <a:srgbClr val="222222"/>
                </a:solidFill>
                <a:effectLst/>
                <a:latin typeface="Arial" panose="020B0604020202020204" pitchFamily="34" charset="0"/>
              </a:rPr>
            </a:br>
            <a:br>
              <a:rPr lang="en-US" sz="2800" dirty="0"/>
            </a:br>
            <a:endParaRPr lang="en-US" sz="2800" dirty="0"/>
          </a:p>
        </p:txBody>
      </p:sp>
      <p:sp>
        <p:nvSpPr>
          <p:cNvPr id="3" name="TextBox 2">
            <a:extLst>
              <a:ext uri="{FF2B5EF4-FFF2-40B4-BE49-F238E27FC236}">
                <a16:creationId xmlns:a16="http://schemas.microsoft.com/office/drawing/2014/main" id="{E55C0EAC-E7AE-4E6D-6D54-F66782C1175F}"/>
              </a:ext>
            </a:extLst>
          </p:cNvPr>
          <p:cNvSpPr txBox="1"/>
          <p:nvPr/>
        </p:nvSpPr>
        <p:spPr>
          <a:xfrm>
            <a:off x="6345621" y="4572000"/>
            <a:ext cx="4138448" cy="646331"/>
          </a:xfrm>
          <a:prstGeom prst="rect">
            <a:avLst/>
          </a:prstGeom>
          <a:noFill/>
        </p:spPr>
        <p:txBody>
          <a:bodyPr wrap="square" rtlCol="0">
            <a:spAutoFit/>
          </a:bodyPr>
          <a:lstStyle/>
          <a:p>
            <a:r>
              <a:rPr lang="en-US" dirty="0">
                <a:solidFill>
                  <a:schemeClr val="bg1"/>
                </a:solidFill>
              </a:rPr>
              <a:t>Student: Maria Ayub</a:t>
            </a:r>
          </a:p>
          <a:p>
            <a:r>
              <a:rPr lang="en-US" dirty="0">
                <a:solidFill>
                  <a:schemeClr val="bg1"/>
                </a:solidFill>
              </a:rPr>
              <a:t>Institute: CEME NUST</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8DD32-76A2-67B6-704E-2A0BDFF12F2B}"/>
              </a:ext>
            </a:extLst>
          </p:cNvPr>
          <p:cNvSpPr>
            <a:spLocks noGrp="1"/>
          </p:cNvSpPr>
          <p:nvPr>
            <p:ph type="title"/>
          </p:nvPr>
        </p:nvSpPr>
        <p:spPr/>
        <p:txBody>
          <a:bodyPr/>
          <a:lstStyle/>
          <a:p>
            <a:r>
              <a:rPr lang="en-US" sz="3600" dirty="0"/>
              <a:t>Guidance and Evaluation Committee</a:t>
            </a:r>
          </a:p>
        </p:txBody>
      </p:sp>
      <p:sp>
        <p:nvSpPr>
          <p:cNvPr id="3" name="Content Placeholder 2">
            <a:extLst>
              <a:ext uri="{FF2B5EF4-FFF2-40B4-BE49-F238E27FC236}">
                <a16:creationId xmlns:a16="http://schemas.microsoft.com/office/drawing/2014/main" id="{C889F163-2FEB-AE43-75E1-F3F5891A1D95}"/>
              </a:ext>
            </a:extLst>
          </p:cNvPr>
          <p:cNvSpPr>
            <a:spLocks noGrp="1"/>
          </p:cNvSpPr>
          <p:nvPr>
            <p:ph sz="quarter" idx="13"/>
          </p:nvPr>
        </p:nvSpPr>
        <p:spPr>
          <a:xfrm>
            <a:off x="594359" y="2281918"/>
            <a:ext cx="7930805" cy="3708517"/>
          </a:xfrm>
        </p:spPr>
        <p:txBody>
          <a:bodyPr/>
          <a:lstStyle/>
          <a:p>
            <a:r>
              <a:rPr lang="en-US" b="1" dirty="0">
                <a:solidFill>
                  <a:schemeClr val="bg1"/>
                </a:solidFill>
              </a:rPr>
              <a:t>Supervised by:               </a:t>
            </a:r>
            <a:r>
              <a:rPr lang="en-US" dirty="0">
                <a:solidFill>
                  <a:schemeClr val="bg1"/>
                </a:solidFill>
              </a:rPr>
              <a:t>Dr. Asad Mansoor Khan</a:t>
            </a:r>
          </a:p>
          <a:p>
            <a:r>
              <a:rPr lang="en-US" b="1" dirty="0">
                <a:solidFill>
                  <a:schemeClr val="bg1"/>
                </a:solidFill>
              </a:rPr>
              <a:t>Co-supervised by:          </a:t>
            </a:r>
            <a:r>
              <a:rPr lang="en-US" dirty="0">
                <a:solidFill>
                  <a:schemeClr val="bg1"/>
                </a:solidFill>
              </a:rPr>
              <a:t>Dr. Sajid Gul Khawaja</a:t>
            </a:r>
          </a:p>
          <a:p>
            <a:r>
              <a:rPr lang="en-US" b="1" dirty="0">
                <a:solidFill>
                  <a:schemeClr val="bg1"/>
                </a:solidFill>
              </a:rPr>
              <a:t>GEC Members: </a:t>
            </a:r>
          </a:p>
          <a:p>
            <a:pPr marL="457200" lvl="1" indent="0">
              <a:buNone/>
            </a:pPr>
            <a:r>
              <a:rPr lang="en-US" sz="2400" dirty="0"/>
              <a:t>			       </a:t>
            </a:r>
            <a:r>
              <a:rPr lang="en-US" sz="2400" b="1" dirty="0"/>
              <a:t>Dr. Muhammad Usman Akram</a:t>
            </a:r>
          </a:p>
          <a:p>
            <a:pPr marL="457200" lvl="1" indent="0">
              <a:buNone/>
            </a:pPr>
            <a:r>
              <a:rPr lang="en-US" sz="2400" b="1" dirty="0"/>
              <a:t>			       Dr. Arsalan </a:t>
            </a:r>
            <a:r>
              <a:rPr lang="en-US" sz="2400" b="1" dirty="0" err="1"/>
              <a:t>Shoukat</a:t>
            </a:r>
            <a:endParaRPr lang="en-PK" sz="2400" b="1" dirty="0"/>
          </a:p>
          <a:p>
            <a:pPr marL="0" indent="0">
              <a:buNone/>
            </a:pPr>
            <a:r>
              <a:rPr lang="en-US" b="1" dirty="0"/>
              <a:t>          </a:t>
            </a:r>
          </a:p>
          <a:p>
            <a:endParaRPr lang="en-US" dirty="0"/>
          </a:p>
        </p:txBody>
      </p:sp>
    </p:spTree>
    <p:extLst>
      <p:ext uri="{BB962C8B-B14F-4D97-AF65-F5344CB8AC3E}">
        <p14:creationId xmlns:p14="http://schemas.microsoft.com/office/powerpoint/2010/main" val="1924212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a:lstStyle/>
          <a:p>
            <a:r>
              <a:rPr lang="en-US" dirty="0"/>
              <a:t>Sequence</a:t>
            </a:r>
          </a:p>
        </p:txBody>
      </p:sp>
      <p:sp>
        <p:nvSpPr>
          <p:cNvPr id="3" name="Text Placeholder 2">
            <a:extLst>
              <a:ext uri="{FF2B5EF4-FFF2-40B4-BE49-F238E27FC236}">
                <a16:creationId xmlns:a16="http://schemas.microsoft.com/office/drawing/2014/main" id="{3B8EBC2C-6DD7-5003-38EB-40753046FE8C}"/>
              </a:ext>
            </a:extLst>
          </p:cNvPr>
          <p:cNvSpPr>
            <a:spLocks noGrp="1"/>
          </p:cNvSpPr>
          <p:nvPr>
            <p:ph sz="quarter" idx="13"/>
          </p:nvPr>
        </p:nvSpPr>
        <p:spPr>
          <a:xfrm>
            <a:off x="593957" y="1967202"/>
            <a:ext cx="6788150" cy="3709987"/>
          </a:xfrm>
        </p:spPr>
        <p:txBody>
          <a:bodyPr tIns="457200">
            <a:noAutofit/>
          </a:bodyPr>
          <a:lstStyle/>
          <a:p>
            <a:pPr algn="just"/>
            <a:r>
              <a:rPr lang="en-US" b="0" dirty="0">
                <a:solidFill>
                  <a:schemeClr val="bg1"/>
                </a:solidFill>
              </a:rPr>
              <a:t>Introduction (Domain introduction &amp; Motivation)</a:t>
            </a:r>
          </a:p>
          <a:p>
            <a:pPr algn="just"/>
            <a:r>
              <a:rPr lang="en-US" b="0" dirty="0">
                <a:solidFill>
                  <a:schemeClr val="bg1"/>
                </a:solidFill>
              </a:rPr>
              <a:t>Literature Review</a:t>
            </a:r>
          </a:p>
          <a:p>
            <a:pPr algn="just"/>
            <a:r>
              <a:rPr lang="en-US" b="0" dirty="0">
                <a:solidFill>
                  <a:schemeClr val="bg1"/>
                </a:solidFill>
              </a:rPr>
              <a:t>Research Gaps</a:t>
            </a:r>
          </a:p>
          <a:p>
            <a:pPr algn="just"/>
            <a:r>
              <a:rPr lang="en-US" b="0" dirty="0">
                <a:solidFill>
                  <a:schemeClr val="bg1"/>
                </a:solidFill>
              </a:rPr>
              <a:t>Problem Statement</a:t>
            </a:r>
          </a:p>
          <a:p>
            <a:pPr algn="just"/>
            <a:r>
              <a:rPr lang="en-US" b="0" dirty="0">
                <a:solidFill>
                  <a:schemeClr val="bg1"/>
                </a:solidFill>
              </a:rPr>
              <a:t>Aims and Objectives</a:t>
            </a:r>
          </a:p>
          <a:p>
            <a:pPr algn="just"/>
            <a:r>
              <a:rPr lang="en-US" b="0" dirty="0">
                <a:solidFill>
                  <a:schemeClr val="bg1"/>
                </a:solidFill>
              </a:rPr>
              <a:t>Proposed Methodology</a:t>
            </a:r>
          </a:p>
          <a:p>
            <a:pPr algn="just"/>
            <a:r>
              <a:rPr lang="en-US" b="0" dirty="0">
                <a:solidFill>
                  <a:schemeClr val="bg1"/>
                </a:solidFill>
              </a:rPr>
              <a:t>Tentative Timeline</a:t>
            </a:r>
            <a:endParaRPr lang="en-PK" b="0" dirty="0">
              <a:solidFill>
                <a:schemeClr val="bg1"/>
              </a:solidFill>
            </a:endParaRPr>
          </a:p>
        </p:txBody>
      </p:sp>
    </p:spTree>
    <p:extLst>
      <p:ext uri="{BB962C8B-B14F-4D97-AF65-F5344CB8AC3E}">
        <p14:creationId xmlns:p14="http://schemas.microsoft.com/office/powerpoint/2010/main" val="3346685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85037-720D-009E-DEB0-1D0FAEB017D5}"/>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71424F31-BE64-DA7B-44BA-A754FD1648A9}"/>
              </a:ext>
            </a:extLst>
          </p:cNvPr>
          <p:cNvSpPr>
            <a:spLocks noGrp="1"/>
          </p:cNvSpPr>
          <p:nvPr>
            <p:ph type="ctrTitle"/>
          </p:nvPr>
        </p:nvSpPr>
        <p:spPr>
          <a:xfrm>
            <a:off x="6309904" y="411479"/>
            <a:ext cx="5486400" cy="3291840"/>
          </a:xfrm>
        </p:spPr>
        <p:txBody>
          <a:bodyPr/>
          <a:lstStyle/>
          <a:p>
            <a:r>
              <a:rPr lang="en-US" dirty="0"/>
              <a:t>Introduction</a:t>
            </a:r>
          </a:p>
        </p:txBody>
      </p:sp>
    </p:spTree>
    <p:extLst>
      <p:ext uri="{BB962C8B-B14F-4D97-AF65-F5344CB8AC3E}">
        <p14:creationId xmlns:p14="http://schemas.microsoft.com/office/powerpoint/2010/main" val="1000449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D454F-E612-F095-6231-69BC3E7F53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54BBD2-A11C-47A9-B838-CDE0C3D0B7DE}"/>
              </a:ext>
            </a:extLst>
          </p:cNvPr>
          <p:cNvSpPr>
            <a:spLocks noGrp="1"/>
          </p:cNvSpPr>
          <p:nvPr>
            <p:ph type="title"/>
          </p:nvPr>
        </p:nvSpPr>
        <p:spPr>
          <a:xfrm>
            <a:off x="594360" y="189572"/>
            <a:ext cx="6787747" cy="1593507"/>
          </a:xfrm>
        </p:spPr>
        <p:txBody>
          <a:bodyPr/>
          <a:lstStyle/>
          <a:p>
            <a:r>
              <a:rPr lang="en-US" b="1" dirty="0"/>
              <a:t>Context &amp; Motivation</a:t>
            </a:r>
            <a:endParaRPr lang="en-US" dirty="0"/>
          </a:p>
        </p:txBody>
      </p:sp>
      <p:sp>
        <p:nvSpPr>
          <p:cNvPr id="3" name="Text Placeholder 2">
            <a:extLst>
              <a:ext uri="{FF2B5EF4-FFF2-40B4-BE49-F238E27FC236}">
                <a16:creationId xmlns:a16="http://schemas.microsoft.com/office/drawing/2014/main" id="{F4A97AE0-6441-051F-BE5E-76C44B0C28B1}"/>
              </a:ext>
            </a:extLst>
          </p:cNvPr>
          <p:cNvSpPr>
            <a:spLocks noGrp="1"/>
          </p:cNvSpPr>
          <p:nvPr>
            <p:ph sz="quarter" idx="13"/>
          </p:nvPr>
        </p:nvSpPr>
        <p:spPr>
          <a:xfrm>
            <a:off x="593725" y="2281238"/>
            <a:ext cx="6788150" cy="3709987"/>
          </a:xfrm>
        </p:spPr>
        <p:txBody>
          <a:bodyPr tIns="457200">
            <a:normAutofit/>
          </a:bodyPr>
          <a:lstStyle/>
          <a:p>
            <a:pPr>
              <a:buFont typeface="Arial" panose="020B0604020202020204" pitchFamily="34" charset="0"/>
              <a:buChar char="•"/>
            </a:pPr>
            <a:r>
              <a:rPr lang="en-US" b="0" dirty="0">
                <a:solidFill>
                  <a:schemeClr val="bg1"/>
                </a:solidFill>
              </a:rPr>
              <a:t>Embedded systems are increasingly deployed in security-critical applications like IoT, automotive, and healthcare.</a:t>
            </a:r>
          </a:p>
          <a:p>
            <a:pPr>
              <a:buFont typeface="Arial" panose="020B0604020202020204" pitchFamily="34" charset="0"/>
              <a:buChar char="•"/>
            </a:pPr>
            <a:r>
              <a:rPr lang="en-US" b="0" dirty="0">
                <a:solidFill>
                  <a:schemeClr val="bg1"/>
                </a:solidFill>
              </a:rPr>
              <a:t>However, they are vulnerable to physical access attacks, unauthorized code execution, and reverse engineering.</a:t>
            </a:r>
          </a:p>
          <a:p>
            <a:pPr>
              <a:buFont typeface="Arial" panose="020B0604020202020204" pitchFamily="34" charset="0"/>
              <a:buChar char="•"/>
            </a:pPr>
            <a:r>
              <a:rPr lang="en-US" b="0" dirty="0">
                <a:solidFill>
                  <a:schemeClr val="bg1"/>
                </a:solidFill>
              </a:rPr>
              <a:t>Traditional security solutions are either too heavy or inflexible for resource-constrained embedded devices.</a:t>
            </a:r>
          </a:p>
        </p:txBody>
      </p:sp>
    </p:spTree>
    <p:extLst>
      <p:ext uri="{BB962C8B-B14F-4D97-AF65-F5344CB8AC3E}">
        <p14:creationId xmlns:p14="http://schemas.microsoft.com/office/powerpoint/2010/main" val="3450682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8B6E6-17C3-97B0-7B05-E50BBE2388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99C6F0-636D-A870-FBD9-BD7C42E00C20}"/>
              </a:ext>
            </a:extLst>
          </p:cNvPr>
          <p:cNvSpPr>
            <a:spLocks noGrp="1"/>
          </p:cNvSpPr>
          <p:nvPr>
            <p:ph type="title"/>
          </p:nvPr>
        </p:nvSpPr>
        <p:spPr>
          <a:xfrm>
            <a:off x="594360" y="189572"/>
            <a:ext cx="6787747" cy="1593507"/>
          </a:xfrm>
        </p:spPr>
        <p:txBody>
          <a:bodyPr/>
          <a:lstStyle/>
          <a:p>
            <a:r>
              <a:rPr lang="en-US" b="1" dirty="0"/>
              <a:t>Our Approach</a:t>
            </a:r>
            <a:endParaRPr lang="en-US" dirty="0"/>
          </a:p>
        </p:txBody>
      </p:sp>
      <p:sp>
        <p:nvSpPr>
          <p:cNvPr id="3" name="Text Placeholder 2">
            <a:extLst>
              <a:ext uri="{FF2B5EF4-FFF2-40B4-BE49-F238E27FC236}">
                <a16:creationId xmlns:a16="http://schemas.microsoft.com/office/drawing/2014/main" id="{3DAD9D56-F882-6967-F6D1-122DA4F0FB74}"/>
              </a:ext>
            </a:extLst>
          </p:cNvPr>
          <p:cNvSpPr>
            <a:spLocks noGrp="1"/>
          </p:cNvSpPr>
          <p:nvPr>
            <p:ph sz="quarter" idx="13"/>
          </p:nvPr>
        </p:nvSpPr>
        <p:spPr>
          <a:xfrm>
            <a:off x="593725" y="2281238"/>
            <a:ext cx="6952703" cy="3709987"/>
          </a:xfrm>
        </p:spPr>
        <p:txBody>
          <a:bodyPr tIns="457200">
            <a:normAutofit/>
          </a:bodyPr>
          <a:lstStyle/>
          <a:p>
            <a:pPr algn="just">
              <a:buFont typeface="Arial" panose="020B0604020202020204" pitchFamily="34" charset="0"/>
              <a:buChar char="•"/>
            </a:pPr>
            <a:r>
              <a:rPr lang="en-US" b="0" dirty="0">
                <a:solidFill>
                  <a:schemeClr val="bg1"/>
                </a:solidFill>
              </a:rPr>
              <a:t>Introduce a </a:t>
            </a:r>
            <a:r>
              <a:rPr lang="en-US" dirty="0">
                <a:solidFill>
                  <a:schemeClr val="bg1"/>
                </a:solidFill>
              </a:rPr>
              <a:t>custom security instruction</a:t>
            </a:r>
            <a:r>
              <a:rPr lang="en-US" b="0" dirty="0">
                <a:solidFill>
                  <a:schemeClr val="bg1"/>
                </a:solidFill>
              </a:rPr>
              <a:t> directly inside the processor’s instruction set.</a:t>
            </a:r>
          </a:p>
          <a:p>
            <a:pPr algn="just">
              <a:buFont typeface="Arial" panose="020B0604020202020204" pitchFamily="34" charset="0"/>
              <a:buChar char="•"/>
            </a:pPr>
            <a:r>
              <a:rPr lang="en-US" b="0" dirty="0">
                <a:solidFill>
                  <a:schemeClr val="bg1"/>
                </a:solidFill>
              </a:rPr>
              <a:t>Enforce execution control and </a:t>
            </a:r>
            <a:r>
              <a:rPr lang="en-US" dirty="0">
                <a:solidFill>
                  <a:schemeClr val="bg1"/>
                </a:solidFill>
              </a:rPr>
              <a:t>secure debugging </a:t>
            </a:r>
            <a:r>
              <a:rPr lang="en-US" b="0" dirty="0">
                <a:solidFill>
                  <a:schemeClr val="bg1"/>
                </a:solidFill>
              </a:rPr>
              <a:t>tied to cryptographic key validation.</a:t>
            </a:r>
          </a:p>
          <a:p>
            <a:pPr algn="just">
              <a:buFont typeface="Arial" panose="020B0604020202020204" pitchFamily="34" charset="0"/>
              <a:buChar char="•"/>
            </a:pPr>
            <a:r>
              <a:rPr lang="en-US" b="0" dirty="0">
                <a:solidFill>
                  <a:schemeClr val="bg1"/>
                </a:solidFill>
              </a:rPr>
              <a:t>Bind program execution to flash-stored </a:t>
            </a:r>
            <a:r>
              <a:rPr lang="en-US" dirty="0">
                <a:solidFill>
                  <a:schemeClr val="bg1"/>
                </a:solidFill>
              </a:rPr>
              <a:t>cryptographic data</a:t>
            </a:r>
            <a:r>
              <a:rPr lang="en-US" b="0" dirty="0">
                <a:solidFill>
                  <a:schemeClr val="bg1"/>
                </a:solidFill>
              </a:rPr>
              <a:t>, verified at runtime.</a:t>
            </a:r>
          </a:p>
          <a:p>
            <a:pPr algn="just">
              <a:buFont typeface="Arial" panose="020B0604020202020204" pitchFamily="34" charset="0"/>
              <a:buChar char="•"/>
            </a:pPr>
            <a:r>
              <a:rPr lang="en-US" b="0" dirty="0">
                <a:solidFill>
                  <a:schemeClr val="bg1"/>
                </a:solidFill>
              </a:rPr>
              <a:t>Achieve hardware-level protection without external security modules or heavy software encryption.</a:t>
            </a:r>
          </a:p>
        </p:txBody>
      </p:sp>
    </p:spTree>
    <p:extLst>
      <p:ext uri="{BB962C8B-B14F-4D97-AF65-F5344CB8AC3E}">
        <p14:creationId xmlns:p14="http://schemas.microsoft.com/office/powerpoint/2010/main" val="34213113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0DFF1-6379-C265-AED9-3EE21727DD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E901B7-52B7-45A5-99B7-137CE1CB70E9}"/>
              </a:ext>
            </a:extLst>
          </p:cNvPr>
          <p:cNvSpPr>
            <a:spLocks noGrp="1"/>
          </p:cNvSpPr>
          <p:nvPr>
            <p:ph type="title"/>
          </p:nvPr>
        </p:nvSpPr>
        <p:spPr>
          <a:xfrm>
            <a:off x="594360" y="189572"/>
            <a:ext cx="6787747" cy="1593507"/>
          </a:xfrm>
        </p:spPr>
        <p:txBody>
          <a:bodyPr/>
          <a:lstStyle/>
          <a:p>
            <a:r>
              <a:rPr lang="en-US" b="1" dirty="0"/>
              <a:t>Key binding</a:t>
            </a:r>
            <a:endParaRPr lang="en-US" dirty="0"/>
          </a:p>
        </p:txBody>
      </p:sp>
      <p:pic>
        <p:nvPicPr>
          <p:cNvPr id="5" name="Content Placeholder 4">
            <a:extLst>
              <a:ext uri="{FF2B5EF4-FFF2-40B4-BE49-F238E27FC236}">
                <a16:creationId xmlns:a16="http://schemas.microsoft.com/office/drawing/2014/main" id="{8E3704A2-1EF3-46B9-0599-1F8C2A6DA6F8}"/>
              </a:ext>
            </a:extLst>
          </p:cNvPr>
          <p:cNvPicPr>
            <a:picLocks noGrp="1" noChangeAspect="1"/>
          </p:cNvPicPr>
          <p:nvPr>
            <p:ph sz="quarter" idx="13"/>
          </p:nvPr>
        </p:nvPicPr>
        <p:blipFill>
          <a:blip r:embed="rId3"/>
          <a:stretch>
            <a:fillRect/>
          </a:stretch>
        </p:blipFill>
        <p:spPr>
          <a:xfrm>
            <a:off x="3501014" y="1584959"/>
            <a:ext cx="4289673" cy="5585599"/>
          </a:xfrm>
        </p:spPr>
      </p:pic>
    </p:spTree>
    <p:extLst>
      <p:ext uri="{BB962C8B-B14F-4D97-AF65-F5344CB8AC3E}">
        <p14:creationId xmlns:p14="http://schemas.microsoft.com/office/powerpoint/2010/main" val="1429194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D3ACB-4F6D-61F3-6B9F-FA1BF3F4B221}"/>
              </a:ext>
            </a:extLst>
          </p:cNvPr>
          <p:cNvSpPr>
            <a:spLocks noGrp="1"/>
          </p:cNvSpPr>
          <p:nvPr>
            <p:ph type="title"/>
          </p:nvPr>
        </p:nvSpPr>
        <p:spPr/>
        <p:txBody>
          <a:bodyPr/>
          <a:lstStyle/>
          <a:p>
            <a:r>
              <a:rPr lang="en-US" dirty="0"/>
              <a:t>WHY RISCV?</a:t>
            </a:r>
          </a:p>
        </p:txBody>
      </p:sp>
      <p:sp>
        <p:nvSpPr>
          <p:cNvPr id="4" name="Rectangle 1">
            <a:extLst>
              <a:ext uri="{FF2B5EF4-FFF2-40B4-BE49-F238E27FC236}">
                <a16:creationId xmlns:a16="http://schemas.microsoft.com/office/drawing/2014/main" id="{056CF91C-50DC-848C-DCAA-5DAF57B3AB0D}"/>
              </a:ext>
            </a:extLst>
          </p:cNvPr>
          <p:cNvSpPr>
            <a:spLocks noGrp="1" noChangeArrowheads="1"/>
          </p:cNvSpPr>
          <p:nvPr>
            <p:ph sz="quarter" idx="13"/>
          </p:nvPr>
        </p:nvSpPr>
        <p:spPr bwMode="auto">
          <a:xfrm>
            <a:off x="594360" y="2162208"/>
            <a:ext cx="560148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rPr>
              <a:t>RISC-V is an </a:t>
            </a:r>
            <a:r>
              <a:rPr kumimoji="0" lang="en-US" altLang="en-US" b="1" i="0" u="none" strike="noStrike" cap="none" normalizeH="0" baseline="0" dirty="0">
                <a:ln>
                  <a:noFill/>
                </a:ln>
                <a:solidFill>
                  <a:schemeClr val="bg1"/>
                </a:solidFill>
                <a:effectLst/>
              </a:rPr>
              <a:t>open-source ISA</a:t>
            </a:r>
            <a:r>
              <a:rPr kumimoji="0" lang="en-US" altLang="en-US" b="0" i="0" u="none" strike="noStrike" cap="none" normalizeH="0" baseline="0" dirty="0">
                <a:ln>
                  <a:noFill/>
                </a:ln>
                <a:solidFill>
                  <a:schemeClr val="bg1"/>
                </a:solidFill>
                <a:effectLst/>
              </a:rPr>
              <a:t>, making it ideal for research and customization.</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bg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rPr>
              <a:t>Its modular design allows seamless integration of </a:t>
            </a:r>
            <a:r>
              <a:rPr kumimoji="0" lang="en-US" altLang="en-US" b="1" i="0" u="none" strike="noStrike" cap="none" normalizeH="0" baseline="0" dirty="0">
                <a:ln>
                  <a:noFill/>
                </a:ln>
                <a:solidFill>
                  <a:schemeClr val="bg1"/>
                </a:solidFill>
                <a:effectLst/>
              </a:rPr>
              <a:t>custom instructions</a:t>
            </a:r>
            <a:r>
              <a:rPr kumimoji="0" lang="en-US" altLang="en-US" b="0" i="0" u="none" strike="noStrike" cap="none" normalizeH="0" baseline="0" dirty="0">
                <a:ln>
                  <a:noFill/>
                </a:ln>
                <a:solidFill>
                  <a:schemeClr val="bg1"/>
                </a:solidFill>
                <a:effectLst/>
              </a:rPr>
              <a:t> without violating ISA standards</a:t>
            </a:r>
          </a:p>
        </p:txBody>
      </p:sp>
    </p:spTree>
    <p:extLst>
      <p:ext uri="{BB962C8B-B14F-4D97-AF65-F5344CB8AC3E}">
        <p14:creationId xmlns:p14="http://schemas.microsoft.com/office/powerpoint/2010/main" val="1503771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889B2-DF19-041D-F2DC-051B59B2CC69}"/>
              </a:ext>
            </a:extLst>
          </p:cNvPr>
          <p:cNvSpPr>
            <a:spLocks noGrp="1"/>
          </p:cNvSpPr>
          <p:nvPr>
            <p:ph type="title"/>
          </p:nvPr>
        </p:nvSpPr>
        <p:spPr/>
        <p:txBody>
          <a:bodyPr/>
          <a:lstStyle/>
          <a:p>
            <a:r>
              <a:rPr lang="en-US" dirty="0"/>
              <a:t>Key Idea</a:t>
            </a:r>
          </a:p>
        </p:txBody>
      </p:sp>
      <p:sp>
        <p:nvSpPr>
          <p:cNvPr id="3" name="Content Placeholder 2">
            <a:extLst>
              <a:ext uri="{FF2B5EF4-FFF2-40B4-BE49-F238E27FC236}">
                <a16:creationId xmlns:a16="http://schemas.microsoft.com/office/drawing/2014/main" id="{3ADEBB58-1063-86A3-E844-CF1EA97256CE}"/>
              </a:ext>
            </a:extLst>
          </p:cNvPr>
          <p:cNvSpPr>
            <a:spLocks noGrp="1"/>
          </p:cNvSpPr>
          <p:nvPr>
            <p:ph sz="quarter" idx="13"/>
          </p:nvPr>
        </p:nvSpPr>
        <p:spPr/>
        <p:txBody>
          <a:bodyPr/>
          <a:lstStyle/>
          <a:p>
            <a:pPr marL="0" indent="0">
              <a:buNone/>
            </a:pPr>
            <a:r>
              <a:rPr lang="en-US" i="1" dirty="0">
                <a:solidFill>
                  <a:schemeClr val="bg1"/>
                </a:solidFill>
              </a:rPr>
              <a:t>Execution of critical operations and enabling of debug features are </a:t>
            </a:r>
            <a:r>
              <a:rPr lang="en-US" b="1" i="1" dirty="0">
                <a:solidFill>
                  <a:schemeClr val="bg1"/>
                </a:solidFill>
              </a:rPr>
              <a:t>tightly bound to key verification logic</a:t>
            </a:r>
            <a:r>
              <a:rPr lang="en-US" i="1" dirty="0">
                <a:solidFill>
                  <a:schemeClr val="bg1"/>
                </a:solidFill>
              </a:rPr>
              <a:t>, ensuring secure boot and runtime environment.</a:t>
            </a:r>
          </a:p>
          <a:p>
            <a:pPr marL="0" indent="0">
              <a:buNone/>
            </a:pPr>
            <a:endParaRPr lang="en-US" i="1" dirty="0">
              <a:solidFill>
                <a:schemeClr val="bg1"/>
              </a:solidFill>
            </a:endParaRPr>
          </a:p>
          <a:p>
            <a:pPr marL="0" indent="0">
              <a:buNone/>
            </a:pPr>
            <a:endParaRPr lang="en-US" i="1" dirty="0">
              <a:solidFill>
                <a:schemeClr val="bg1"/>
              </a:solidFill>
            </a:endParaRPr>
          </a:p>
        </p:txBody>
      </p:sp>
    </p:spTree>
    <p:extLst>
      <p:ext uri="{BB962C8B-B14F-4D97-AF65-F5344CB8AC3E}">
        <p14:creationId xmlns:p14="http://schemas.microsoft.com/office/powerpoint/2010/main" val="1371772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78965-55BA-87B3-66C4-725773BEA0BE}"/>
              </a:ext>
            </a:extLst>
          </p:cNvPr>
          <p:cNvSpPr>
            <a:spLocks noGrp="1"/>
          </p:cNvSpPr>
          <p:nvPr>
            <p:ph type="title"/>
          </p:nvPr>
        </p:nvSpPr>
        <p:spPr/>
        <p:txBody>
          <a:bodyPr/>
          <a:lstStyle/>
          <a:p>
            <a:r>
              <a:rPr lang="en-US" dirty="0"/>
              <a:t>Literature Review</a:t>
            </a:r>
          </a:p>
        </p:txBody>
      </p:sp>
      <p:graphicFrame>
        <p:nvGraphicFramePr>
          <p:cNvPr id="9" name="Content Placeholder 8">
            <a:extLst>
              <a:ext uri="{FF2B5EF4-FFF2-40B4-BE49-F238E27FC236}">
                <a16:creationId xmlns:a16="http://schemas.microsoft.com/office/drawing/2014/main" id="{272D0C3C-FB3B-B427-F1DA-1070F930283D}"/>
              </a:ext>
            </a:extLst>
          </p:cNvPr>
          <p:cNvGraphicFramePr>
            <a:graphicFrameLocks noGrp="1"/>
          </p:cNvGraphicFramePr>
          <p:nvPr>
            <p:ph sz="quarter" idx="13"/>
            <p:extLst>
              <p:ext uri="{D42A27DB-BD31-4B8C-83A1-F6EECF244321}">
                <p14:modId xmlns:p14="http://schemas.microsoft.com/office/powerpoint/2010/main" val="3916938978"/>
              </p:ext>
            </p:extLst>
          </p:nvPr>
        </p:nvGraphicFramePr>
        <p:xfrm>
          <a:off x="593724" y="2323070"/>
          <a:ext cx="11326427" cy="4032422"/>
        </p:xfrm>
        <a:graphic>
          <a:graphicData uri="http://schemas.openxmlformats.org/drawingml/2006/table">
            <a:tbl>
              <a:tblPr firstRow="1" bandRow="1">
                <a:tableStyleId>{8A107856-5554-42FB-B03E-39F5DBC370BA}</a:tableStyleId>
              </a:tblPr>
              <a:tblGrid>
                <a:gridCol w="2033304">
                  <a:extLst>
                    <a:ext uri="{9D8B030D-6E8A-4147-A177-3AD203B41FA5}">
                      <a16:colId xmlns:a16="http://schemas.microsoft.com/office/drawing/2014/main" val="2353051052"/>
                    </a:ext>
                  </a:extLst>
                </a:gridCol>
                <a:gridCol w="9293123">
                  <a:extLst>
                    <a:ext uri="{9D8B030D-6E8A-4147-A177-3AD203B41FA5}">
                      <a16:colId xmlns:a16="http://schemas.microsoft.com/office/drawing/2014/main" val="1814080008"/>
                    </a:ext>
                  </a:extLst>
                </a:gridCol>
              </a:tblGrid>
              <a:tr h="367182">
                <a:tc>
                  <a:txBody>
                    <a:bodyPr/>
                    <a:lstStyle/>
                    <a:p>
                      <a:pPr algn="just"/>
                      <a:r>
                        <a:rPr lang="en-US" sz="1400" b="1">
                          <a:latin typeface="+mn-lt"/>
                        </a:rPr>
                        <a:t>Metadata</a:t>
                      </a:r>
                      <a:endParaRPr lang="en-US" sz="1400">
                        <a:latin typeface="+mn-lt"/>
                      </a:endParaRPr>
                    </a:p>
                  </a:txBody>
                  <a:tcPr anchor="ctr"/>
                </a:tc>
                <a:tc>
                  <a:txBody>
                    <a:bodyPr/>
                    <a:lstStyle/>
                    <a:p>
                      <a:pPr algn="just"/>
                      <a:r>
                        <a:rPr lang="en-US" sz="1400" b="1">
                          <a:latin typeface="+mn-lt"/>
                        </a:rPr>
                        <a:t>Details</a:t>
                      </a:r>
                      <a:endParaRPr lang="en-US" sz="1400">
                        <a:latin typeface="+mn-lt"/>
                      </a:endParaRPr>
                    </a:p>
                  </a:txBody>
                  <a:tcPr anchor="ctr"/>
                </a:tc>
                <a:extLst>
                  <a:ext uri="{0D108BD9-81ED-4DB2-BD59-A6C34878D82A}">
                    <a16:rowId xmlns:a16="http://schemas.microsoft.com/office/drawing/2014/main" val="917810750"/>
                  </a:ext>
                </a:extLst>
              </a:tr>
              <a:tr h="456307">
                <a:tc>
                  <a:txBody>
                    <a:bodyPr/>
                    <a:lstStyle/>
                    <a:p>
                      <a:pPr algn="just"/>
                      <a:r>
                        <a:rPr lang="en-US" sz="1400" b="1" dirty="0">
                          <a:latin typeface="+mn-lt"/>
                        </a:rPr>
                        <a:t>Title</a:t>
                      </a:r>
                      <a:endParaRPr lang="en-US" sz="1400" dirty="0">
                        <a:latin typeface="+mn-lt"/>
                      </a:endParaRPr>
                    </a:p>
                  </a:txBody>
                  <a:tcPr anchor="ctr"/>
                </a:tc>
                <a:tc>
                  <a:txBody>
                    <a:bodyPr/>
                    <a:lstStyle/>
                    <a:p>
                      <a:pPr algn="just"/>
                      <a:r>
                        <a:rPr lang="en-US" sz="1400" dirty="0">
                          <a:latin typeface="+mn-lt"/>
                        </a:rPr>
                        <a:t>Research and design of </a:t>
                      </a:r>
                      <a:r>
                        <a:rPr lang="en-US" sz="1400" dirty="0" err="1">
                          <a:latin typeface="+mn-lt"/>
                        </a:rPr>
                        <a:t>Bootrom</a:t>
                      </a:r>
                      <a:r>
                        <a:rPr lang="en-US" sz="1400" dirty="0">
                          <a:latin typeface="+mn-lt"/>
                        </a:rPr>
                        <a:t> supporting secure boot mode </a:t>
                      </a:r>
                    </a:p>
                  </a:txBody>
                  <a:tcPr anchor="ctr"/>
                </a:tc>
                <a:extLst>
                  <a:ext uri="{0D108BD9-81ED-4DB2-BD59-A6C34878D82A}">
                    <a16:rowId xmlns:a16="http://schemas.microsoft.com/office/drawing/2014/main" val="3308988466"/>
                  </a:ext>
                </a:extLst>
              </a:tr>
              <a:tr h="367182">
                <a:tc>
                  <a:txBody>
                    <a:bodyPr/>
                    <a:lstStyle/>
                    <a:p>
                      <a:pPr algn="just"/>
                      <a:r>
                        <a:rPr lang="en-US" sz="1400" b="1" dirty="0">
                          <a:latin typeface="+mn-lt"/>
                        </a:rPr>
                        <a:t>Authors</a:t>
                      </a:r>
                      <a:endParaRPr lang="en-US" sz="1400" dirty="0">
                        <a:latin typeface="+mn-lt"/>
                      </a:endParaRPr>
                    </a:p>
                  </a:txBody>
                  <a:tcPr anchor="ctr"/>
                </a:tc>
                <a:tc>
                  <a:txBody>
                    <a:bodyPr/>
                    <a:lstStyle/>
                    <a:p>
                      <a:pPr algn="just"/>
                      <a:r>
                        <a:rPr lang="en-US" sz="1400" dirty="0">
                          <a:latin typeface="+mn-lt"/>
                        </a:rPr>
                        <a:t>Niu Bin ,LU </a:t>
                      </a:r>
                      <a:r>
                        <a:rPr lang="en-US" sz="1400" dirty="0" err="1">
                          <a:latin typeface="+mn-lt"/>
                        </a:rPr>
                        <a:t>Zhangjian</a:t>
                      </a:r>
                      <a:r>
                        <a:rPr lang="en-US" sz="1400" dirty="0">
                          <a:latin typeface="+mn-lt"/>
                        </a:rPr>
                        <a:t> </a:t>
                      </a:r>
                    </a:p>
                  </a:txBody>
                  <a:tcPr anchor="ctr"/>
                </a:tc>
                <a:extLst>
                  <a:ext uri="{0D108BD9-81ED-4DB2-BD59-A6C34878D82A}">
                    <a16:rowId xmlns:a16="http://schemas.microsoft.com/office/drawing/2014/main" val="236651351"/>
                  </a:ext>
                </a:extLst>
              </a:tr>
              <a:tr h="367182">
                <a:tc>
                  <a:txBody>
                    <a:bodyPr/>
                    <a:lstStyle/>
                    <a:p>
                      <a:pPr algn="just"/>
                      <a:r>
                        <a:rPr lang="en-US" sz="1400" b="1">
                          <a:latin typeface="+mn-lt"/>
                        </a:rPr>
                        <a:t>Affiliation</a:t>
                      </a:r>
                      <a:endParaRPr lang="en-US" sz="1400">
                        <a:latin typeface="+mn-lt"/>
                      </a:endParaRPr>
                    </a:p>
                  </a:txBody>
                  <a:tcPr anchor="ctr"/>
                </a:tc>
                <a:tc>
                  <a:txBody>
                    <a:bodyPr/>
                    <a:lstStyle/>
                    <a:p>
                      <a:pPr algn="just"/>
                      <a:r>
                        <a:rPr lang="en-US" sz="1400" dirty="0">
                          <a:latin typeface="+mn-lt"/>
                        </a:rPr>
                        <a:t>Smart-chip Microelectronics Technology </a:t>
                      </a:r>
                    </a:p>
                  </a:txBody>
                  <a:tcPr anchor="ctr"/>
                </a:tc>
                <a:extLst>
                  <a:ext uri="{0D108BD9-81ED-4DB2-BD59-A6C34878D82A}">
                    <a16:rowId xmlns:a16="http://schemas.microsoft.com/office/drawing/2014/main" val="4287230530"/>
                  </a:ext>
                </a:extLst>
              </a:tr>
              <a:tr h="798169">
                <a:tc>
                  <a:txBody>
                    <a:bodyPr/>
                    <a:lstStyle/>
                    <a:p>
                      <a:pPr algn="just"/>
                      <a:r>
                        <a:rPr lang="en-US" sz="1400" b="1" dirty="0">
                          <a:latin typeface="+mn-lt"/>
                        </a:rPr>
                        <a:t>Methods</a:t>
                      </a:r>
                    </a:p>
                  </a:txBody>
                  <a:tcPr/>
                </a:tc>
                <a:tc>
                  <a:txBody>
                    <a:bodyPr/>
                    <a:lstStyle/>
                    <a:p>
                      <a:pPr algn="just"/>
                      <a:r>
                        <a:rPr lang="en-US" sz="1400" dirty="0">
                          <a:latin typeface="+mn-lt"/>
                        </a:rPr>
                        <a:t>Highlights vulnerabilities in </a:t>
                      </a:r>
                      <a:r>
                        <a:rPr lang="en-US" sz="1400" b="1" dirty="0">
                          <a:latin typeface="+mn-lt"/>
                        </a:rPr>
                        <a:t>embedded system boot processes</a:t>
                      </a:r>
                      <a:r>
                        <a:rPr lang="en-US" sz="1400" dirty="0">
                          <a:latin typeface="+mn-lt"/>
                        </a:rPr>
                        <a:t>.</a:t>
                      </a:r>
                    </a:p>
                    <a:p>
                      <a:pPr algn="just"/>
                      <a:r>
                        <a:rPr lang="en-US" sz="1400" dirty="0">
                          <a:latin typeface="+mn-lt"/>
                        </a:rPr>
                        <a:t>Proposes a secure </a:t>
                      </a:r>
                      <a:r>
                        <a:rPr lang="en-US" sz="1400" dirty="0" err="1">
                          <a:latin typeface="+mn-lt"/>
                        </a:rPr>
                        <a:t>BootROM</a:t>
                      </a:r>
                      <a:r>
                        <a:rPr lang="en-US" sz="1400" dirty="0">
                          <a:latin typeface="+mn-lt"/>
                        </a:rPr>
                        <a:t> that </a:t>
                      </a:r>
                      <a:r>
                        <a:rPr lang="en-US" sz="1400" b="1" dirty="0">
                          <a:latin typeface="+mn-lt"/>
                        </a:rPr>
                        <a:t>verifies system image authenticity</a:t>
                      </a:r>
                      <a:r>
                        <a:rPr lang="en-US" sz="1400" dirty="0">
                          <a:latin typeface="+mn-lt"/>
                        </a:rPr>
                        <a:t> at startup.</a:t>
                      </a:r>
                    </a:p>
                    <a:p>
                      <a:pPr algn="just"/>
                      <a:r>
                        <a:rPr lang="en-US" sz="1400" dirty="0">
                          <a:latin typeface="+mn-lt"/>
                        </a:rPr>
                        <a:t>Emphasizes the </a:t>
                      </a:r>
                      <a:r>
                        <a:rPr lang="en-US" sz="1400" b="1" dirty="0">
                          <a:latin typeface="+mn-lt"/>
                        </a:rPr>
                        <a:t>critical role of </a:t>
                      </a:r>
                      <a:r>
                        <a:rPr lang="en-US" sz="1400" b="1" dirty="0" err="1">
                          <a:latin typeface="+mn-lt"/>
                        </a:rPr>
                        <a:t>BootROM</a:t>
                      </a:r>
                      <a:r>
                        <a:rPr lang="en-US" sz="1400" dirty="0">
                          <a:latin typeface="+mn-lt"/>
                        </a:rPr>
                        <a:t> in preventing unauthorized or fake firmware execution.</a:t>
                      </a:r>
                    </a:p>
                  </a:txBody>
                  <a:tcPr/>
                </a:tc>
                <a:extLst>
                  <a:ext uri="{0D108BD9-81ED-4DB2-BD59-A6C34878D82A}">
                    <a16:rowId xmlns:a16="http://schemas.microsoft.com/office/drawing/2014/main" val="3402308178"/>
                  </a:ext>
                </a:extLst>
              </a:tr>
              <a:tr h="367182">
                <a:tc>
                  <a:txBody>
                    <a:bodyPr/>
                    <a:lstStyle/>
                    <a:p>
                      <a:pPr algn="just"/>
                      <a:r>
                        <a:rPr lang="en-US" sz="1400" b="1" dirty="0">
                          <a:latin typeface="+mn-lt"/>
                        </a:rPr>
                        <a:t>Results</a:t>
                      </a:r>
                    </a:p>
                  </a:txBody>
                  <a:tcPr/>
                </a:tc>
                <a:tc>
                  <a:txBody>
                    <a:bodyPr/>
                    <a:lstStyle/>
                    <a:p>
                      <a:pPr algn="just"/>
                      <a:r>
                        <a:rPr lang="en-US" sz="1400" dirty="0">
                          <a:latin typeface="+mn-lt"/>
                        </a:rPr>
                        <a:t>Stronger </a:t>
                      </a:r>
                      <a:r>
                        <a:rPr lang="en-US" sz="1400" b="1" dirty="0">
                          <a:latin typeface="+mn-lt"/>
                        </a:rPr>
                        <a:t>defense against early-stage attacks</a:t>
                      </a:r>
                      <a:r>
                        <a:rPr lang="en-US" sz="1400" dirty="0">
                          <a:latin typeface="+mn-lt"/>
                        </a:rPr>
                        <a:t>.</a:t>
                      </a:r>
                    </a:p>
                    <a:p>
                      <a:pPr algn="just"/>
                      <a:r>
                        <a:rPr lang="en-US" sz="1400" dirty="0">
                          <a:latin typeface="+mn-lt"/>
                        </a:rPr>
                        <a:t>Ensures only </a:t>
                      </a:r>
                      <a:r>
                        <a:rPr lang="en-US" sz="1400" b="1" dirty="0">
                          <a:latin typeface="+mn-lt"/>
                        </a:rPr>
                        <a:t>trusted code</a:t>
                      </a:r>
                      <a:r>
                        <a:rPr lang="en-US" sz="1400" dirty="0">
                          <a:latin typeface="+mn-lt"/>
                        </a:rPr>
                        <a:t> is executed from boot.</a:t>
                      </a:r>
                    </a:p>
                    <a:p>
                      <a:pPr algn="just"/>
                      <a:r>
                        <a:rPr lang="en-US" sz="1400" dirty="0">
                          <a:latin typeface="+mn-lt"/>
                        </a:rPr>
                        <a:t>Lays foundation for trusted runtime environments.</a:t>
                      </a:r>
                    </a:p>
                    <a:p>
                      <a:pPr algn="just"/>
                      <a:endParaRPr lang="en-US" sz="1400" dirty="0">
                        <a:latin typeface="+mn-lt"/>
                      </a:endParaRPr>
                    </a:p>
                  </a:txBody>
                  <a:tcPr/>
                </a:tc>
                <a:extLst>
                  <a:ext uri="{0D108BD9-81ED-4DB2-BD59-A6C34878D82A}">
                    <a16:rowId xmlns:a16="http://schemas.microsoft.com/office/drawing/2014/main" val="481602290"/>
                  </a:ext>
                </a:extLst>
              </a:tr>
              <a:tr h="367182">
                <a:tc>
                  <a:txBody>
                    <a:bodyPr/>
                    <a:lstStyle/>
                    <a:p>
                      <a:pPr algn="just"/>
                      <a:r>
                        <a:rPr lang="en-US" sz="1400" b="1" dirty="0">
                          <a:latin typeface="+mn-lt"/>
                        </a:rPr>
                        <a:t>Research gaps</a:t>
                      </a:r>
                    </a:p>
                  </a:txBody>
                  <a:tcPr/>
                </a:tc>
                <a:tc>
                  <a:txBody>
                    <a:bodyPr/>
                    <a:lstStyle/>
                    <a:p>
                      <a:pPr algn="just"/>
                      <a:r>
                        <a:rPr lang="en-US" sz="1400" dirty="0">
                          <a:latin typeface="+mn-lt"/>
                        </a:rPr>
                        <a:t>Focused on </a:t>
                      </a:r>
                      <a:r>
                        <a:rPr lang="en-US" sz="1400" b="1" dirty="0">
                          <a:latin typeface="+mn-lt"/>
                        </a:rPr>
                        <a:t>image verification</a:t>
                      </a:r>
                      <a:r>
                        <a:rPr lang="en-US" sz="1400" dirty="0">
                          <a:latin typeface="+mn-lt"/>
                        </a:rPr>
                        <a:t>, lacks </a:t>
                      </a:r>
                      <a:r>
                        <a:rPr lang="en-US" sz="1400" b="1" dirty="0">
                          <a:latin typeface="+mn-lt"/>
                        </a:rPr>
                        <a:t>fine-grained execution control</a:t>
                      </a:r>
                      <a:r>
                        <a:rPr lang="en-US" sz="1400" dirty="0">
                          <a:latin typeface="+mn-lt"/>
                        </a:rPr>
                        <a:t>.</a:t>
                      </a:r>
                    </a:p>
                    <a:p>
                      <a:pPr algn="just"/>
                      <a:r>
                        <a:rPr lang="en-US" sz="1400" dirty="0">
                          <a:latin typeface="+mn-lt"/>
                        </a:rPr>
                        <a:t>Doesn’t address </a:t>
                      </a:r>
                      <a:r>
                        <a:rPr lang="en-US" sz="1400" b="1" dirty="0">
                          <a:latin typeface="+mn-lt"/>
                        </a:rPr>
                        <a:t>instruction-level access control</a:t>
                      </a:r>
                      <a:r>
                        <a:rPr lang="en-US" sz="1400" dirty="0">
                          <a:latin typeface="+mn-lt"/>
                        </a:rPr>
                        <a:t> or </a:t>
                      </a:r>
                      <a:r>
                        <a:rPr lang="en-US" sz="1400" b="1" dirty="0">
                          <a:latin typeface="+mn-lt"/>
                        </a:rPr>
                        <a:t>debugging security</a:t>
                      </a:r>
                      <a:r>
                        <a:rPr lang="en-US" sz="1400" dirty="0">
                          <a:latin typeface="+mn-lt"/>
                        </a:rPr>
                        <a:t>.</a:t>
                      </a:r>
                    </a:p>
                    <a:p>
                      <a:pPr algn="just"/>
                      <a:endParaRPr lang="en-US" sz="1400" dirty="0">
                        <a:latin typeface="+mn-lt"/>
                      </a:endParaRPr>
                    </a:p>
                  </a:txBody>
                  <a:tcPr/>
                </a:tc>
                <a:extLst>
                  <a:ext uri="{0D108BD9-81ED-4DB2-BD59-A6C34878D82A}">
                    <a16:rowId xmlns:a16="http://schemas.microsoft.com/office/drawing/2014/main" val="2708202970"/>
                  </a:ext>
                </a:extLst>
              </a:tr>
            </a:tbl>
          </a:graphicData>
        </a:graphic>
      </p:graphicFrame>
    </p:spTree>
    <p:extLst>
      <p:ext uri="{BB962C8B-B14F-4D97-AF65-F5344CB8AC3E}">
        <p14:creationId xmlns:p14="http://schemas.microsoft.com/office/powerpoint/2010/main" val="39517189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59977-955C-CC07-21DC-46833893B5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9EEFAD-99AF-B359-A58E-E8770EEE935C}"/>
              </a:ext>
            </a:extLst>
          </p:cNvPr>
          <p:cNvSpPr>
            <a:spLocks noGrp="1"/>
          </p:cNvSpPr>
          <p:nvPr>
            <p:ph type="title"/>
          </p:nvPr>
        </p:nvSpPr>
        <p:spPr/>
        <p:txBody>
          <a:bodyPr/>
          <a:lstStyle/>
          <a:p>
            <a:r>
              <a:rPr lang="en-US" dirty="0"/>
              <a:t>Literature Review</a:t>
            </a:r>
          </a:p>
        </p:txBody>
      </p:sp>
      <p:graphicFrame>
        <p:nvGraphicFramePr>
          <p:cNvPr id="9" name="Content Placeholder 8">
            <a:extLst>
              <a:ext uri="{FF2B5EF4-FFF2-40B4-BE49-F238E27FC236}">
                <a16:creationId xmlns:a16="http://schemas.microsoft.com/office/drawing/2014/main" id="{67B17046-D15A-039C-27B3-C0F1C2C025B0}"/>
              </a:ext>
            </a:extLst>
          </p:cNvPr>
          <p:cNvGraphicFramePr>
            <a:graphicFrameLocks noGrp="1"/>
          </p:cNvGraphicFramePr>
          <p:nvPr>
            <p:ph sz="quarter" idx="13"/>
            <p:extLst>
              <p:ext uri="{D42A27DB-BD31-4B8C-83A1-F6EECF244321}">
                <p14:modId xmlns:p14="http://schemas.microsoft.com/office/powerpoint/2010/main" val="488065318"/>
              </p:ext>
            </p:extLst>
          </p:nvPr>
        </p:nvGraphicFramePr>
        <p:xfrm>
          <a:off x="559837" y="2323070"/>
          <a:ext cx="10604800" cy="4345153"/>
        </p:xfrm>
        <a:graphic>
          <a:graphicData uri="http://schemas.openxmlformats.org/drawingml/2006/table">
            <a:tbl>
              <a:tblPr firstRow="1" bandRow="1">
                <a:tableStyleId>{8A107856-5554-42FB-B03E-39F5DBC370BA}</a:tableStyleId>
              </a:tblPr>
              <a:tblGrid>
                <a:gridCol w="1286212">
                  <a:extLst>
                    <a:ext uri="{9D8B030D-6E8A-4147-A177-3AD203B41FA5}">
                      <a16:colId xmlns:a16="http://schemas.microsoft.com/office/drawing/2014/main" val="2353051052"/>
                    </a:ext>
                  </a:extLst>
                </a:gridCol>
                <a:gridCol w="9318588">
                  <a:extLst>
                    <a:ext uri="{9D8B030D-6E8A-4147-A177-3AD203B41FA5}">
                      <a16:colId xmlns:a16="http://schemas.microsoft.com/office/drawing/2014/main" val="1814080008"/>
                    </a:ext>
                  </a:extLst>
                </a:gridCol>
              </a:tblGrid>
              <a:tr h="299380">
                <a:tc>
                  <a:txBody>
                    <a:bodyPr/>
                    <a:lstStyle/>
                    <a:p>
                      <a:pPr algn="just"/>
                      <a:r>
                        <a:rPr lang="en-US" sz="1400" b="1" dirty="0"/>
                        <a:t>Metadata</a:t>
                      </a:r>
                      <a:endParaRPr lang="en-US" sz="1400" dirty="0"/>
                    </a:p>
                  </a:txBody>
                  <a:tcPr anchor="ctr"/>
                </a:tc>
                <a:tc>
                  <a:txBody>
                    <a:bodyPr/>
                    <a:lstStyle/>
                    <a:p>
                      <a:pPr algn="just"/>
                      <a:r>
                        <a:rPr lang="en-US" sz="1400" b="1"/>
                        <a:t>Details</a:t>
                      </a:r>
                      <a:endParaRPr lang="en-US" sz="1400"/>
                    </a:p>
                  </a:txBody>
                  <a:tcPr anchor="ctr"/>
                </a:tc>
                <a:extLst>
                  <a:ext uri="{0D108BD9-81ED-4DB2-BD59-A6C34878D82A}">
                    <a16:rowId xmlns:a16="http://schemas.microsoft.com/office/drawing/2014/main" val="917810750"/>
                  </a:ext>
                </a:extLst>
              </a:tr>
              <a:tr h="372048">
                <a:tc>
                  <a:txBody>
                    <a:bodyPr/>
                    <a:lstStyle/>
                    <a:p>
                      <a:pPr algn="just"/>
                      <a:r>
                        <a:rPr lang="en-US" sz="1400" b="1" dirty="0"/>
                        <a:t>Title</a:t>
                      </a:r>
                      <a:endParaRPr lang="en-US" sz="1400" dirty="0"/>
                    </a:p>
                  </a:txBody>
                  <a:tcPr anchor="ctr"/>
                </a:tc>
                <a:tc>
                  <a:txBody>
                    <a:bodyPr/>
                    <a:lstStyle/>
                    <a:p>
                      <a:pPr algn="just"/>
                      <a:r>
                        <a:rPr lang="en-US" sz="1400" dirty="0"/>
                        <a:t>Secure boot of Embedded Applications</a:t>
                      </a:r>
                    </a:p>
                  </a:txBody>
                  <a:tcPr anchor="ctr"/>
                </a:tc>
                <a:extLst>
                  <a:ext uri="{0D108BD9-81ED-4DB2-BD59-A6C34878D82A}">
                    <a16:rowId xmlns:a16="http://schemas.microsoft.com/office/drawing/2014/main" val="3308988466"/>
                  </a:ext>
                </a:extLst>
              </a:tr>
              <a:tr h="488032">
                <a:tc>
                  <a:txBody>
                    <a:bodyPr/>
                    <a:lstStyle/>
                    <a:p>
                      <a:pPr algn="just"/>
                      <a:r>
                        <a:rPr lang="en-US" sz="1400" b="1" dirty="0"/>
                        <a:t>Authors</a:t>
                      </a:r>
                      <a:endParaRPr lang="en-US" sz="1400" dirty="0"/>
                    </a:p>
                  </a:txBody>
                  <a:tcPr anchor="ctr"/>
                </a:tc>
                <a:tc>
                  <a:txBody>
                    <a:bodyPr/>
                    <a:lstStyle/>
                    <a:p>
                      <a:pPr algn="just"/>
                      <a:r>
                        <a:rPr lang="en-US" sz="1400" dirty="0"/>
                        <a:t>Karthikeyan A, Assistant Professor (Senior), SENSE, VIT University</a:t>
                      </a:r>
                    </a:p>
                    <a:p>
                      <a:pPr algn="just"/>
                      <a:r>
                        <a:rPr lang="en-US" sz="1400" dirty="0"/>
                        <a:t>Rashmi R V </a:t>
                      </a:r>
                      <a:r>
                        <a:rPr lang="en-US" sz="1400" dirty="0" err="1"/>
                        <a:t>M.Tech</a:t>
                      </a:r>
                      <a:r>
                        <a:rPr lang="en-US" sz="1400" dirty="0"/>
                        <a:t> Student ,SENSE VIT University, Vellore</a:t>
                      </a:r>
                    </a:p>
                  </a:txBody>
                  <a:tcPr anchor="ctr"/>
                </a:tc>
                <a:extLst>
                  <a:ext uri="{0D108BD9-81ED-4DB2-BD59-A6C34878D82A}">
                    <a16:rowId xmlns:a16="http://schemas.microsoft.com/office/drawing/2014/main" val="236651351"/>
                  </a:ext>
                </a:extLst>
              </a:tr>
              <a:tr h="299380">
                <a:tc>
                  <a:txBody>
                    <a:bodyPr/>
                    <a:lstStyle/>
                    <a:p>
                      <a:pPr algn="just"/>
                      <a:r>
                        <a:rPr lang="en-US" sz="1400" b="1" dirty="0"/>
                        <a:t>Affiliation</a:t>
                      </a:r>
                      <a:endParaRPr lang="en-US" sz="1400" dirty="0"/>
                    </a:p>
                  </a:txBody>
                  <a:tcPr anchor="ctr"/>
                </a:tc>
                <a:tc>
                  <a:txBody>
                    <a:bodyPr/>
                    <a:lstStyle/>
                    <a:p>
                      <a:pPr algn="just"/>
                      <a:r>
                        <a:rPr lang="en-US" sz="1400" dirty="0"/>
                        <a:t>VIT University, Vellore</a:t>
                      </a:r>
                    </a:p>
                  </a:txBody>
                  <a:tcPr anchor="ctr"/>
                </a:tc>
                <a:extLst>
                  <a:ext uri="{0D108BD9-81ED-4DB2-BD59-A6C34878D82A}">
                    <a16:rowId xmlns:a16="http://schemas.microsoft.com/office/drawing/2014/main" val="4287230530"/>
                  </a:ext>
                </a:extLst>
              </a:tr>
              <a:tr h="650785">
                <a:tc>
                  <a:txBody>
                    <a:bodyPr/>
                    <a:lstStyle/>
                    <a:p>
                      <a:pPr algn="just"/>
                      <a:r>
                        <a:rPr lang="en-US" sz="1400" b="1"/>
                        <a:t>Purpose</a:t>
                      </a:r>
                      <a:endParaRPr lang="en-US" sz="1400"/>
                    </a:p>
                  </a:txBody>
                  <a:tcPr anchor="ctr"/>
                </a:tc>
                <a:tc>
                  <a:txBody>
                    <a:bodyPr/>
                    <a:lstStyle/>
                    <a:p>
                      <a:pPr algn="just"/>
                      <a:r>
                        <a:rPr lang="en-US" sz="1400" dirty="0"/>
                        <a:t>To analyze </a:t>
                      </a:r>
                      <a:r>
                        <a:rPr lang="en-US" sz="1400" b="1" dirty="0"/>
                        <a:t>secure boot techniques</a:t>
                      </a:r>
                      <a:r>
                        <a:rPr lang="en-US" sz="1400" dirty="0"/>
                        <a:t> across different embedded applications to protect OS kernels from security threats.</a:t>
                      </a:r>
                    </a:p>
                  </a:txBody>
                  <a:tcPr anchor="ctr"/>
                </a:tc>
                <a:extLst>
                  <a:ext uri="{0D108BD9-81ED-4DB2-BD59-A6C34878D82A}">
                    <a16:rowId xmlns:a16="http://schemas.microsoft.com/office/drawing/2014/main" val="3402308178"/>
                  </a:ext>
                </a:extLst>
              </a:tr>
              <a:tr h="889941">
                <a:tc>
                  <a:txBody>
                    <a:bodyPr/>
                    <a:lstStyle/>
                    <a:p>
                      <a:pPr algn="just"/>
                      <a:r>
                        <a:rPr lang="en-US" sz="1400" b="1" dirty="0">
                          <a:latin typeface="+mn-lt"/>
                        </a:rPr>
                        <a:t>Method</a:t>
                      </a:r>
                    </a:p>
                  </a:txBody>
                  <a:tcPr/>
                </a:tc>
                <a:tc>
                  <a:txBody>
                    <a:bodyPr/>
                    <a:lstStyle/>
                    <a:p>
                      <a:pPr algn="just"/>
                      <a:r>
                        <a:rPr lang="en-US" sz="1400" dirty="0"/>
                        <a:t>Focuses on </a:t>
                      </a:r>
                      <a:r>
                        <a:rPr lang="en-US" sz="1400" b="1" dirty="0"/>
                        <a:t>Trusted Computing</a:t>
                      </a:r>
                      <a:r>
                        <a:rPr lang="en-US" sz="1400" dirty="0"/>
                        <a:t>: using hardware-software co-design to ensure security.</a:t>
                      </a:r>
                    </a:p>
                    <a:p>
                      <a:pPr algn="just"/>
                      <a:r>
                        <a:rPr lang="en-US" sz="1400" dirty="0"/>
                        <a:t>Discusses </a:t>
                      </a:r>
                      <a:r>
                        <a:rPr lang="en-US" sz="1400" b="1" dirty="0"/>
                        <a:t>secure boot processes</a:t>
                      </a:r>
                      <a:r>
                        <a:rPr lang="en-US" sz="1400" dirty="0"/>
                        <a:t> that authenticate OS images </a:t>
                      </a:r>
                      <a:r>
                        <a:rPr lang="en-US" sz="1400" b="1" dirty="0"/>
                        <a:t>against trusted hardware credentials</a:t>
                      </a:r>
                      <a:r>
                        <a:rPr lang="en-US" sz="1400" dirty="0"/>
                        <a:t>.</a:t>
                      </a:r>
                    </a:p>
                    <a:p>
                      <a:pPr algn="just"/>
                      <a:r>
                        <a:rPr lang="en-US" sz="1400" dirty="0"/>
                        <a:t>Surveys different implementations of secure boot across various smart connected devices.</a:t>
                      </a:r>
                    </a:p>
                    <a:p>
                      <a:pPr algn="just"/>
                      <a:endParaRPr lang="en-US" sz="1400" dirty="0">
                        <a:latin typeface="+mn-lt"/>
                      </a:endParaRPr>
                    </a:p>
                  </a:txBody>
                  <a:tcPr/>
                </a:tc>
                <a:extLst>
                  <a:ext uri="{0D108BD9-81ED-4DB2-BD59-A6C34878D82A}">
                    <a16:rowId xmlns:a16="http://schemas.microsoft.com/office/drawing/2014/main" val="481602290"/>
                  </a:ext>
                </a:extLst>
              </a:tr>
              <a:tr h="488032">
                <a:tc>
                  <a:txBody>
                    <a:bodyPr/>
                    <a:lstStyle/>
                    <a:p>
                      <a:pPr algn="just"/>
                      <a:r>
                        <a:rPr lang="en-US" sz="1400" b="1" dirty="0">
                          <a:latin typeface="+mn-lt"/>
                        </a:rPr>
                        <a:t>Results</a:t>
                      </a:r>
                    </a:p>
                  </a:txBody>
                  <a:tcPr/>
                </a:tc>
                <a:tc>
                  <a:txBody>
                    <a:bodyPr/>
                    <a:lstStyle/>
                    <a:p>
                      <a:pPr algn="just"/>
                      <a:r>
                        <a:rPr lang="en-US" sz="1400" dirty="0"/>
                        <a:t>Secure boot </a:t>
                      </a:r>
                      <a:r>
                        <a:rPr lang="en-US" sz="1400" b="1" dirty="0"/>
                        <a:t>ensures only trusted OS images</a:t>
                      </a:r>
                      <a:r>
                        <a:rPr lang="en-US" sz="1400" dirty="0"/>
                        <a:t> are loaded at startup.</a:t>
                      </a:r>
                    </a:p>
                    <a:p>
                      <a:pPr algn="just"/>
                      <a:r>
                        <a:rPr lang="en-US" sz="1400" dirty="0"/>
                        <a:t>Protects devices like </a:t>
                      </a:r>
                      <a:r>
                        <a:rPr lang="en-US" sz="1400" b="1" dirty="0"/>
                        <a:t>medical implants, banking terminals, and industrial control systems</a:t>
                      </a:r>
                      <a:r>
                        <a:rPr lang="en-US" sz="1400" dirty="0"/>
                        <a:t> from malware injection.</a:t>
                      </a:r>
                    </a:p>
                  </a:txBody>
                  <a:tcPr/>
                </a:tc>
                <a:extLst>
                  <a:ext uri="{0D108BD9-81ED-4DB2-BD59-A6C34878D82A}">
                    <a16:rowId xmlns:a16="http://schemas.microsoft.com/office/drawing/2014/main" val="348494071"/>
                  </a:ext>
                </a:extLst>
              </a:tr>
              <a:tr h="688986">
                <a:tc>
                  <a:txBody>
                    <a:bodyPr/>
                    <a:lstStyle/>
                    <a:p>
                      <a:pPr algn="just"/>
                      <a:r>
                        <a:rPr lang="en-US" sz="1400" b="1" dirty="0">
                          <a:latin typeface="+mn-lt"/>
                        </a:rPr>
                        <a:t>Research gaps</a:t>
                      </a:r>
                    </a:p>
                  </a:txBody>
                  <a:tcPr/>
                </a:tc>
                <a:tc>
                  <a:txBody>
                    <a:bodyPr/>
                    <a:lstStyle/>
                    <a:p>
                      <a:pPr algn="just"/>
                      <a:r>
                        <a:rPr lang="en-US" sz="1400" dirty="0"/>
                        <a:t>Focuses mainly on </a:t>
                      </a:r>
                      <a:r>
                        <a:rPr lang="en-US" sz="1400" b="1" dirty="0"/>
                        <a:t>OS-level protection</a:t>
                      </a:r>
                      <a:r>
                        <a:rPr lang="en-US" sz="1400" dirty="0"/>
                        <a:t>, not on </a:t>
                      </a:r>
                      <a:r>
                        <a:rPr lang="en-US" sz="1400" b="1" dirty="0"/>
                        <a:t>instruction-level execution control</a:t>
                      </a:r>
                      <a:r>
                        <a:rPr lang="en-US" sz="1400" dirty="0"/>
                        <a:t>.</a:t>
                      </a:r>
                    </a:p>
                    <a:p>
                      <a:pPr algn="just"/>
                      <a:r>
                        <a:rPr lang="en-US" sz="1400" dirty="0"/>
                        <a:t>Does not address </a:t>
                      </a:r>
                      <a:r>
                        <a:rPr lang="en-US" sz="1400" b="1" dirty="0"/>
                        <a:t>fine-grained key-based command authorization</a:t>
                      </a:r>
                      <a:r>
                        <a:rPr lang="en-US" sz="1400" dirty="0"/>
                        <a:t> inside the processor itself.</a:t>
                      </a:r>
                    </a:p>
                    <a:p>
                      <a:pPr algn="just"/>
                      <a:endParaRPr lang="en-US" sz="1400" dirty="0">
                        <a:latin typeface="+mn-lt"/>
                      </a:endParaRPr>
                    </a:p>
                  </a:txBody>
                  <a:tcPr/>
                </a:tc>
                <a:extLst>
                  <a:ext uri="{0D108BD9-81ED-4DB2-BD59-A6C34878D82A}">
                    <a16:rowId xmlns:a16="http://schemas.microsoft.com/office/drawing/2014/main" val="2708202970"/>
                  </a:ext>
                </a:extLst>
              </a:tr>
            </a:tbl>
          </a:graphicData>
        </a:graphic>
      </p:graphicFrame>
    </p:spTree>
    <p:extLst>
      <p:ext uri="{BB962C8B-B14F-4D97-AF65-F5344CB8AC3E}">
        <p14:creationId xmlns:p14="http://schemas.microsoft.com/office/powerpoint/2010/main" val="3085046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F0D77-2D3B-617E-D730-03F579AF8D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9B0830-B2A4-C4E1-C822-4172DA4EBA41}"/>
              </a:ext>
            </a:extLst>
          </p:cNvPr>
          <p:cNvSpPr>
            <a:spLocks noGrp="1"/>
          </p:cNvSpPr>
          <p:nvPr>
            <p:ph type="title"/>
          </p:nvPr>
        </p:nvSpPr>
        <p:spPr/>
        <p:txBody>
          <a:bodyPr/>
          <a:lstStyle/>
          <a:p>
            <a:r>
              <a:rPr lang="en-US" dirty="0"/>
              <a:t>Literature Review</a:t>
            </a:r>
          </a:p>
        </p:txBody>
      </p:sp>
      <p:graphicFrame>
        <p:nvGraphicFramePr>
          <p:cNvPr id="9" name="Content Placeholder 8">
            <a:extLst>
              <a:ext uri="{FF2B5EF4-FFF2-40B4-BE49-F238E27FC236}">
                <a16:creationId xmlns:a16="http://schemas.microsoft.com/office/drawing/2014/main" id="{20AF2D14-900C-BB75-7F88-173C3FB64BFB}"/>
              </a:ext>
            </a:extLst>
          </p:cNvPr>
          <p:cNvGraphicFramePr>
            <a:graphicFrameLocks noGrp="1"/>
          </p:cNvGraphicFramePr>
          <p:nvPr>
            <p:ph sz="quarter" idx="13"/>
            <p:extLst>
              <p:ext uri="{D42A27DB-BD31-4B8C-83A1-F6EECF244321}">
                <p14:modId xmlns:p14="http://schemas.microsoft.com/office/powerpoint/2010/main" val="4246705836"/>
              </p:ext>
            </p:extLst>
          </p:nvPr>
        </p:nvGraphicFramePr>
        <p:xfrm>
          <a:off x="643812" y="2323070"/>
          <a:ext cx="10651453" cy="4217552"/>
        </p:xfrm>
        <a:graphic>
          <a:graphicData uri="http://schemas.openxmlformats.org/drawingml/2006/table">
            <a:tbl>
              <a:tblPr firstRow="1" bandRow="1">
                <a:tableStyleId>{8A107856-5554-42FB-B03E-39F5DBC370BA}</a:tableStyleId>
              </a:tblPr>
              <a:tblGrid>
                <a:gridCol w="1332865">
                  <a:extLst>
                    <a:ext uri="{9D8B030D-6E8A-4147-A177-3AD203B41FA5}">
                      <a16:colId xmlns:a16="http://schemas.microsoft.com/office/drawing/2014/main" val="2353051052"/>
                    </a:ext>
                  </a:extLst>
                </a:gridCol>
                <a:gridCol w="9318588">
                  <a:extLst>
                    <a:ext uri="{9D8B030D-6E8A-4147-A177-3AD203B41FA5}">
                      <a16:colId xmlns:a16="http://schemas.microsoft.com/office/drawing/2014/main" val="1814080008"/>
                    </a:ext>
                  </a:extLst>
                </a:gridCol>
              </a:tblGrid>
              <a:tr h="299380">
                <a:tc>
                  <a:txBody>
                    <a:bodyPr/>
                    <a:lstStyle/>
                    <a:p>
                      <a:pPr algn="just"/>
                      <a:r>
                        <a:rPr lang="en-US" sz="1400" b="1" dirty="0"/>
                        <a:t>Metadata</a:t>
                      </a:r>
                      <a:endParaRPr lang="en-US" sz="1400" dirty="0"/>
                    </a:p>
                  </a:txBody>
                  <a:tcPr anchor="ctr"/>
                </a:tc>
                <a:tc>
                  <a:txBody>
                    <a:bodyPr/>
                    <a:lstStyle/>
                    <a:p>
                      <a:pPr algn="just"/>
                      <a:r>
                        <a:rPr lang="en-US" sz="1400" b="1"/>
                        <a:t>Details</a:t>
                      </a:r>
                      <a:endParaRPr lang="en-US" sz="1400"/>
                    </a:p>
                  </a:txBody>
                  <a:tcPr anchor="ctr"/>
                </a:tc>
                <a:extLst>
                  <a:ext uri="{0D108BD9-81ED-4DB2-BD59-A6C34878D82A}">
                    <a16:rowId xmlns:a16="http://schemas.microsoft.com/office/drawing/2014/main" val="917810750"/>
                  </a:ext>
                </a:extLst>
              </a:tr>
              <a:tr h="372048">
                <a:tc>
                  <a:txBody>
                    <a:bodyPr/>
                    <a:lstStyle/>
                    <a:p>
                      <a:r>
                        <a:rPr lang="en-US" sz="1400" b="1"/>
                        <a:t>Title</a:t>
                      </a:r>
                      <a:endParaRPr lang="en-US" sz="1400"/>
                    </a:p>
                  </a:txBody>
                  <a:tcPr anchor="ctr"/>
                </a:tc>
                <a:tc>
                  <a:txBody>
                    <a:bodyPr/>
                    <a:lstStyle/>
                    <a:p>
                      <a:r>
                        <a:rPr lang="en-US" sz="1400" dirty="0"/>
                        <a:t>Embedded Software Security through Key-Based Control Flow Obfuscation</a:t>
                      </a:r>
                    </a:p>
                  </a:txBody>
                  <a:tcPr anchor="ctr"/>
                </a:tc>
                <a:extLst>
                  <a:ext uri="{0D108BD9-81ED-4DB2-BD59-A6C34878D82A}">
                    <a16:rowId xmlns:a16="http://schemas.microsoft.com/office/drawing/2014/main" val="3308988466"/>
                  </a:ext>
                </a:extLst>
              </a:tr>
              <a:tr h="488032">
                <a:tc>
                  <a:txBody>
                    <a:bodyPr/>
                    <a:lstStyle/>
                    <a:p>
                      <a:r>
                        <a:rPr lang="en-US" sz="1400" b="1"/>
                        <a:t>Authors</a:t>
                      </a:r>
                      <a:endParaRPr lang="en-US" sz="1400"/>
                    </a:p>
                  </a:txBody>
                  <a:tcPr anchor="ctr"/>
                </a:tc>
                <a:tc>
                  <a:txBody>
                    <a:bodyPr/>
                    <a:lstStyle/>
                    <a:p>
                      <a:r>
                        <a:rPr lang="en-US" sz="1400"/>
                        <a:t>Rajat Subhra Chakraborty, Seetharam Narasimhan, Swarup Bhunia</a:t>
                      </a:r>
                    </a:p>
                  </a:txBody>
                  <a:tcPr anchor="ctr"/>
                </a:tc>
                <a:extLst>
                  <a:ext uri="{0D108BD9-81ED-4DB2-BD59-A6C34878D82A}">
                    <a16:rowId xmlns:a16="http://schemas.microsoft.com/office/drawing/2014/main" val="236651351"/>
                  </a:ext>
                </a:extLst>
              </a:tr>
              <a:tr h="299380">
                <a:tc>
                  <a:txBody>
                    <a:bodyPr/>
                    <a:lstStyle/>
                    <a:p>
                      <a:r>
                        <a:rPr lang="en-US" sz="1400" b="1" dirty="0"/>
                        <a:t>Affiliation</a:t>
                      </a:r>
                      <a:endParaRPr lang="en-US" sz="1400" dirty="0"/>
                    </a:p>
                  </a:txBody>
                  <a:tcPr anchor="ctr"/>
                </a:tc>
                <a:tc>
                  <a:txBody>
                    <a:bodyPr/>
                    <a:lstStyle/>
                    <a:p>
                      <a:r>
                        <a:rPr lang="en-US" sz="1400" dirty="0"/>
                        <a:t>IIT Kharagpur, India and Case Western Reserve University, USA</a:t>
                      </a:r>
                    </a:p>
                  </a:txBody>
                  <a:tcPr anchor="ctr"/>
                </a:tc>
                <a:extLst>
                  <a:ext uri="{0D108BD9-81ED-4DB2-BD59-A6C34878D82A}">
                    <a16:rowId xmlns:a16="http://schemas.microsoft.com/office/drawing/2014/main" val="4287230530"/>
                  </a:ext>
                </a:extLst>
              </a:tr>
              <a:tr h="650785">
                <a:tc>
                  <a:txBody>
                    <a:bodyPr/>
                    <a:lstStyle/>
                    <a:p>
                      <a:pPr algn="just"/>
                      <a:r>
                        <a:rPr lang="en-US" sz="1400" b="1"/>
                        <a:t>Purpose</a:t>
                      </a:r>
                      <a:endParaRPr lang="en-US" sz="1400"/>
                    </a:p>
                  </a:txBody>
                  <a:tcPr anchor="ctr"/>
                </a:tc>
                <a:tc>
                  <a:txBody>
                    <a:bodyPr/>
                    <a:lstStyle/>
                    <a:p>
                      <a:r>
                        <a:rPr lang="en-US" sz="1400" dirty="0"/>
                        <a:t>To develop a lightweight, key-based control flow obfuscation technique to protect embedded software from piracy, reverse engineering, and malicious modification.</a:t>
                      </a:r>
                    </a:p>
                  </a:txBody>
                  <a:tcPr anchor="ctr"/>
                </a:tc>
                <a:extLst>
                  <a:ext uri="{0D108BD9-81ED-4DB2-BD59-A6C34878D82A}">
                    <a16:rowId xmlns:a16="http://schemas.microsoft.com/office/drawing/2014/main" val="3402308178"/>
                  </a:ext>
                </a:extLst>
              </a:tr>
              <a:tr h="889941">
                <a:tc>
                  <a:txBody>
                    <a:bodyPr/>
                    <a:lstStyle/>
                    <a:p>
                      <a:pPr algn="just"/>
                      <a:r>
                        <a:rPr lang="en-US" sz="1400" b="1" dirty="0">
                          <a:latin typeface="+mn-lt"/>
                        </a:rPr>
                        <a:t>Method</a:t>
                      </a:r>
                    </a:p>
                  </a:txBody>
                  <a:tcPr/>
                </a:tc>
                <a:tc>
                  <a:txBody>
                    <a:bodyPr/>
                    <a:lstStyle/>
                    <a:p>
                      <a:pPr algn="just"/>
                      <a:r>
                        <a:rPr lang="en-US" sz="1400" dirty="0"/>
                        <a:t>Introduces a non-cryptographic key-matching mechanism embedded in program control flow. Keys are dynamically generated based on execution traces and must match expected values during runtime to ensure correct execution. Includes optional watermarking for software ownership verification.</a:t>
                      </a:r>
                      <a:endParaRPr lang="en-US" sz="1400" dirty="0">
                        <a:latin typeface="+mn-lt"/>
                      </a:endParaRPr>
                    </a:p>
                  </a:txBody>
                  <a:tcPr/>
                </a:tc>
                <a:extLst>
                  <a:ext uri="{0D108BD9-81ED-4DB2-BD59-A6C34878D82A}">
                    <a16:rowId xmlns:a16="http://schemas.microsoft.com/office/drawing/2014/main" val="481602290"/>
                  </a:ext>
                </a:extLst>
              </a:tr>
              <a:tr h="488032">
                <a:tc>
                  <a:txBody>
                    <a:bodyPr/>
                    <a:lstStyle/>
                    <a:p>
                      <a:pPr algn="just"/>
                      <a:r>
                        <a:rPr lang="en-US" sz="1400" b="1" dirty="0">
                          <a:latin typeface="+mn-lt"/>
                        </a:rPr>
                        <a:t>Results</a:t>
                      </a:r>
                    </a:p>
                  </a:txBody>
                  <a:tcPr/>
                </a:tc>
                <a:tc>
                  <a:txBody>
                    <a:bodyPr/>
                    <a:lstStyle/>
                    <a:p>
                      <a:r>
                        <a:rPr lang="en-US" sz="1400" dirty="0"/>
                        <a:t>Achieves high resistance to static and dynamic analysis attacks. Simulation on MIPS assembly programs shows low computational overhead and approximately 10% increase in code size.</a:t>
                      </a:r>
                    </a:p>
                  </a:txBody>
                  <a:tcPr anchor="ctr"/>
                </a:tc>
                <a:extLst>
                  <a:ext uri="{0D108BD9-81ED-4DB2-BD59-A6C34878D82A}">
                    <a16:rowId xmlns:a16="http://schemas.microsoft.com/office/drawing/2014/main" val="348494071"/>
                  </a:ext>
                </a:extLst>
              </a:tr>
              <a:tr h="688986">
                <a:tc>
                  <a:txBody>
                    <a:bodyPr/>
                    <a:lstStyle/>
                    <a:p>
                      <a:pPr algn="just"/>
                      <a:r>
                        <a:rPr lang="en-US" sz="1400" b="1" dirty="0">
                          <a:latin typeface="+mn-lt"/>
                        </a:rPr>
                        <a:t>Research gaps</a:t>
                      </a:r>
                    </a:p>
                  </a:txBody>
                  <a:tcPr/>
                </a:tc>
                <a:tc>
                  <a:txBody>
                    <a:bodyPr/>
                    <a:lstStyle/>
                    <a:p>
                      <a:pPr algn="just"/>
                      <a:r>
                        <a:rPr lang="en-US" sz="1400" dirty="0"/>
                        <a:t>Focuses on control flow obfuscation but does not address broader system-level security measures or integration with secure boot or hardware-enforced protections.</a:t>
                      </a:r>
                      <a:endParaRPr lang="en-US" sz="1400" dirty="0">
                        <a:latin typeface="+mn-lt"/>
                      </a:endParaRPr>
                    </a:p>
                  </a:txBody>
                  <a:tcPr/>
                </a:tc>
                <a:extLst>
                  <a:ext uri="{0D108BD9-81ED-4DB2-BD59-A6C34878D82A}">
                    <a16:rowId xmlns:a16="http://schemas.microsoft.com/office/drawing/2014/main" val="2708202970"/>
                  </a:ext>
                </a:extLst>
              </a:tr>
            </a:tbl>
          </a:graphicData>
        </a:graphic>
      </p:graphicFrame>
    </p:spTree>
    <p:extLst>
      <p:ext uri="{BB962C8B-B14F-4D97-AF65-F5344CB8AC3E}">
        <p14:creationId xmlns:p14="http://schemas.microsoft.com/office/powerpoint/2010/main" val="144364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32DAE-0C39-F073-A0A4-2877B955C0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96BBC4-80AA-8793-EF45-FFD494DACC76}"/>
              </a:ext>
            </a:extLst>
          </p:cNvPr>
          <p:cNvSpPr>
            <a:spLocks noGrp="1"/>
          </p:cNvSpPr>
          <p:nvPr>
            <p:ph type="title"/>
          </p:nvPr>
        </p:nvSpPr>
        <p:spPr/>
        <p:txBody>
          <a:bodyPr/>
          <a:lstStyle/>
          <a:p>
            <a:r>
              <a:rPr lang="en-US" dirty="0"/>
              <a:t>Literature Review</a:t>
            </a:r>
          </a:p>
        </p:txBody>
      </p:sp>
      <p:graphicFrame>
        <p:nvGraphicFramePr>
          <p:cNvPr id="9" name="Content Placeholder 8">
            <a:extLst>
              <a:ext uri="{FF2B5EF4-FFF2-40B4-BE49-F238E27FC236}">
                <a16:creationId xmlns:a16="http://schemas.microsoft.com/office/drawing/2014/main" id="{EA1EA792-D8AE-E2D7-F7EC-CDAFAEB3F524}"/>
              </a:ext>
            </a:extLst>
          </p:cNvPr>
          <p:cNvGraphicFramePr>
            <a:graphicFrameLocks noGrp="1"/>
          </p:cNvGraphicFramePr>
          <p:nvPr>
            <p:ph sz="quarter" idx="13"/>
            <p:extLst>
              <p:ext uri="{D42A27DB-BD31-4B8C-83A1-F6EECF244321}">
                <p14:modId xmlns:p14="http://schemas.microsoft.com/office/powerpoint/2010/main" val="3689500885"/>
              </p:ext>
            </p:extLst>
          </p:nvPr>
        </p:nvGraphicFramePr>
        <p:xfrm>
          <a:off x="643812" y="2323070"/>
          <a:ext cx="10651453" cy="4217552"/>
        </p:xfrm>
        <a:graphic>
          <a:graphicData uri="http://schemas.openxmlformats.org/drawingml/2006/table">
            <a:tbl>
              <a:tblPr firstRow="1" bandRow="1">
                <a:tableStyleId>{8A107856-5554-42FB-B03E-39F5DBC370BA}</a:tableStyleId>
              </a:tblPr>
              <a:tblGrid>
                <a:gridCol w="1332865">
                  <a:extLst>
                    <a:ext uri="{9D8B030D-6E8A-4147-A177-3AD203B41FA5}">
                      <a16:colId xmlns:a16="http://schemas.microsoft.com/office/drawing/2014/main" val="2353051052"/>
                    </a:ext>
                  </a:extLst>
                </a:gridCol>
                <a:gridCol w="9318588">
                  <a:extLst>
                    <a:ext uri="{9D8B030D-6E8A-4147-A177-3AD203B41FA5}">
                      <a16:colId xmlns:a16="http://schemas.microsoft.com/office/drawing/2014/main" val="1814080008"/>
                    </a:ext>
                  </a:extLst>
                </a:gridCol>
              </a:tblGrid>
              <a:tr h="299380">
                <a:tc>
                  <a:txBody>
                    <a:bodyPr/>
                    <a:lstStyle/>
                    <a:p>
                      <a:pPr algn="just"/>
                      <a:r>
                        <a:rPr lang="en-US" sz="1400" b="1" dirty="0"/>
                        <a:t>Metadata</a:t>
                      </a:r>
                      <a:endParaRPr lang="en-US" sz="1400" dirty="0"/>
                    </a:p>
                  </a:txBody>
                  <a:tcPr anchor="ctr"/>
                </a:tc>
                <a:tc>
                  <a:txBody>
                    <a:bodyPr/>
                    <a:lstStyle/>
                    <a:p>
                      <a:pPr algn="just"/>
                      <a:r>
                        <a:rPr lang="en-US" sz="1400" b="1"/>
                        <a:t>Details</a:t>
                      </a:r>
                      <a:endParaRPr lang="en-US" sz="1400"/>
                    </a:p>
                  </a:txBody>
                  <a:tcPr anchor="ctr"/>
                </a:tc>
                <a:extLst>
                  <a:ext uri="{0D108BD9-81ED-4DB2-BD59-A6C34878D82A}">
                    <a16:rowId xmlns:a16="http://schemas.microsoft.com/office/drawing/2014/main" val="917810750"/>
                  </a:ext>
                </a:extLst>
              </a:tr>
              <a:tr h="372048">
                <a:tc>
                  <a:txBody>
                    <a:bodyPr/>
                    <a:lstStyle/>
                    <a:p>
                      <a:r>
                        <a:rPr lang="en-US" sz="1400" b="1"/>
                        <a:t>Title</a:t>
                      </a:r>
                      <a:endParaRPr lang="en-US" sz="1400"/>
                    </a:p>
                  </a:txBody>
                  <a:tcPr anchor="ctr"/>
                </a:tc>
                <a:tc>
                  <a:txBody>
                    <a:bodyPr/>
                    <a:lstStyle/>
                    <a:p>
                      <a:r>
                        <a:rPr lang="en-US" sz="1400" dirty="0"/>
                        <a:t>Securing Boot of an Embedded Linux on FPGA</a:t>
                      </a:r>
                    </a:p>
                  </a:txBody>
                  <a:tcPr anchor="ctr"/>
                </a:tc>
                <a:extLst>
                  <a:ext uri="{0D108BD9-81ED-4DB2-BD59-A6C34878D82A}">
                    <a16:rowId xmlns:a16="http://schemas.microsoft.com/office/drawing/2014/main" val="3308988466"/>
                  </a:ext>
                </a:extLst>
              </a:tr>
              <a:tr h="488032">
                <a:tc>
                  <a:txBody>
                    <a:bodyPr/>
                    <a:lstStyle/>
                    <a:p>
                      <a:r>
                        <a:rPr lang="en-US" sz="1400" b="1"/>
                        <a:t>Authors</a:t>
                      </a:r>
                      <a:endParaRPr lang="en-US" sz="1400"/>
                    </a:p>
                  </a:txBody>
                  <a:tcPr anchor="ctr"/>
                </a:tc>
                <a:tc>
                  <a:txBody>
                    <a:bodyPr/>
                    <a:lstStyle/>
                    <a:p>
                      <a:r>
                        <a:rPr lang="en-US" sz="1400" dirty="0"/>
                        <a:t>Florian Devic, Lionel Torres, Benoît </a:t>
                      </a:r>
                      <a:r>
                        <a:rPr lang="en-US" sz="1400" dirty="0" err="1"/>
                        <a:t>Badrignans</a:t>
                      </a:r>
                      <a:endParaRPr lang="en-US" sz="1400" dirty="0"/>
                    </a:p>
                  </a:txBody>
                  <a:tcPr anchor="ctr"/>
                </a:tc>
                <a:extLst>
                  <a:ext uri="{0D108BD9-81ED-4DB2-BD59-A6C34878D82A}">
                    <a16:rowId xmlns:a16="http://schemas.microsoft.com/office/drawing/2014/main" val="236651351"/>
                  </a:ext>
                </a:extLst>
              </a:tr>
              <a:tr h="299380">
                <a:tc>
                  <a:txBody>
                    <a:bodyPr/>
                    <a:lstStyle/>
                    <a:p>
                      <a:r>
                        <a:rPr lang="en-US" sz="1400" b="1" dirty="0"/>
                        <a:t>Affiliation</a:t>
                      </a:r>
                      <a:endParaRPr lang="en-US" sz="1400" dirty="0"/>
                    </a:p>
                  </a:txBody>
                  <a:tcPr anchor="ctr"/>
                </a:tc>
                <a:tc>
                  <a:txBody>
                    <a:bodyPr/>
                    <a:lstStyle/>
                    <a:p>
                      <a:r>
                        <a:rPr lang="en-US" sz="1400" dirty="0"/>
                        <a:t>LIRMM Laboratory, France</a:t>
                      </a:r>
                    </a:p>
                  </a:txBody>
                  <a:tcPr anchor="ctr"/>
                </a:tc>
                <a:extLst>
                  <a:ext uri="{0D108BD9-81ED-4DB2-BD59-A6C34878D82A}">
                    <a16:rowId xmlns:a16="http://schemas.microsoft.com/office/drawing/2014/main" val="4287230530"/>
                  </a:ext>
                </a:extLst>
              </a:tr>
              <a:tr h="650785">
                <a:tc>
                  <a:txBody>
                    <a:bodyPr/>
                    <a:lstStyle/>
                    <a:p>
                      <a:pPr algn="just"/>
                      <a:r>
                        <a:rPr lang="en-US" sz="1400" b="1"/>
                        <a:t>Purpose</a:t>
                      </a:r>
                      <a:endParaRPr lang="en-US" sz="1400"/>
                    </a:p>
                  </a:txBody>
                  <a:tcPr anchor="ctr"/>
                </a:tc>
                <a:tc>
                  <a:txBody>
                    <a:bodyPr/>
                    <a:lstStyle/>
                    <a:p>
                      <a:r>
                        <a:rPr lang="en-US" sz="1400" dirty="0"/>
                        <a:t>To secure the embedded Linux boot process on FPGA systems against bitstream tampering and replay attacks.</a:t>
                      </a:r>
                    </a:p>
                  </a:txBody>
                  <a:tcPr anchor="ctr"/>
                </a:tc>
                <a:extLst>
                  <a:ext uri="{0D108BD9-81ED-4DB2-BD59-A6C34878D82A}">
                    <a16:rowId xmlns:a16="http://schemas.microsoft.com/office/drawing/2014/main" val="3402308178"/>
                  </a:ext>
                </a:extLst>
              </a:tr>
              <a:tr h="889941">
                <a:tc>
                  <a:txBody>
                    <a:bodyPr/>
                    <a:lstStyle/>
                    <a:p>
                      <a:pPr algn="just"/>
                      <a:r>
                        <a:rPr lang="en-US" sz="1400" b="1" dirty="0">
                          <a:latin typeface="+mn-lt"/>
                        </a:rPr>
                        <a:t>Method</a:t>
                      </a:r>
                    </a:p>
                  </a:txBody>
                  <a:tcPr/>
                </a:tc>
                <a:tc>
                  <a:txBody>
                    <a:bodyPr/>
                    <a:lstStyle/>
                    <a:p>
                      <a:r>
                        <a:rPr lang="en-US" sz="1400" dirty="0"/>
                        <a:t>Implements a trusted computing approach by verifying the authenticity and freshness of the FPGA bitstream and operating system kernel during boot using cryptographic techniques (including asymmetric encryption).</a:t>
                      </a:r>
                    </a:p>
                  </a:txBody>
                  <a:tcPr anchor="ctr"/>
                </a:tc>
                <a:extLst>
                  <a:ext uri="{0D108BD9-81ED-4DB2-BD59-A6C34878D82A}">
                    <a16:rowId xmlns:a16="http://schemas.microsoft.com/office/drawing/2014/main" val="481602290"/>
                  </a:ext>
                </a:extLst>
              </a:tr>
              <a:tr h="488032">
                <a:tc>
                  <a:txBody>
                    <a:bodyPr/>
                    <a:lstStyle/>
                    <a:p>
                      <a:pPr algn="just"/>
                      <a:r>
                        <a:rPr lang="en-US" sz="1400" b="1" dirty="0">
                          <a:latin typeface="+mn-lt"/>
                        </a:rPr>
                        <a:t>Results</a:t>
                      </a:r>
                    </a:p>
                  </a:txBody>
                  <a:tcPr/>
                </a:tc>
                <a:tc>
                  <a:txBody>
                    <a:bodyPr/>
                    <a:lstStyle/>
                    <a:p>
                      <a:r>
                        <a:rPr lang="en-US" sz="1400" dirty="0"/>
                        <a:t>Achieved enhanced security against boot-level attacks with an area overhead between 0% to 40%, depending on the FPGA design choices.</a:t>
                      </a:r>
                    </a:p>
                  </a:txBody>
                  <a:tcPr anchor="ctr"/>
                </a:tc>
                <a:extLst>
                  <a:ext uri="{0D108BD9-81ED-4DB2-BD59-A6C34878D82A}">
                    <a16:rowId xmlns:a16="http://schemas.microsoft.com/office/drawing/2014/main" val="348494071"/>
                  </a:ext>
                </a:extLst>
              </a:tr>
              <a:tr h="688986">
                <a:tc>
                  <a:txBody>
                    <a:bodyPr/>
                    <a:lstStyle/>
                    <a:p>
                      <a:pPr algn="just"/>
                      <a:r>
                        <a:rPr lang="en-US" sz="1400" b="1" dirty="0">
                          <a:latin typeface="+mn-lt"/>
                        </a:rPr>
                        <a:t>Research gaps</a:t>
                      </a:r>
                    </a:p>
                  </a:txBody>
                  <a:tcPr/>
                </a:tc>
                <a:tc>
                  <a:txBody>
                    <a:bodyPr/>
                    <a:lstStyle/>
                    <a:p>
                      <a:pPr algn="just"/>
                      <a:r>
                        <a:rPr lang="en-US" sz="1400" dirty="0"/>
                        <a:t>Focuses only on boot-time security; runtime integrity verification and protection against side-channel attacks are not addressed.</a:t>
                      </a:r>
                      <a:endParaRPr lang="en-US" sz="1400" dirty="0">
                        <a:latin typeface="+mn-lt"/>
                      </a:endParaRPr>
                    </a:p>
                  </a:txBody>
                  <a:tcPr/>
                </a:tc>
                <a:extLst>
                  <a:ext uri="{0D108BD9-81ED-4DB2-BD59-A6C34878D82A}">
                    <a16:rowId xmlns:a16="http://schemas.microsoft.com/office/drawing/2014/main" val="2708202970"/>
                  </a:ext>
                </a:extLst>
              </a:tr>
            </a:tbl>
          </a:graphicData>
        </a:graphic>
      </p:graphicFrame>
    </p:spTree>
    <p:extLst>
      <p:ext uri="{BB962C8B-B14F-4D97-AF65-F5344CB8AC3E}">
        <p14:creationId xmlns:p14="http://schemas.microsoft.com/office/powerpoint/2010/main" val="2295832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75280-5046-9AD7-1622-0139774F616E}"/>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E765E843-3D97-AB2E-E983-07336600CCE9}"/>
              </a:ext>
            </a:extLst>
          </p:cNvPr>
          <p:cNvSpPr>
            <a:spLocks noGrp="1"/>
          </p:cNvSpPr>
          <p:nvPr>
            <p:ph sz="quarter" idx="13"/>
          </p:nvPr>
        </p:nvSpPr>
        <p:spPr>
          <a:xfrm>
            <a:off x="726164" y="2959911"/>
            <a:ext cx="6787747" cy="3708517"/>
          </a:xfrm>
        </p:spPr>
        <p:txBody>
          <a:bodyPr/>
          <a:lstStyle/>
          <a:p>
            <a:pPr marL="0" indent="0">
              <a:buNone/>
            </a:pPr>
            <a:r>
              <a:rPr lang="en-US" b="0" i="1" dirty="0">
                <a:solidFill>
                  <a:schemeClr val="bg1"/>
                </a:solidFill>
              </a:rPr>
              <a:t>“Secure boot validates system images but fails to prevent unauthorized command execution and insecure debug </a:t>
            </a:r>
            <a:r>
              <a:rPr lang="en-US" b="0" i="1" dirty="0" err="1">
                <a:solidFill>
                  <a:schemeClr val="bg1"/>
                </a:solidFill>
              </a:rPr>
              <a:t>access.A</a:t>
            </a:r>
            <a:r>
              <a:rPr lang="en-US" b="0" i="1" dirty="0">
                <a:solidFill>
                  <a:schemeClr val="bg1"/>
                </a:solidFill>
              </a:rPr>
              <a:t> deeper, instruction-level binding mechanism is essential for complete embedded system security</a:t>
            </a:r>
            <a:r>
              <a:rPr lang="en-US" b="1" i="1" dirty="0"/>
              <a:t>”</a:t>
            </a:r>
            <a:endParaRPr lang="en-US" i="1" dirty="0"/>
          </a:p>
        </p:txBody>
      </p:sp>
    </p:spTree>
    <p:extLst>
      <p:ext uri="{BB962C8B-B14F-4D97-AF65-F5344CB8AC3E}">
        <p14:creationId xmlns:p14="http://schemas.microsoft.com/office/powerpoint/2010/main" val="19754579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AB0D0-DF0E-EEB0-9476-A5AA379A41CD}"/>
              </a:ext>
            </a:extLst>
          </p:cNvPr>
          <p:cNvSpPr>
            <a:spLocks noGrp="1"/>
          </p:cNvSpPr>
          <p:nvPr>
            <p:ph type="title"/>
          </p:nvPr>
        </p:nvSpPr>
        <p:spPr/>
        <p:txBody>
          <a:bodyPr/>
          <a:lstStyle/>
          <a:p>
            <a:r>
              <a:rPr lang="en-US" dirty="0"/>
              <a:t>Aims And Objectives</a:t>
            </a:r>
          </a:p>
        </p:txBody>
      </p:sp>
      <p:sp>
        <p:nvSpPr>
          <p:cNvPr id="10" name="Rectangle 6">
            <a:extLst>
              <a:ext uri="{FF2B5EF4-FFF2-40B4-BE49-F238E27FC236}">
                <a16:creationId xmlns:a16="http://schemas.microsoft.com/office/drawing/2014/main" id="{39A5734E-8F82-828F-01DB-F0BBE6715FFE}"/>
              </a:ext>
            </a:extLst>
          </p:cNvPr>
          <p:cNvSpPr>
            <a:spLocks noGrp="1" noChangeArrowheads="1"/>
          </p:cNvSpPr>
          <p:nvPr>
            <p:ph sz="quarter" idx="13"/>
          </p:nvPr>
        </p:nvSpPr>
        <p:spPr bwMode="auto">
          <a:xfrm>
            <a:off x="355601" y="1204329"/>
            <a:ext cx="9990666" cy="4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spcBef>
                <a:spcPct val="0"/>
              </a:spcBef>
              <a:spcAft>
                <a:spcPct val="0"/>
              </a:spcAft>
              <a:buNone/>
            </a:pPr>
            <a:endParaRPr lang="en-US" altLang="en-US" dirty="0">
              <a:solidFill>
                <a:schemeClr val="bg1"/>
              </a:solidFill>
            </a:endParaRPr>
          </a:p>
          <a:p>
            <a:pPr marL="0" lvl="0" indent="0" algn="just" eaLnBrk="0" fontAlgn="base" hangingPunct="0">
              <a:spcBef>
                <a:spcPct val="0"/>
              </a:spcBef>
              <a:spcAft>
                <a:spcPct val="0"/>
              </a:spcAft>
              <a:buNone/>
            </a:pPr>
            <a:endParaRPr lang="en-US" altLang="en-US" dirty="0">
              <a:solidFill>
                <a:schemeClr val="bg1"/>
              </a:solidFill>
            </a:endParaRPr>
          </a:p>
          <a:p>
            <a:pPr marL="0" lvl="0" indent="0" algn="just" eaLnBrk="0" fontAlgn="base" hangingPunct="0">
              <a:spcBef>
                <a:spcPct val="0"/>
              </a:spcBef>
              <a:spcAft>
                <a:spcPct val="0"/>
              </a:spcAft>
              <a:buNone/>
            </a:pPr>
            <a:endParaRPr lang="en-US" altLang="en-US" dirty="0">
              <a:solidFill>
                <a:schemeClr val="bg1"/>
              </a:solidFill>
            </a:endParaRPr>
          </a:p>
          <a:p>
            <a:pPr marL="0" lvl="0" indent="0" algn="just" eaLnBrk="0" fontAlgn="base" hangingPunct="0">
              <a:spcBef>
                <a:spcPct val="0"/>
              </a:spcBef>
              <a:spcAft>
                <a:spcPct val="0"/>
              </a:spcAft>
              <a:buNone/>
            </a:pPr>
            <a:endParaRPr lang="en-US" altLang="en-US" dirty="0">
              <a:solidFill>
                <a:schemeClr val="bg1"/>
              </a:solidFill>
            </a:endParaRPr>
          </a:p>
          <a:p>
            <a:pPr marL="0" lvl="0" indent="0" algn="just" eaLnBrk="0" fontAlgn="base" hangingPunct="0">
              <a:spcBef>
                <a:spcPct val="0"/>
              </a:spcBef>
              <a:spcAft>
                <a:spcPct val="0"/>
              </a:spcAft>
              <a:buNone/>
            </a:pPr>
            <a:endParaRPr lang="en-US" altLang="en-US" dirty="0">
              <a:solidFill>
                <a:schemeClr val="bg1"/>
              </a:solidFill>
            </a:endParaRPr>
          </a:p>
          <a:p>
            <a:pPr marL="0" lvl="0" indent="0" algn="just" eaLnBrk="0" fontAlgn="base" hangingPunct="0">
              <a:spcBef>
                <a:spcPct val="0"/>
              </a:spcBef>
              <a:spcAft>
                <a:spcPct val="0"/>
              </a:spcAft>
              <a:buNone/>
            </a:pPr>
            <a:r>
              <a:rPr lang="en-US" altLang="en-US" i="1" dirty="0">
                <a:solidFill>
                  <a:schemeClr val="bg1"/>
                </a:solidFill>
              </a:rPr>
              <a:t>To design and implement a secure execution mechanism in embedded processors by introducing a custom instruction tied to key verification.</a:t>
            </a:r>
          </a:p>
          <a:p>
            <a:pPr marL="0" lvl="0" indent="0" algn="just" eaLnBrk="0" fontAlgn="base" hangingPunct="0">
              <a:spcBef>
                <a:spcPct val="0"/>
              </a:spcBef>
              <a:spcAft>
                <a:spcPct val="0"/>
              </a:spcAft>
              <a:buNone/>
            </a:pPr>
            <a:endParaRPr lang="en-US" altLang="en-US" dirty="0">
              <a:solidFill>
                <a:schemeClr val="bg1"/>
              </a:solidFill>
            </a:endParaRPr>
          </a:p>
          <a:p>
            <a:pPr algn="just" eaLnBrk="0" fontAlgn="base" hangingPunct="0">
              <a:spcBef>
                <a:spcPct val="0"/>
              </a:spcBef>
              <a:spcAft>
                <a:spcPct val="0"/>
              </a:spcAft>
            </a:pPr>
            <a:r>
              <a:rPr lang="en-US" altLang="en-US" b="0" dirty="0">
                <a:solidFill>
                  <a:schemeClr val="bg1"/>
                </a:solidFill>
              </a:rPr>
              <a:t>Develop a custom RISC-V instruction for security key matching during boot.</a:t>
            </a:r>
          </a:p>
          <a:p>
            <a:pPr algn="just" eaLnBrk="0" fontAlgn="base" hangingPunct="0">
              <a:spcBef>
                <a:spcPct val="0"/>
              </a:spcBef>
              <a:spcAft>
                <a:spcPct val="0"/>
              </a:spcAft>
            </a:pPr>
            <a:r>
              <a:rPr lang="en-US" altLang="en-US" b="0" dirty="0">
                <a:solidFill>
                  <a:schemeClr val="bg1"/>
                </a:solidFill>
              </a:rPr>
              <a:t>Modify the </a:t>
            </a:r>
            <a:r>
              <a:rPr lang="en-US" altLang="en-US" b="0" dirty="0" err="1">
                <a:solidFill>
                  <a:schemeClr val="bg1"/>
                </a:solidFill>
              </a:rPr>
              <a:t>BootROM</a:t>
            </a:r>
            <a:r>
              <a:rPr lang="en-US" altLang="en-US" b="0" dirty="0">
                <a:solidFill>
                  <a:schemeClr val="bg1"/>
                </a:solidFill>
              </a:rPr>
              <a:t> to support execution only after successful key verification.</a:t>
            </a:r>
          </a:p>
          <a:p>
            <a:pPr algn="just" eaLnBrk="0" fontAlgn="base" hangingPunct="0">
              <a:spcBef>
                <a:spcPct val="0"/>
              </a:spcBef>
              <a:spcAft>
                <a:spcPct val="0"/>
              </a:spcAft>
            </a:pPr>
            <a:r>
              <a:rPr lang="en-US" altLang="en-US" b="0" dirty="0">
                <a:solidFill>
                  <a:schemeClr val="bg1"/>
                </a:solidFill>
              </a:rPr>
              <a:t>Integrate debug control (enable/disable) based on key match outcome.</a:t>
            </a:r>
          </a:p>
          <a:p>
            <a:pPr algn="just" eaLnBrk="0" fontAlgn="base" hangingPunct="0">
              <a:spcBef>
                <a:spcPct val="0"/>
              </a:spcBef>
              <a:spcAft>
                <a:spcPct val="0"/>
              </a:spcAft>
            </a:pPr>
            <a:r>
              <a:rPr lang="en-US" altLang="en-US" b="0" dirty="0">
                <a:solidFill>
                  <a:schemeClr val="bg1"/>
                </a:solidFill>
              </a:rPr>
              <a:t>Validate the solution through simulation and functional testing.</a:t>
            </a:r>
            <a:endParaRPr kumimoji="0" lang="en-US" altLang="en-US" sz="1800" b="0" i="0" u="none" strike="noStrike" cap="none" normalizeH="0" baseline="0" dirty="0">
              <a:ln>
                <a:noFill/>
              </a:ln>
              <a:solidFill>
                <a:schemeClr val="bg1"/>
              </a:solidFill>
              <a:effectLst/>
            </a:endParaRPr>
          </a:p>
        </p:txBody>
      </p:sp>
    </p:spTree>
    <p:extLst>
      <p:ext uri="{BB962C8B-B14F-4D97-AF65-F5344CB8AC3E}">
        <p14:creationId xmlns:p14="http://schemas.microsoft.com/office/powerpoint/2010/main" val="10192240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98662-93EF-4671-0366-B97FF77F92D3}"/>
              </a:ext>
            </a:extLst>
          </p:cNvPr>
          <p:cNvSpPr>
            <a:spLocks noGrp="1"/>
          </p:cNvSpPr>
          <p:nvPr>
            <p:ph type="title"/>
          </p:nvPr>
        </p:nvSpPr>
        <p:spPr/>
        <p:txBody>
          <a:bodyPr/>
          <a:lstStyle/>
          <a:p>
            <a:r>
              <a:rPr lang="en-US" dirty="0"/>
              <a:t>Proposed  Methodology</a:t>
            </a:r>
          </a:p>
        </p:txBody>
      </p:sp>
      <p:sp>
        <p:nvSpPr>
          <p:cNvPr id="4" name="Rectangle 1">
            <a:extLst>
              <a:ext uri="{FF2B5EF4-FFF2-40B4-BE49-F238E27FC236}">
                <a16:creationId xmlns:a16="http://schemas.microsoft.com/office/drawing/2014/main" id="{4FAAC0C0-4D96-D041-A1F0-C4E53F575617}"/>
              </a:ext>
            </a:extLst>
          </p:cNvPr>
          <p:cNvSpPr>
            <a:spLocks noGrp="1" noChangeArrowheads="1"/>
          </p:cNvSpPr>
          <p:nvPr>
            <p:ph sz="quarter" idx="13"/>
          </p:nvPr>
        </p:nvSpPr>
        <p:spPr bwMode="auto">
          <a:xfrm>
            <a:off x="458892" y="2173418"/>
            <a:ext cx="10928775"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bg1"/>
                </a:solidFill>
                <a:effectLst/>
                <a:latin typeface="Arial" panose="020B0604020202020204" pitchFamily="34" charset="0"/>
              </a:rPr>
              <a:t>• </a:t>
            </a:r>
            <a:r>
              <a:rPr kumimoji="0" lang="en-US" altLang="en-US" sz="1600" b="1" i="0" u="none" strike="noStrike" cap="none" normalizeH="0" baseline="0" dirty="0">
                <a:ln>
                  <a:noFill/>
                </a:ln>
                <a:solidFill>
                  <a:schemeClr val="bg1"/>
                </a:solidFill>
                <a:effectLst/>
                <a:latin typeface="Arial" panose="020B0604020202020204" pitchFamily="34" charset="0"/>
              </a:rPr>
              <a:t>Custom Instruction Design:</a:t>
            </a:r>
            <a:br>
              <a:rPr kumimoji="0" lang="en-US" altLang="en-US" sz="1600" b="0" i="0" u="none" strike="noStrike" cap="none" normalizeH="0" baseline="0" dirty="0">
                <a:ln>
                  <a:noFill/>
                </a:ln>
                <a:solidFill>
                  <a:schemeClr val="bg1"/>
                </a:solidFill>
                <a:effectLst/>
                <a:latin typeface="Arial" panose="020B0604020202020204" pitchFamily="34" charset="0"/>
              </a:rPr>
            </a:br>
            <a:r>
              <a:rPr kumimoji="0" lang="en-US" altLang="en-US" sz="1600" b="0" i="0" u="none" strike="noStrike" cap="none" normalizeH="0" baseline="0" dirty="0">
                <a:ln>
                  <a:noFill/>
                </a:ln>
                <a:solidFill>
                  <a:schemeClr val="bg1"/>
                </a:solidFill>
                <a:effectLst/>
                <a:latin typeface="Arial" panose="020B0604020202020204" pitchFamily="34" charset="0"/>
              </a:rPr>
              <a:t>Design a new RISC-V instruction that triggers secure key matching during early execution phases.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bg1"/>
                </a:solidFill>
                <a:effectLst/>
                <a:latin typeface="Arial" panose="020B0604020202020204" pitchFamily="34" charset="0"/>
              </a:rPr>
              <a:t>• </a:t>
            </a:r>
            <a:r>
              <a:rPr kumimoji="0" lang="en-US" altLang="en-US" sz="1600" b="1" i="0" u="none" strike="noStrike" cap="none" normalizeH="0" baseline="0" dirty="0" err="1">
                <a:ln>
                  <a:noFill/>
                </a:ln>
                <a:solidFill>
                  <a:schemeClr val="bg1"/>
                </a:solidFill>
                <a:effectLst/>
                <a:latin typeface="Arial" panose="020B0604020202020204" pitchFamily="34" charset="0"/>
              </a:rPr>
              <a:t>BootROM</a:t>
            </a:r>
            <a:r>
              <a:rPr kumimoji="0" lang="en-US" altLang="en-US" sz="1600" b="1" i="0" u="none" strike="noStrike" cap="none" normalizeH="0" baseline="0" dirty="0">
                <a:ln>
                  <a:noFill/>
                </a:ln>
                <a:solidFill>
                  <a:schemeClr val="bg1"/>
                </a:solidFill>
                <a:effectLst/>
                <a:latin typeface="Arial" panose="020B0604020202020204" pitchFamily="34" charset="0"/>
              </a:rPr>
              <a:t> Modification:</a:t>
            </a:r>
            <a:br>
              <a:rPr kumimoji="0" lang="en-US" altLang="en-US" sz="1600" b="0" i="0" u="none" strike="noStrike" cap="none" normalizeH="0" baseline="0" dirty="0">
                <a:ln>
                  <a:noFill/>
                </a:ln>
                <a:solidFill>
                  <a:schemeClr val="bg1"/>
                </a:solidFill>
                <a:effectLst/>
                <a:latin typeface="Arial" panose="020B0604020202020204" pitchFamily="34" charset="0"/>
              </a:rPr>
            </a:br>
            <a:r>
              <a:rPr kumimoji="0" lang="en-US" altLang="en-US" sz="1600" b="0" i="0" u="none" strike="noStrike" cap="none" normalizeH="0" baseline="0" dirty="0">
                <a:ln>
                  <a:noFill/>
                </a:ln>
                <a:solidFill>
                  <a:schemeClr val="bg1"/>
                </a:solidFill>
                <a:effectLst/>
                <a:latin typeface="Arial" panose="020B0604020202020204" pitchFamily="34" charset="0"/>
              </a:rPr>
              <a:t>Integrate the custom instruction into the </a:t>
            </a:r>
            <a:r>
              <a:rPr kumimoji="0" lang="en-US" altLang="en-US" sz="1600" b="0" i="0" u="none" strike="noStrike" cap="none" normalizeH="0" baseline="0" dirty="0" err="1">
                <a:ln>
                  <a:noFill/>
                </a:ln>
                <a:solidFill>
                  <a:schemeClr val="bg1"/>
                </a:solidFill>
                <a:effectLst/>
                <a:latin typeface="Arial" panose="020B0604020202020204" pitchFamily="34" charset="0"/>
              </a:rPr>
              <a:t>BootROM</a:t>
            </a:r>
            <a:r>
              <a:rPr kumimoji="0" lang="en-US" altLang="en-US" sz="1600" b="0" i="0" u="none" strike="noStrike" cap="none" normalizeH="0" baseline="0" dirty="0">
                <a:ln>
                  <a:noFill/>
                </a:ln>
                <a:solidFill>
                  <a:schemeClr val="bg1"/>
                </a:solidFill>
                <a:effectLst/>
                <a:latin typeface="Arial" panose="020B0604020202020204" pitchFamily="34" charset="0"/>
              </a:rPr>
              <a:t> code to verify a secret key stored in flash memory at startup.</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bg1"/>
                </a:solidFill>
                <a:effectLst/>
                <a:latin typeface="Arial" panose="020B0604020202020204" pitchFamily="34" charset="0"/>
              </a:rPr>
              <a:t>• </a:t>
            </a:r>
            <a:r>
              <a:rPr kumimoji="0" lang="en-US" altLang="en-US" sz="1600" b="1" i="0" u="none" strike="noStrike" cap="none" normalizeH="0" baseline="0" dirty="0">
                <a:ln>
                  <a:noFill/>
                </a:ln>
                <a:solidFill>
                  <a:schemeClr val="bg1"/>
                </a:solidFill>
                <a:effectLst/>
                <a:latin typeface="Arial" panose="020B0604020202020204" pitchFamily="34" charset="0"/>
              </a:rPr>
              <a:t>Key Matching Logic:</a:t>
            </a:r>
            <a:br>
              <a:rPr kumimoji="0" lang="en-US" altLang="en-US" sz="1600" b="0" i="0" u="none" strike="noStrike" cap="none" normalizeH="0" baseline="0" dirty="0">
                <a:ln>
                  <a:noFill/>
                </a:ln>
                <a:solidFill>
                  <a:schemeClr val="bg1"/>
                </a:solidFill>
                <a:effectLst/>
                <a:latin typeface="Arial" panose="020B0604020202020204" pitchFamily="34" charset="0"/>
              </a:rPr>
            </a:br>
            <a:r>
              <a:rPr kumimoji="0" lang="en-US" altLang="en-US" sz="1600" b="0" i="0" u="none" strike="noStrike" cap="none" normalizeH="0" baseline="0" dirty="0">
                <a:ln>
                  <a:noFill/>
                </a:ln>
                <a:solidFill>
                  <a:schemeClr val="bg1"/>
                </a:solidFill>
                <a:effectLst/>
                <a:latin typeface="Arial" panose="020B0604020202020204" pitchFamily="34" charset="0"/>
              </a:rPr>
              <a:t>Implement hardware logic to compare the operand of the custom instruction with the stored secure key.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bg1"/>
                </a:solidFill>
                <a:effectLst/>
                <a:latin typeface="Arial" panose="020B0604020202020204" pitchFamily="34" charset="0"/>
              </a:rPr>
              <a:t>• </a:t>
            </a:r>
            <a:r>
              <a:rPr kumimoji="0" lang="en-US" altLang="en-US" sz="1600" b="1" i="0" u="none" strike="noStrike" cap="none" normalizeH="0" baseline="0" dirty="0">
                <a:ln>
                  <a:noFill/>
                </a:ln>
                <a:solidFill>
                  <a:schemeClr val="bg1"/>
                </a:solidFill>
                <a:effectLst/>
                <a:latin typeface="Arial" panose="020B0604020202020204" pitchFamily="34" charset="0"/>
              </a:rPr>
              <a:t>Execution Control:</a:t>
            </a:r>
            <a:br>
              <a:rPr kumimoji="0" lang="en-US" altLang="en-US" sz="1600" b="0" i="0" u="none" strike="noStrike" cap="none" normalizeH="0" baseline="0" dirty="0">
                <a:ln>
                  <a:noFill/>
                </a:ln>
                <a:solidFill>
                  <a:schemeClr val="bg1"/>
                </a:solidFill>
                <a:effectLst/>
                <a:latin typeface="Arial" panose="020B0604020202020204" pitchFamily="34" charset="0"/>
              </a:rPr>
            </a:br>
            <a:r>
              <a:rPr kumimoji="0" lang="en-US" altLang="en-US" sz="1600" b="0" i="0" u="none" strike="noStrike" cap="none" normalizeH="0" baseline="0" dirty="0">
                <a:ln>
                  <a:noFill/>
                </a:ln>
                <a:solidFill>
                  <a:schemeClr val="bg1"/>
                </a:solidFill>
                <a:effectLst/>
                <a:latin typeface="Arial" panose="020B0604020202020204" pitchFamily="34" charset="0"/>
              </a:rPr>
              <a:t>Allow normal program execution only if key verification is successful; else, halt processor or reset.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bg1"/>
                </a:solidFill>
                <a:effectLst/>
                <a:latin typeface="Arial" panose="020B0604020202020204" pitchFamily="34" charset="0"/>
              </a:rPr>
              <a:t>• </a:t>
            </a:r>
            <a:r>
              <a:rPr kumimoji="0" lang="en-US" altLang="en-US" sz="1600" b="1" i="0" u="none" strike="noStrike" cap="none" normalizeH="0" baseline="0" dirty="0">
                <a:ln>
                  <a:noFill/>
                </a:ln>
                <a:solidFill>
                  <a:schemeClr val="bg1"/>
                </a:solidFill>
                <a:effectLst/>
                <a:latin typeface="Arial" panose="020B0604020202020204" pitchFamily="34" charset="0"/>
              </a:rPr>
              <a:t>Secure Debug Activation:</a:t>
            </a:r>
            <a:br>
              <a:rPr kumimoji="0" lang="en-US" altLang="en-US" sz="1600" b="0" i="0" u="none" strike="noStrike" cap="none" normalizeH="0" baseline="0" dirty="0">
                <a:ln>
                  <a:noFill/>
                </a:ln>
                <a:solidFill>
                  <a:schemeClr val="bg1"/>
                </a:solidFill>
                <a:effectLst/>
                <a:latin typeface="Arial" panose="020B0604020202020204" pitchFamily="34" charset="0"/>
              </a:rPr>
            </a:br>
            <a:r>
              <a:rPr kumimoji="0" lang="en-US" altLang="en-US" sz="1600" b="0" i="0" u="none" strike="noStrike" cap="none" normalizeH="0" baseline="0" dirty="0">
                <a:ln>
                  <a:noFill/>
                </a:ln>
                <a:solidFill>
                  <a:schemeClr val="bg1"/>
                </a:solidFill>
                <a:effectLst/>
                <a:latin typeface="Arial" panose="020B0604020202020204" pitchFamily="34" charset="0"/>
              </a:rPr>
              <a:t>Bind debug enable signals (e.g., JTAG access) to successful key matching, preventing unauthorized debugging.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bg1"/>
                </a:solidFill>
                <a:effectLst/>
                <a:latin typeface="Arial" panose="020B0604020202020204" pitchFamily="34" charset="0"/>
              </a:rPr>
              <a:t>• </a:t>
            </a:r>
            <a:r>
              <a:rPr kumimoji="0" lang="en-US" altLang="en-US" sz="1600" b="1" i="0" u="none" strike="noStrike" cap="none" normalizeH="0" baseline="0" dirty="0">
                <a:ln>
                  <a:noFill/>
                </a:ln>
                <a:solidFill>
                  <a:schemeClr val="bg1"/>
                </a:solidFill>
                <a:effectLst/>
                <a:latin typeface="Arial" panose="020B0604020202020204" pitchFamily="34" charset="0"/>
              </a:rPr>
              <a:t>Validation and Testing:</a:t>
            </a:r>
            <a:br>
              <a:rPr kumimoji="0" lang="en-US" altLang="en-US" sz="1600" b="0" i="0" u="none" strike="noStrike" cap="none" normalizeH="0" baseline="0" dirty="0">
                <a:ln>
                  <a:noFill/>
                </a:ln>
                <a:solidFill>
                  <a:schemeClr val="bg1"/>
                </a:solidFill>
                <a:effectLst/>
                <a:latin typeface="Arial" panose="020B0604020202020204" pitchFamily="34" charset="0"/>
              </a:rPr>
            </a:br>
            <a:r>
              <a:rPr kumimoji="0" lang="en-US" altLang="en-US" sz="1600" b="0" i="0" u="none" strike="noStrike" cap="none" normalizeH="0" baseline="0" dirty="0">
                <a:ln>
                  <a:noFill/>
                </a:ln>
                <a:solidFill>
                  <a:schemeClr val="bg1"/>
                </a:solidFill>
                <a:effectLst/>
                <a:latin typeface="Arial" panose="020B0604020202020204" pitchFamily="34" charset="0"/>
              </a:rPr>
              <a:t>Simulate processor behavior with and without correct key match, analyze debug access control, and verify execution gating.</a:t>
            </a:r>
          </a:p>
        </p:txBody>
      </p:sp>
    </p:spTree>
    <p:extLst>
      <p:ext uri="{BB962C8B-B14F-4D97-AF65-F5344CB8AC3E}">
        <p14:creationId xmlns:p14="http://schemas.microsoft.com/office/powerpoint/2010/main" val="3264185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80E7CA3-8DCB-ECF3-545A-67A06CAF1F34}"/>
              </a:ext>
            </a:extLst>
          </p:cNvPr>
          <p:cNvSpPr/>
          <p:nvPr/>
        </p:nvSpPr>
        <p:spPr>
          <a:xfrm>
            <a:off x="2091681" y="1052888"/>
            <a:ext cx="1877438" cy="431783"/>
          </a:xfrm>
          <a:prstGeom prst="rect">
            <a:avLst/>
          </a:prstGeom>
          <a:solidFill>
            <a:schemeClr val="accent4">
              <a:lumMod val="60000"/>
              <a:lumOff val="4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729295BA-00C4-910B-3EB7-4757B964E0B6}"/>
              </a:ext>
            </a:extLst>
          </p:cNvPr>
          <p:cNvSpPr/>
          <p:nvPr/>
        </p:nvSpPr>
        <p:spPr>
          <a:xfrm>
            <a:off x="2091681" y="1052888"/>
            <a:ext cx="1877438" cy="2266545"/>
          </a:xfrm>
          <a:prstGeom prst="rect">
            <a:avLst/>
          </a:prstGeom>
          <a:solidFill>
            <a:schemeClr val="tx2">
              <a:lumMod val="25000"/>
              <a:lumOff val="75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aguet Script" panose="00000500000000000000" pitchFamily="2" charset="0"/>
                <a:ea typeface="+mn-ea"/>
                <a:cs typeface="+mn-cs"/>
              </a:rPr>
              <a:t>      Flash memory</a:t>
            </a:r>
          </a:p>
        </p:txBody>
      </p:sp>
      <p:sp>
        <p:nvSpPr>
          <p:cNvPr id="5" name="Rectangle 4">
            <a:extLst>
              <a:ext uri="{FF2B5EF4-FFF2-40B4-BE49-F238E27FC236}">
                <a16:creationId xmlns:a16="http://schemas.microsoft.com/office/drawing/2014/main" id="{BA64085D-ADAF-8DB1-C261-F77637608BD6}"/>
              </a:ext>
            </a:extLst>
          </p:cNvPr>
          <p:cNvSpPr/>
          <p:nvPr/>
        </p:nvSpPr>
        <p:spPr>
          <a:xfrm>
            <a:off x="5126477" y="3132305"/>
            <a:ext cx="5068110" cy="1138137"/>
          </a:xfrm>
          <a:prstGeom prst="rect">
            <a:avLst/>
          </a:prstGeom>
          <a:solidFill>
            <a:schemeClr val="tx2">
              <a:lumMod val="25000"/>
              <a:lumOff val="75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My custom Key</a:t>
            </a:r>
          </a:p>
        </p:txBody>
      </p:sp>
      <p:sp>
        <p:nvSpPr>
          <p:cNvPr id="6" name="Rectangle 5">
            <a:extLst>
              <a:ext uri="{FF2B5EF4-FFF2-40B4-BE49-F238E27FC236}">
                <a16:creationId xmlns:a16="http://schemas.microsoft.com/office/drawing/2014/main" id="{3CD3581E-DD85-C048-CB17-62A3A19BB32A}"/>
              </a:ext>
            </a:extLst>
          </p:cNvPr>
          <p:cNvSpPr/>
          <p:nvPr/>
        </p:nvSpPr>
        <p:spPr>
          <a:xfrm>
            <a:off x="5126477" y="3132307"/>
            <a:ext cx="856034" cy="797668"/>
          </a:xfrm>
          <a:prstGeom prst="rect">
            <a:avLst/>
          </a:prstGeom>
          <a:solidFill>
            <a:schemeClr val="accent1">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A3833E49-69DD-1461-6097-684AFB8AECCA}"/>
              </a:ext>
            </a:extLst>
          </p:cNvPr>
          <p:cNvSpPr/>
          <p:nvPr/>
        </p:nvSpPr>
        <p:spPr>
          <a:xfrm>
            <a:off x="5969541" y="3132306"/>
            <a:ext cx="856034" cy="797668"/>
          </a:xfrm>
          <a:prstGeom prst="rect">
            <a:avLst/>
          </a:prstGeom>
          <a:solidFill>
            <a:schemeClr val="accent4">
              <a:lumMod val="60000"/>
              <a:lumOff val="4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B6946DA8-8A21-74A5-F702-7B234B9C2A6B}"/>
              </a:ext>
            </a:extLst>
          </p:cNvPr>
          <p:cNvSpPr/>
          <p:nvPr/>
        </p:nvSpPr>
        <p:spPr>
          <a:xfrm>
            <a:off x="6822333" y="3132306"/>
            <a:ext cx="856034" cy="797668"/>
          </a:xfrm>
          <a:prstGeom prst="rect">
            <a:avLst/>
          </a:prstGeom>
          <a:solidFill>
            <a:schemeClr val="accent1">
              <a:lumMod val="40000"/>
              <a:lumOff val="6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480AADF3-6775-7A27-D2DA-21CD19BC2D7A}"/>
              </a:ext>
            </a:extLst>
          </p:cNvPr>
          <p:cNvSpPr/>
          <p:nvPr/>
        </p:nvSpPr>
        <p:spPr>
          <a:xfrm>
            <a:off x="7665397" y="3132306"/>
            <a:ext cx="856034" cy="797668"/>
          </a:xfrm>
          <a:prstGeom prst="rect">
            <a:avLst/>
          </a:prstGeom>
          <a:solidFill>
            <a:schemeClr val="accent2">
              <a:lumMod val="60000"/>
              <a:lumOff val="4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08B0AFE8-3216-7497-3589-4D189E37B4C0}"/>
              </a:ext>
            </a:extLst>
          </p:cNvPr>
          <p:cNvSpPr/>
          <p:nvPr/>
        </p:nvSpPr>
        <p:spPr>
          <a:xfrm>
            <a:off x="8518189" y="3132306"/>
            <a:ext cx="856034" cy="797668"/>
          </a:xfrm>
          <a:prstGeom prst="rect">
            <a:avLst/>
          </a:prstGeom>
          <a:solidFill>
            <a:schemeClr val="tx2">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5E1896DB-A3CA-E374-FF9E-E08319E599BC}"/>
              </a:ext>
            </a:extLst>
          </p:cNvPr>
          <p:cNvSpPr/>
          <p:nvPr/>
        </p:nvSpPr>
        <p:spPr>
          <a:xfrm>
            <a:off x="9320718" y="3132306"/>
            <a:ext cx="856034" cy="797668"/>
          </a:xfrm>
          <a:prstGeom prst="rect">
            <a:avLst/>
          </a:prstGeom>
          <a:solidFill>
            <a:schemeClr val="accent1">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Aptos" panose="02110004020202020204"/>
              <a:ea typeface="+mn-ea"/>
              <a:cs typeface="+mn-cs"/>
            </a:endParaRPr>
          </a:p>
        </p:txBody>
      </p:sp>
      <p:sp>
        <p:nvSpPr>
          <p:cNvPr id="12" name="TextBox 11">
            <a:extLst>
              <a:ext uri="{FF2B5EF4-FFF2-40B4-BE49-F238E27FC236}">
                <a16:creationId xmlns:a16="http://schemas.microsoft.com/office/drawing/2014/main" id="{29535F45-B443-84D1-3789-4498AD07E6D9}"/>
              </a:ext>
            </a:extLst>
          </p:cNvPr>
          <p:cNvSpPr txBox="1"/>
          <p:nvPr/>
        </p:nvSpPr>
        <p:spPr>
          <a:xfrm>
            <a:off x="5215836" y="3332041"/>
            <a:ext cx="673306" cy="369332"/>
          </a:xfrm>
          <a:prstGeom prst="rect">
            <a:avLst/>
          </a:prstGeom>
          <a:noFill/>
          <a:ln w="28575">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aguet Script" panose="020F0502020204030204" pitchFamily="2" charset="0"/>
                <a:ea typeface="+mn-ea"/>
                <a:cs typeface="+mn-cs"/>
              </a:rPr>
              <a:t>Start</a:t>
            </a:r>
          </a:p>
        </p:txBody>
      </p:sp>
      <p:sp>
        <p:nvSpPr>
          <p:cNvPr id="13" name="TextBox 12">
            <a:extLst>
              <a:ext uri="{FF2B5EF4-FFF2-40B4-BE49-F238E27FC236}">
                <a16:creationId xmlns:a16="http://schemas.microsoft.com/office/drawing/2014/main" id="{7E66B635-CEF2-3B3C-8000-B60435C2AB56}"/>
              </a:ext>
            </a:extLst>
          </p:cNvPr>
          <p:cNvSpPr txBox="1"/>
          <p:nvPr/>
        </p:nvSpPr>
        <p:spPr>
          <a:xfrm>
            <a:off x="5990183" y="3346474"/>
            <a:ext cx="761477" cy="369332"/>
          </a:xfrm>
          <a:prstGeom prst="rect">
            <a:avLst/>
          </a:prstGeom>
          <a:noFill/>
          <a:ln w="28575">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aguet Script" panose="020F0502020204030204" pitchFamily="2" charset="0"/>
                <a:ea typeface="+mn-ea"/>
                <a:cs typeface="+mn-cs"/>
              </a:rPr>
              <a:t>Key-1</a:t>
            </a:r>
          </a:p>
        </p:txBody>
      </p:sp>
      <p:sp>
        <p:nvSpPr>
          <p:cNvPr id="14" name="TextBox 13">
            <a:extLst>
              <a:ext uri="{FF2B5EF4-FFF2-40B4-BE49-F238E27FC236}">
                <a16:creationId xmlns:a16="http://schemas.microsoft.com/office/drawing/2014/main" id="{B99ABE06-84CF-3DD9-B8AE-F4C844F67017}"/>
              </a:ext>
            </a:extLst>
          </p:cNvPr>
          <p:cNvSpPr txBox="1"/>
          <p:nvPr/>
        </p:nvSpPr>
        <p:spPr>
          <a:xfrm>
            <a:off x="6845030" y="3332041"/>
            <a:ext cx="756416" cy="369332"/>
          </a:xfrm>
          <a:prstGeom prst="rect">
            <a:avLst/>
          </a:prstGeom>
          <a:noFill/>
          <a:ln w="28575">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aguet Script" panose="020F0502020204030204" pitchFamily="2" charset="0"/>
                <a:ea typeface="+mn-ea"/>
                <a:cs typeface="+mn-cs"/>
              </a:rPr>
              <a:t>Key-2</a:t>
            </a:r>
          </a:p>
        </p:txBody>
      </p:sp>
      <p:sp>
        <p:nvSpPr>
          <p:cNvPr id="15" name="TextBox 14">
            <a:extLst>
              <a:ext uri="{FF2B5EF4-FFF2-40B4-BE49-F238E27FC236}">
                <a16:creationId xmlns:a16="http://schemas.microsoft.com/office/drawing/2014/main" id="{6A039682-92A0-3A08-311B-62151D5AD9FE}"/>
              </a:ext>
            </a:extLst>
          </p:cNvPr>
          <p:cNvSpPr txBox="1"/>
          <p:nvPr/>
        </p:nvSpPr>
        <p:spPr>
          <a:xfrm>
            <a:off x="7708460" y="3338544"/>
            <a:ext cx="756939" cy="369332"/>
          </a:xfrm>
          <a:prstGeom prst="rect">
            <a:avLst/>
          </a:prstGeom>
          <a:noFill/>
          <a:ln w="28575">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aguet Script" panose="020F0502020204030204" pitchFamily="2" charset="0"/>
                <a:ea typeface="+mn-ea"/>
                <a:cs typeface="+mn-cs"/>
              </a:rPr>
              <a:t>Key-3</a:t>
            </a:r>
          </a:p>
        </p:txBody>
      </p:sp>
      <p:sp>
        <p:nvSpPr>
          <p:cNvPr id="16" name="TextBox 15">
            <a:extLst>
              <a:ext uri="{FF2B5EF4-FFF2-40B4-BE49-F238E27FC236}">
                <a16:creationId xmlns:a16="http://schemas.microsoft.com/office/drawing/2014/main" id="{FCE45570-4D2C-1CAC-1116-61AA23D00306}"/>
              </a:ext>
            </a:extLst>
          </p:cNvPr>
          <p:cNvSpPr txBox="1"/>
          <p:nvPr/>
        </p:nvSpPr>
        <p:spPr>
          <a:xfrm>
            <a:off x="8506805" y="3328928"/>
            <a:ext cx="912483" cy="369332"/>
          </a:xfrm>
          <a:prstGeom prst="rect">
            <a:avLst/>
          </a:prstGeom>
          <a:noFill/>
          <a:ln w="28575">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aguet Script" panose="020F0502020204030204" pitchFamily="2" charset="0"/>
                <a:ea typeface="+mn-ea"/>
                <a:cs typeface="+mn-cs"/>
              </a:rPr>
              <a:t>Enable</a:t>
            </a:r>
          </a:p>
        </p:txBody>
      </p:sp>
      <p:sp>
        <p:nvSpPr>
          <p:cNvPr id="17" name="TextBox 16">
            <a:extLst>
              <a:ext uri="{FF2B5EF4-FFF2-40B4-BE49-F238E27FC236}">
                <a16:creationId xmlns:a16="http://schemas.microsoft.com/office/drawing/2014/main" id="{A49C8F96-3595-5D13-807E-2D11A9B5938F}"/>
              </a:ext>
            </a:extLst>
          </p:cNvPr>
          <p:cNvSpPr txBox="1"/>
          <p:nvPr/>
        </p:nvSpPr>
        <p:spPr>
          <a:xfrm>
            <a:off x="9427013" y="3338544"/>
            <a:ext cx="673306" cy="369332"/>
          </a:xfrm>
          <a:prstGeom prst="rect">
            <a:avLst/>
          </a:prstGeom>
          <a:noFill/>
          <a:ln w="28575">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aguet Script" panose="020F0502020204030204" pitchFamily="2" charset="0"/>
                <a:ea typeface="+mn-ea"/>
                <a:cs typeface="+mn-cs"/>
              </a:rPr>
              <a:t>End</a:t>
            </a:r>
          </a:p>
        </p:txBody>
      </p:sp>
      <p:sp>
        <p:nvSpPr>
          <p:cNvPr id="19" name="Rectangle 18">
            <a:extLst>
              <a:ext uri="{FF2B5EF4-FFF2-40B4-BE49-F238E27FC236}">
                <a16:creationId xmlns:a16="http://schemas.microsoft.com/office/drawing/2014/main" id="{851CA42F-4FE9-4E88-0486-B67A73656AF9}"/>
              </a:ext>
            </a:extLst>
          </p:cNvPr>
          <p:cNvSpPr/>
          <p:nvPr/>
        </p:nvSpPr>
        <p:spPr>
          <a:xfrm>
            <a:off x="2091681" y="1484671"/>
            <a:ext cx="1877438" cy="431783"/>
          </a:xfrm>
          <a:prstGeom prst="rect">
            <a:avLst/>
          </a:prstGeom>
          <a:solidFill>
            <a:schemeClr val="accent2">
              <a:lumMod val="60000"/>
              <a:lumOff val="4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1" name="Diamond 20">
            <a:extLst>
              <a:ext uri="{FF2B5EF4-FFF2-40B4-BE49-F238E27FC236}">
                <a16:creationId xmlns:a16="http://schemas.microsoft.com/office/drawing/2014/main" id="{153B6907-7459-CC43-12D0-165E0E8616B3}"/>
              </a:ext>
            </a:extLst>
          </p:cNvPr>
          <p:cNvSpPr/>
          <p:nvPr/>
        </p:nvSpPr>
        <p:spPr>
          <a:xfrm>
            <a:off x="5316151" y="801329"/>
            <a:ext cx="1435509" cy="973394"/>
          </a:xfrm>
          <a:prstGeom prst="diamond">
            <a:avLst/>
          </a:prstGeom>
          <a:solidFill>
            <a:schemeClr val="accent1">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aguet Script" panose="00000500000000000000" pitchFamily="2" charset="0"/>
                <a:ea typeface="+mn-ea"/>
                <a:cs typeface="+mn-cs"/>
              </a:rPr>
              <a:t>compare</a:t>
            </a:r>
          </a:p>
        </p:txBody>
      </p:sp>
      <p:sp>
        <p:nvSpPr>
          <p:cNvPr id="22" name="TextBox 21">
            <a:extLst>
              <a:ext uri="{FF2B5EF4-FFF2-40B4-BE49-F238E27FC236}">
                <a16:creationId xmlns:a16="http://schemas.microsoft.com/office/drawing/2014/main" id="{DCD32460-CE75-49EB-60DD-5E9034EDF98E}"/>
              </a:ext>
            </a:extLst>
          </p:cNvPr>
          <p:cNvSpPr txBox="1"/>
          <p:nvPr/>
        </p:nvSpPr>
        <p:spPr>
          <a:xfrm>
            <a:off x="2506708" y="1110536"/>
            <a:ext cx="1111045" cy="369332"/>
          </a:xfrm>
          <a:prstGeom prst="rect">
            <a:avLst/>
          </a:prstGeom>
          <a:noFill/>
          <a:ln w="28575">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aguet Script" panose="020F0502020204030204" pitchFamily="2" charset="0"/>
                <a:ea typeface="+mn-ea"/>
                <a:cs typeface="+mn-cs"/>
              </a:rPr>
              <a:t>Key-1</a:t>
            </a:r>
          </a:p>
        </p:txBody>
      </p:sp>
      <p:sp>
        <p:nvSpPr>
          <p:cNvPr id="23" name="TextBox 22">
            <a:extLst>
              <a:ext uri="{FF2B5EF4-FFF2-40B4-BE49-F238E27FC236}">
                <a16:creationId xmlns:a16="http://schemas.microsoft.com/office/drawing/2014/main" id="{FD3BA820-57A0-0EA7-A5E5-596FC4275FF5}"/>
              </a:ext>
            </a:extLst>
          </p:cNvPr>
          <p:cNvSpPr txBox="1"/>
          <p:nvPr/>
        </p:nvSpPr>
        <p:spPr>
          <a:xfrm>
            <a:off x="2497394" y="1562490"/>
            <a:ext cx="1111045" cy="369332"/>
          </a:xfrm>
          <a:prstGeom prst="rect">
            <a:avLst/>
          </a:prstGeom>
          <a:noFill/>
          <a:ln w="28575">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aguet Script" panose="020F0502020204030204" pitchFamily="2" charset="0"/>
                <a:ea typeface="+mn-ea"/>
                <a:cs typeface="+mn-cs"/>
              </a:rPr>
              <a:t>Key-3</a:t>
            </a:r>
          </a:p>
        </p:txBody>
      </p:sp>
      <p:cxnSp>
        <p:nvCxnSpPr>
          <p:cNvPr id="25" name="Straight Arrow Connector 24">
            <a:extLst>
              <a:ext uri="{FF2B5EF4-FFF2-40B4-BE49-F238E27FC236}">
                <a16:creationId xmlns:a16="http://schemas.microsoft.com/office/drawing/2014/main" id="{17AC01FF-A155-CB8B-7191-3B442AA6DD06}"/>
              </a:ext>
            </a:extLst>
          </p:cNvPr>
          <p:cNvCxnSpPr/>
          <p:nvPr/>
        </p:nvCxnSpPr>
        <p:spPr>
          <a:xfrm>
            <a:off x="3969119" y="1288026"/>
            <a:ext cx="1330468"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29" name="Connector: Elbow 28">
            <a:extLst>
              <a:ext uri="{FF2B5EF4-FFF2-40B4-BE49-F238E27FC236}">
                <a16:creationId xmlns:a16="http://schemas.microsoft.com/office/drawing/2014/main" id="{DABB22DF-53E9-286E-FDE0-14C554913B43}"/>
              </a:ext>
            </a:extLst>
          </p:cNvPr>
          <p:cNvCxnSpPr>
            <a:cxnSpLocks/>
            <a:stCxn id="7" idx="0"/>
          </p:cNvCxnSpPr>
          <p:nvPr/>
        </p:nvCxnSpPr>
        <p:spPr>
          <a:xfrm rot="16200000" flipV="1">
            <a:off x="5557785" y="2292532"/>
            <a:ext cx="1315897" cy="363651"/>
          </a:xfrm>
          <a:prstGeom prst="bentConnector3">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32" name="Connector: Elbow 31">
            <a:extLst>
              <a:ext uri="{FF2B5EF4-FFF2-40B4-BE49-F238E27FC236}">
                <a16:creationId xmlns:a16="http://schemas.microsoft.com/office/drawing/2014/main" id="{FEAECD20-0639-A057-4983-825D66A8F056}"/>
              </a:ext>
            </a:extLst>
          </p:cNvPr>
          <p:cNvCxnSpPr>
            <a:stCxn id="8" idx="0"/>
            <a:endCxn id="18" idx="0"/>
          </p:cNvCxnSpPr>
          <p:nvPr/>
        </p:nvCxnSpPr>
        <p:spPr>
          <a:xfrm rot="16200000" flipV="1">
            <a:off x="4100666" y="-17378"/>
            <a:ext cx="2079418" cy="4219950"/>
          </a:xfrm>
          <a:prstGeom prst="bentConnector3">
            <a:avLst>
              <a:gd name="adj1" fmla="val 119977"/>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BBF15C9D-3773-FFEC-172E-73E91BF8A348}"/>
              </a:ext>
            </a:extLst>
          </p:cNvPr>
          <p:cNvSpPr/>
          <p:nvPr/>
        </p:nvSpPr>
        <p:spPr>
          <a:xfrm>
            <a:off x="117987" y="1155289"/>
            <a:ext cx="1558647" cy="1715730"/>
          </a:xfrm>
          <a:prstGeom prst="rect">
            <a:avLst/>
          </a:prstGeom>
          <a:solidFill>
            <a:schemeClr val="tx2">
              <a:lumMod val="25000"/>
              <a:lumOff val="75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aguet Script" panose="00000500000000000000" pitchFamily="2" charset="0"/>
                <a:ea typeface="+mn-ea"/>
                <a:cs typeface="+mn-cs"/>
              </a:rPr>
              <a:t>Debug Unit</a:t>
            </a:r>
          </a:p>
        </p:txBody>
      </p:sp>
      <p:sp>
        <p:nvSpPr>
          <p:cNvPr id="36" name="Flowchart: Delay 35">
            <a:extLst>
              <a:ext uri="{FF2B5EF4-FFF2-40B4-BE49-F238E27FC236}">
                <a16:creationId xmlns:a16="http://schemas.microsoft.com/office/drawing/2014/main" id="{984DA2E8-F1F6-B139-FA66-6BAC20F9EA8A}"/>
              </a:ext>
            </a:extLst>
          </p:cNvPr>
          <p:cNvSpPr/>
          <p:nvPr/>
        </p:nvSpPr>
        <p:spPr>
          <a:xfrm>
            <a:off x="8649869" y="1095506"/>
            <a:ext cx="696980" cy="679217"/>
          </a:xfrm>
          <a:prstGeom prst="flowChartDelay">
            <a:avLst/>
          </a:prstGeom>
          <a:solidFill>
            <a:schemeClr val="accent1">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43" name="Straight Arrow Connector 42">
            <a:extLst>
              <a:ext uri="{FF2B5EF4-FFF2-40B4-BE49-F238E27FC236}">
                <a16:creationId xmlns:a16="http://schemas.microsoft.com/office/drawing/2014/main" id="{BDB68C90-E641-0B8D-0110-CBBB3E3A8904}"/>
              </a:ext>
            </a:extLst>
          </p:cNvPr>
          <p:cNvCxnSpPr>
            <a:stCxn id="21" idx="3"/>
          </p:cNvCxnSpPr>
          <p:nvPr/>
        </p:nvCxnSpPr>
        <p:spPr>
          <a:xfrm>
            <a:off x="6751660" y="1288026"/>
            <a:ext cx="1872078"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45" name="Connector: Elbow 44">
            <a:extLst>
              <a:ext uri="{FF2B5EF4-FFF2-40B4-BE49-F238E27FC236}">
                <a16:creationId xmlns:a16="http://schemas.microsoft.com/office/drawing/2014/main" id="{A393442D-EED6-B2AC-D23E-CC401CB77BF2}"/>
              </a:ext>
            </a:extLst>
          </p:cNvPr>
          <p:cNvCxnSpPr>
            <a:cxnSpLocks/>
          </p:cNvCxnSpPr>
          <p:nvPr/>
        </p:nvCxnSpPr>
        <p:spPr>
          <a:xfrm rot="16200000" flipV="1">
            <a:off x="7926960" y="2261658"/>
            <a:ext cx="1561794" cy="179499"/>
          </a:xfrm>
          <a:prstGeom prst="bentConnector4">
            <a:avLst>
              <a:gd name="adj1" fmla="val 39128"/>
              <a:gd name="adj2" fmla="val 227354"/>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47" name="Connector: Elbow 46">
            <a:extLst>
              <a:ext uri="{FF2B5EF4-FFF2-40B4-BE49-F238E27FC236}">
                <a16:creationId xmlns:a16="http://schemas.microsoft.com/office/drawing/2014/main" id="{59CAD612-BDA9-B7A9-F23D-8F35E0017D0B}"/>
              </a:ext>
            </a:extLst>
          </p:cNvPr>
          <p:cNvCxnSpPr>
            <a:stCxn id="36" idx="3"/>
            <a:endCxn id="34" idx="0"/>
          </p:cNvCxnSpPr>
          <p:nvPr/>
        </p:nvCxnSpPr>
        <p:spPr>
          <a:xfrm flipH="1" flipV="1">
            <a:off x="897311" y="1155289"/>
            <a:ext cx="8449538" cy="279826"/>
          </a:xfrm>
          <a:prstGeom prst="bentConnector4">
            <a:avLst>
              <a:gd name="adj1" fmla="val -2705"/>
              <a:gd name="adj2" fmla="val 375230"/>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49" name="Rectangle 48">
            <a:extLst>
              <a:ext uri="{FF2B5EF4-FFF2-40B4-BE49-F238E27FC236}">
                <a16:creationId xmlns:a16="http://schemas.microsoft.com/office/drawing/2014/main" id="{E75F16BA-C173-700C-ACCC-B16ADFE35544}"/>
              </a:ext>
            </a:extLst>
          </p:cNvPr>
          <p:cNvSpPr/>
          <p:nvPr/>
        </p:nvSpPr>
        <p:spPr>
          <a:xfrm>
            <a:off x="9655277" y="4743274"/>
            <a:ext cx="2196045" cy="1838632"/>
          </a:xfrm>
          <a:prstGeom prst="rect">
            <a:avLst/>
          </a:prstGeom>
          <a:solidFill>
            <a:schemeClr val="tx2">
              <a:lumMod val="25000"/>
              <a:lumOff val="75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Baguet Script" panose="00000500000000000000" pitchFamily="2"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Baguet Script" panose="00000500000000000000" pitchFamily="2"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Baguet Script" panose="00000500000000000000" pitchFamily="2"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Baguet Script" panose="00000500000000000000" pitchFamily="2"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Baguet Script" panose="00000500000000000000" pitchFamily="2"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aguet Script" panose="00000500000000000000" pitchFamily="2" charset="0"/>
                <a:ea typeface="+mn-ea"/>
                <a:cs typeface="+mn-cs"/>
              </a:rPr>
              <a:t>                 Code Block</a:t>
            </a:r>
          </a:p>
        </p:txBody>
      </p:sp>
      <p:sp>
        <p:nvSpPr>
          <p:cNvPr id="50" name="Rectangle 49">
            <a:extLst>
              <a:ext uri="{FF2B5EF4-FFF2-40B4-BE49-F238E27FC236}">
                <a16:creationId xmlns:a16="http://schemas.microsoft.com/office/drawing/2014/main" id="{22107B82-4FA0-501E-830D-E78B59B76C24}"/>
              </a:ext>
            </a:extLst>
          </p:cNvPr>
          <p:cNvSpPr/>
          <p:nvPr/>
        </p:nvSpPr>
        <p:spPr>
          <a:xfrm>
            <a:off x="5299587" y="5826943"/>
            <a:ext cx="3008291" cy="746262"/>
          </a:xfrm>
          <a:prstGeom prst="rect">
            <a:avLst/>
          </a:prstGeom>
          <a:solidFill>
            <a:schemeClr val="tx2">
              <a:lumMod val="25000"/>
              <a:lumOff val="75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Baguet Script" panose="00000500000000000000" pitchFamily="2"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aguet Script" panose="00000500000000000000" pitchFamily="2" charset="0"/>
                <a:ea typeface="+mn-ea"/>
                <a:cs typeface="+mn-cs"/>
              </a:rPr>
              <a:t>             My custom instruction</a:t>
            </a:r>
          </a:p>
        </p:txBody>
      </p:sp>
      <p:sp>
        <p:nvSpPr>
          <p:cNvPr id="51" name="Rectangle 50">
            <a:extLst>
              <a:ext uri="{FF2B5EF4-FFF2-40B4-BE49-F238E27FC236}">
                <a16:creationId xmlns:a16="http://schemas.microsoft.com/office/drawing/2014/main" id="{1DFB595C-FB8D-FF56-B290-21CCF01F7C9B}"/>
              </a:ext>
            </a:extLst>
          </p:cNvPr>
          <p:cNvSpPr/>
          <p:nvPr/>
        </p:nvSpPr>
        <p:spPr>
          <a:xfrm>
            <a:off x="5299586" y="5824446"/>
            <a:ext cx="1097971" cy="329195"/>
          </a:xfrm>
          <a:prstGeom prst="rect">
            <a:avLst/>
          </a:prstGeom>
          <a:solidFill>
            <a:schemeClr val="accent1">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aguet Script" panose="00000500000000000000" pitchFamily="2" charset="0"/>
                <a:ea typeface="+mn-ea"/>
                <a:cs typeface="+mn-cs"/>
              </a:rPr>
              <a:t>opcode</a:t>
            </a:r>
          </a:p>
        </p:txBody>
      </p:sp>
      <p:sp>
        <p:nvSpPr>
          <p:cNvPr id="52" name="Rectangle 51">
            <a:extLst>
              <a:ext uri="{FF2B5EF4-FFF2-40B4-BE49-F238E27FC236}">
                <a16:creationId xmlns:a16="http://schemas.microsoft.com/office/drawing/2014/main" id="{93E27202-5328-2139-BB8A-C8B19FFA98C0}"/>
              </a:ext>
            </a:extLst>
          </p:cNvPr>
          <p:cNvSpPr/>
          <p:nvPr/>
        </p:nvSpPr>
        <p:spPr>
          <a:xfrm>
            <a:off x="6397559" y="5819056"/>
            <a:ext cx="1910318" cy="329195"/>
          </a:xfrm>
          <a:prstGeom prst="rect">
            <a:avLst/>
          </a:prstGeom>
          <a:solidFill>
            <a:schemeClr val="accent6">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Baguet Script" panose="00000500000000000000" pitchFamily="2" charset="0"/>
                <a:ea typeface="+mn-ea"/>
                <a:cs typeface="+mn-cs"/>
              </a:rPr>
              <a:t>Imm</a:t>
            </a:r>
            <a:r>
              <a:rPr kumimoji="0" lang="en-US" sz="1800" b="0" i="0" u="none" strike="noStrike" kern="1200" cap="none" spc="0" normalizeH="0" baseline="0" noProof="0" dirty="0">
                <a:ln>
                  <a:noFill/>
                </a:ln>
                <a:solidFill>
                  <a:prstClr val="black"/>
                </a:solidFill>
                <a:effectLst/>
                <a:uLnTx/>
                <a:uFillTx/>
                <a:latin typeface="Baguet Script" panose="00000500000000000000" pitchFamily="2" charset="0"/>
                <a:ea typeface="+mn-ea"/>
                <a:cs typeface="+mn-cs"/>
              </a:rPr>
              <a:t> Value</a:t>
            </a:r>
          </a:p>
        </p:txBody>
      </p:sp>
      <p:sp>
        <p:nvSpPr>
          <p:cNvPr id="54" name="Diamond 53">
            <a:extLst>
              <a:ext uri="{FF2B5EF4-FFF2-40B4-BE49-F238E27FC236}">
                <a16:creationId xmlns:a16="http://schemas.microsoft.com/office/drawing/2014/main" id="{D21CC781-1A53-723F-B567-B3F935030E3D}"/>
              </a:ext>
            </a:extLst>
          </p:cNvPr>
          <p:cNvSpPr/>
          <p:nvPr/>
        </p:nvSpPr>
        <p:spPr>
          <a:xfrm>
            <a:off x="2794176" y="4886632"/>
            <a:ext cx="1435509" cy="973394"/>
          </a:xfrm>
          <a:prstGeom prst="diamond">
            <a:avLst/>
          </a:prstGeom>
          <a:solidFill>
            <a:schemeClr val="accent1">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Baguet Script" panose="00000500000000000000" pitchFamily="2" charset="0"/>
                <a:ea typeface="+mn-ea"/>
                <a:cs typeface="+mn-cs"/>
              </a:rPr>
              <a:t>cmpoare</a:t>
            </a:r>
            <a:endParaRPr kumimoji="0" lang="en-US" sz="1800" b="0" i="0" u="none" strike="noStrike" kern="1200" cap="none" spc="0" normalizeH="0" baseline="0" noProof="0" dirty="0">
              <a:ln>
                <a:noFill/>
              </a:ln>
              <a:solidFill>
                <a:prstClr val="black"/>
              </a:solidFill>
              <a:effectLst/>
              <a:uLnTx/>
              <a:uFillTx/>
              <a:latin typeface="Baguet Script" panose="00000500000000000000" pitchFamily="2" charset="0"/>
              <a:ea typeface="+mn-ea"/>
              <a:cs typeface="+mn-cs"/>
            </a:endParaRPr>
          </a:p>
        </p:txBody>
      </p:sp>
      <p:cxnSp>
        <p:nvCxnSpPr>
          <p:cNvPr id="56" name="Connector: Elbow 55">
            <a:extLst>
              <a:ext uri="{FF2B5EF4-FFF2-40B4-BE49-F238E27FC236}">
                <a16:creationId xmlns:a16="http://schemas.microsoft.com/office/drawing/2014/main" id="{D49F5A10-0EA6-7BCA-7BAA-5129AF36573F}"/>
              </a:ext>
            </a:extLst>
          </p:cNvPr>
          <p:cNvCxnSpPr>
            <a:stCxn id="19" idx="1"/>
            <a:endCxn id="54" idx="1"/>
          </p:cNvCxnSpPr>
          <p:nvPr/>
        </p:nvCxnSpPr>
        <p:spPr>
          <a:xfrm rot="10800000" flipH="1" flipV="1">
            <a:off x="2091680" y="1700563"/>
            <a:ext cx="702495" cy="3672766"/>
          </a:xfrm>
          <a:prstGeom prst="bentConnector3">
            <a:avLst>
              <a:gd name="adj1" fmla="val -3254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57" name="Rectangle 56">
            <a:extLst>
              <a:ext uri="{FF2B5EF4-FFF2-40B4-BE49-F238E27FC236}">
                <a16:creationId xmlns:a16="http://schemas.microsoft.com/office/drawing/2014/main" id="{3F26CEC5-B58D-2A1C-2E03-31CB14A7E915}"/>
              </a:ext>
            </a:extLst>
          </p:cNvPr>
          <p:cNvSpPr/>
          <p:nvPr/>
        </p:nvSpPr>
        <p:spPr>
          <a:xfrm>
            <a:off x="9655277" y="4743274"/>
            <a:ext cx="2196045" cy="389165"/>
          </a:xfrm>
          <a:prstGeom prst="rect">
            <a:avLst/>
          </a:prstGeom>
          <a:solidFill>
            <a:schemeClr val="accent6">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8" name="Rectangle 57">
            <a:extLst>
              <a:ext uri="{FF2B5EF4-FFF2-40B4-BE49-F238E27FC236}">
                <a16:creationId xmlns:a16="http://schemas.microsoft.com/office/drawing/2014/main" id="{92E77983-066A-55CB-1D47-768D65D91F52}"/>
              </a:ext>
            </a:extLst>
          </p:cNvPr>
          <p:cNvSpPr/>
          <p:nvPr/>
        </p:nvSpPr>
        <p:spPr>
          <a:xfrm>
            <a:off x="9655277" y="5132439"/>
            <a:ext cx="2196045" cy="389165"/>
          </a:xfrm>
          <a:prstGeom prst="rect">
            <a:avLst/>
          </a:prstGeom>
          <a:solidFill>
            <a:schemeClr val="accent5">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aguet Script" panose="00000500000000000000" pitchFamily="2" charset="0"/>
                <a:ea typeface="+mn-ea"/>
                <a:cs typeface="+mn-cs"/>
              </a:rPr>
              <a:t>Code main</a:t>
            </a:r>
          </a:p>
        </p:txBody>
      </p:sp>
      <p:cxnSp>
        <p:nvCxnSpPr>
          <p:cNvPr id="60" name="Connector: Elbow 59">
            <a:extLst>
              <a:ext uri="{FF2B5EF4-FFF2-40B4-BE49-F238E27FC236}">
                <a16:creationId xmlns:a16="http://schemas.microsoft.com/office/drawing/2014/main" id="{45CC9FC6-31D0-C670-099A-F46594C91F6C}"/>
              </a:ext>
            </a:extLst>
          </p:cNvPr>
          <p:cNvCxnSpPr>
            <a:cxnSpLocks/>
            <a:stCxn id="52" idx="0"/>
          </p:cNvCxnSpPr>
          <p:nvPr/>
        </p:nvCxnSpPr>
        <p:spPr>
          <a:xfrm rot="5400000" flipH="1" flipV="1">
            <a:off x="8128001" y="4291779"/>
            <a:ext cx="751994" cy="2302560"/>
          </a:xfrm>
          <a:prstGeom prst="bentConnector2">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65" name="Connector: Elbow 64">
            <a:extLst>
              <a:ext uri="{FF2B5EF4-FFF2-40B4-BE49-F238E27FC236}">
                <a16:creationId xmlns:a16="http://schemas.microsoft.com/office/drawing/2014/main" id="{7B9D8AB8-F41A-A270-DDDC-874FD0B6EA17}"/>
              </a:ext>
            </a:extLst>
          </p:cNvPr>
          <p:cNvCxnSpPr>
            <a:stCxn id="57" idx="1"/>
            <a:endCxn id="54" idx="0"/>
          </p:cNvCxnSpPr>
          <p:nvPr/>
        </p:nvCxnSpPr>
        <p:spPr>
          <a:xfrm rot="10800000">
            <a:off x="3511931" y="4886633"/>
            <a:ext cx="6143346" cy="51225"/>
          </a:xfrm>
          <a:prstGeom prst="bentConnector4">
            <a:avLst>
              <a:gd name="adj1" fmla="val 44158"/>
              <a:gd name="adj2" fmla="val 642237"/>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72" name="Connector: Elbow 71">
            <a:extLst>
              <a:ext uri="{FF2B5EF4-FFF2-40B4-BE49-F238E27FC236}">
                <a16:creationId xmlns:a16="http://schemas.microsoft.com/office/drawing/2014/main" id="{7F2339F9-91E0-4A80-5F26-F184F564F5BF}"/>
              </a:ext>
            </a:extLst>
          </p:cNvPr>
          <p:cNvCxnSpPr>
            <a:stCxn id="54" idx="3"/>
            <a:endCxn id="58" idx="1"/>
          </p:cNvCxnSpPr>
          <p:nvPr/>
        </p:nvCxnSpPr>
        <p:spPr>
          <a:xfrm flipV="1">
            <a:off x="4229685" y="5327022"/>
            <a:ext cx="5425592" cy="46307"/>
          </a:xfrm>
          <a:prstGeom prst="bentConnector3">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88E6EB05-5BA1-6D9C-4053-2CE89CF02BE9}"/>
              </a:ext>
            </a:extLst>
          </p:cNvPr>
          <p:cNvSpPr txBox="1"/>
          <p:nvPr/>
        </p:nvSpPr>
        <p:spPr>
          <a:xfrm>
            <a:off x="10080780" y="4742648"/>
            <a:ext cx="1423087" cy="369332"/>
          </a:xfrm>
          <a:prstGeom prst="rect">
            <a:avLst/>
          </a:prstGeom>
          <a:noFill/>
          <a:ln w="28575">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Baguet Script" panose="00000500000000000000" pitchFamily="2" charset="0"/>
                <a:ea typeface="+mn-ea"/>
                <a:cs typeface="+mn-cs"/>
              </a:rPr>
              <a:t>Imm</a:t>
            </a:r>
            <a:r>
              <a:rPr kumimoji="0" lang="en-US" sz="1800" b="0" i="0" u="none" strike="noStrike" kern="1200" cap="none" spc="0" normalizeH="0" baseline="0" noProof="0" dirty="0">
                <a:ln>
                  <a:noFill/>
                </a:ln>
                <a:solidFill>
                  <a:prstClr val="black"/>
                </a:solidFill>
                <a:effectLst/>
                <a:uLnTx/>
                <a:uFillTx/>
                <a:latin typeface="Baguet Script" panose="00000500000000000000" pitchFamily="2" charset="0"/>
                <a:ea typeface="+mn-ea"/>
                <a:cs typeface="+mn-cs"/>
              </a:rPr>
              <a:t> value</a:t>
            </a:r>
          </a:p>
        </p:txBody>
      </p:sp>
      <p:sp>
        <p:nvSpPr>
          <p:cNvPr id="80" name="TextBox 79">
            <a:extLst>
              <a:ext uri="{FF2B5EF4-FFF2-40B4-BE49-F238E27FC236}">
                <a16:creationId xmlns:a16="http://schemas.microsoft.com/office/drawing/2014/main" id="{254FC05F-E2F5-5191-8DFE-A0066D63293D}"/>
              </a:ext>
            </a:extLst>
          </p:cNvPr>
          <p:cNvSpPr txBox="1"/>
          <p:nvPr/>
        </p:nvSpPr>
        <p:spPr>
          <a:xfrm>
            <a:off x="525423" y="5895246"/>
            <a:ext cx="4070565"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Baguet Script" panose="00000500000000000000" pitchFamily="2" charset="0"/>
                <a:ea typeface="+mn-ea"/>
                <a:cs typeface="+mn-cs"/>
              </a:rPr>
              <a:t>Compiler Binding</a:t>
            </a:r>
          </a:p>
        </p:txBody>
      </p:sp>
    </p:spTree>
    <p:extLst>
      <p:ext uri="{BB962C8B-B14F-4D97-AF65-F5344CB8AC3E}">
        <p14:creationId xmlns:p14="http://schemas.microsoft.com/office/powerpoint/2010/main" val="584897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1016 0.00764 L 0.18919 0.01829 " pathEditMode="fixed" rAng="0" ptsTypes="AA">
                                      <p:cBhvr>
                                        <p:cTn id="6" dur="2000" fill="hold"/>
                                        <p:tgtEl>
                                          <p:spTgt spid="22"/>
                                        </p:tgtEl>
                                        <p:attrNameLst>
                                          <p:attrName>ppt_x</p:attrName>
                                          <p:attrName>ppt_y</p:attrName>
                                        </p:attrNameLst>
                                      </p:cBhvr>
                                      <p:rCtr x="8945" y="532"/>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grpId="0" nodeType="clickEffect">
                                  <p:stCondLst>
                                    <p:cond delay="0"/>
                                  </p:stCondLst>
                                  <p:childTnLst>
                                    <p:animMotion origin="layout" path="M 3.95833E-6 -4.81481E-6 L -0.02761 -0.24722 L -0.02761 -0.24722 " pathEditMode="relative" rAng="0" ptsTypes="AAA">
                                      <p:cBhvr>
                                        <p:cTn id="10" dur="2000" fill="hold"/>
                                        <p:tgtEl>
                                          <p:spTgt spid="13"/>
                                        </p:tgtEl>
                                        <p:attrNameLst>
                                          <p:attrName>ppt_x</p:attrName>
                                          <p:attrName>ppt_y</p:attrName>
                                        </p:attrNameLst>
                                      </p:cBhvr>
                                      <p:rCtr x="-1380" y="-12361"/>
                                    </p:animMotion>
                                  </p:childTnLst>
                                </p:cTn>
                              </p:par>
                            </p:childTnLst>
                          </p:cTn>
                        </p:par>
                      </p:childTnLst>
                    </p:cTn>
                  </p:par>
                  <p:par>
                    <p:cTn id="11" fill="hold">
                      <p:stCondLst>
                        <p:cond delay="indefinite"/>
                      </p:stCondLst>
                      <p:childTnLst>
                        <p:par>
                          <p:cTn id="12" fill="hold">
                            <p:stCondLst>
                              <p:cond delay="0"/>
                            </p:stCondLst>
                            <p:childTnLst>
                              <p:par>
                                <p:cTn id="13" presetID="0" presetClass="path" presetSubtype="0" accel="50000" decel="50000" fill="hold" grpId="0" nodeType="clickEffect">
                                  <p:stCondLst>
                                    <p:cond delay="0"/>
                                  </p:stCondLst>
                                  <p:childTnLst>
                                    <p:animMotion origin="layout" path="M 4.79167E-6 -4.44444E-6 L -0.32644 -0.30555 L -0.34753 -0.325 " pathEditMode="relative" rAng="0" ptsTypes="AAA">
                                      <p:cBhvr>
                                        <p:cTn id="14" dur="2000" fill="hold"/>
                                        <p:tgtEl>
                                          <p:spTgt spid="14"/>
                                        </p:tgtEl>
                                        <p:attrNameLst>
                                          <p:attrName>ppt_x</p:attrName>
                                          <p:attrName>ppt_y</p:attrName>
                                        </p:attrNameLst>
                                      </p:cBhvr>
                                      <p:rCtr x="-17383" y="-16250"/>
                                    </p:animMotion>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grpId="0" nodeType="clickEffect">
                                  <p:stCondLst>
                                    <p:cond delay="0"/>
                                  </p:stCondLst>
                                  <p:childTnLst>
                                    <p:animMotion origin="layout" path="M -0.00547 -0.0669 L 0.02812 0.4007 L 0.02903 0.4007 " pathEditMode="relative" rAng="0" ptsTypes="AAA">
                                      <p:cBhvr>
                                        <p:cTn id="18" dur="2000" fill="hold"/>
                                        <p:tgtEl>
                                          <p:spTgt spid="23"/>
                                        </p:tgtEl>
                                        <p:attrNameLst>
                                          <p:attrName>ppt_x</p:attrName>
                                          <p:attrName>ppt_y</p:attrName>
                                        </p:attrNameLst>
                                      </p:cBhvr>
                                      <p:rCtr x="1719" y="23380"/>
                                    </p:animMotion>
                                  </p:childTnLst>
                                </p:cTn>
                              </p:par>
                            </p:childTnLst>
                          </p:cTn>
                        </p:par>
                      </p:childTnLst>
                    </p:cTn>
                  </p:par>
                  <p:par>
                    <p:cTn id="19" fill="hold">
                      <p:stCondLst>
                        <p:cond delay="indefinite"/>
                      </p:stCondLst>
                      <p:childTnLst>
                        <p:par>
                          <p:cTn id="20" fill="hold">
                            <p:stCondLst>
                              <p:cond delay="0"/>
                            </p:stCondLst>
                            <p:childTnLst>
                              <p:par>
                                <p:cTn id="21" presetID="0" presetClass="path" presetSubtype="0" accel="50000" decel="50000" fill="hold" grpId="0" nodeType="clickEffect">
                                  <p:stCondLst>
                                    <p:cond delay="0"/>
                                  </p:stCondLst>
                                  <p:childTnLst>
                                    <p:animMotion origin="layout" path="M 0.05846 -0.01667 L -0.48099 0.04074 L -0.48099 0.04097 " pathEditMode="relative" rAng="0" ptsTypes="AAA">
                                      <p:cBhvr>
                                        <p:cTn id="22" dur="2000" fill="hold"/>
                                        <p:tgtEl>
                                          <p:spTgt spid="73"/>
                                        </p:tgtEl>
                                        <p:attrNameLst>
                                          <p:attrName>ppt_x</p:attrName>
                                          <p:attrName>ppt_y</p:attrName>
                                        </p:attrNameLst>
                                      </p:cBhvr>
                                      <p:rCtr x="-26979" y="2870"/>
                                    </p:animMotion>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58"/>
                                        </p:tgtEl>
                                        <p:attrNameLst>
                                          <p:attrName>style.visibility</p:attrName>
                                        </p:attrNameLst>
                                      </p:cBhvr>
                                      <p:to>
                                        <p:strVal val="visible"/>
                                      </p:to>
                                    </p:set>
                                    <p:animEffect transition="in" filter="fade">
                                      <p:cBhvr>
                                        <p:cTn id="27" dur="1000"/>
                                        <p:tgtEl>
                                          <p:spTgt spid="58"/>
                                        </p:tgtEl>
                                      </p:cBhvr>
                                    </p:animEffect>
                                    <p:anim calcmode="lin" valueType="num">
                                      <p:cBhvr>
                                        <p:cTn id="28" dur="1000" fill="hold"/>
                                        <p:tgtEl>
                                          <p:spTgt spid="58"/>
                                        </p:tgtEl>
                                        <p:attrNameLst>
                                          <p:attrName>ppt_x</p:attrName>
                                        </p:attrNameLst>
                                      </p:cBhvr>
                                      <p:tavLst>
                                        <p:tav tm="0">
                                          <p:val>
                                            <p:strVal val="#ppt_x"/>
                                          </p:val>
                                        </p:tav>
                                        <p:tav tm="100000">
                                          <p:val>
                                            <p:strVal val="#ppt_x"/>
                                          </p:val>
                                        </p:tav>
                                      </p:tavLst>
                                    </p:anim>
                                    <p:anim calcmode="lin" valueType="num">
                                      <p:cBhvr>
                                        <p:cTn id="29"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22" grpId="0"/>
      <p:bldP spid="23" grpId="0"/>
      <p:bldP spid="58" grpId="0" animBg="1"/>
      <p:bldP spid="7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B6D88-00DE-2368-4940-82D63B9904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93E77D-0423-ACF8-090F-609529ECA862}"/>
              </a:ext>
            </a:extLst>
          </p:cNvPr>
          <p:cNvSpPr>
            <a:spLocks noGrp="1"/>
          </p:cNvSpPr>
          <p:nvPr>
            <p:ph type="title"/>
          </p:nvPr>
        </p:nvSpPr>
        <p:spPr/>
        <p:txBody>
          <a:bodyPr/>
          <a:lstStyle/>
          <a:p>
            <a:r>
              <a:rPr lang="en-US" dirty="0"/>
              <a:t>Thesis Timeline</a:t>
            </a:r>
          </a:p>
        </p:txBody>
      </p:sp>
      <p:sp>
        <p:nvSpPr>
          <p:cNvPr id="8" name="Rectangle 5">
            <a:extLst>
              <a:ext uri="{FF2B5EF4-FFF2-40B4-BE49-F238E27FC236}">
                <a16:creationId xmlns:a16="http://schemas.microsoft.com/office/drawing/2014/main" id="{A270611D-EF79-3B2D-9BA1-4E63CB422698}"/>
              </a:ext>
            </a:extLst>
          </p:cNvPr>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6">
            <a:extLst>
              <a:ext uri="{FF2B5EF4-FFF2-40B4-BE49-F238E27FC236}">
                <a16:creationId xmlns:a16="http://schemas.microsoft.com/office/drawing/2014/main" id="{798D6563-E197-E4B2-5E8D-B4C749A150DB}"/>
              </a:ext>
            </a:extLst>
          </p:cNvPr>
          <p:cNvSpPr>
            <a:spLocks noGrp="1" noChangeArrowheads="1"/>
          </p:cNvSpPr>
          <p:nvPr>
            <p:ph sz="quarter" idx="13"/>
          </p:nvPr>
        </p:nvSpPr>
        <p:spPr bwMode="auto">
          <a:xfrm>
            <a:off x="355601" y="2090727"/>
            <a:ext cx="9990666" cy="2456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None/>
            </a:pPr>
            <a:endParaRPr lang="en-US" altLang="en-US" dirty="0">
              <a:solidFill>
                <a:schemeClr val="bg1"/>
              </a:solidFill>
              <a:latin typeface="Arial" panose="020B0604020202020204" pitchFamily="34" charset="0"/>
            </a:endParaRPr>
          </a:p>
          <a:p>
            <a:pPr marL="0" lvl="0" indent="0" eaLnBrk="0" fontAlgn="base" hangingPunct="0">
              <a:spcBef>
                <a:spcPct val="0"/>
              </a:spcBef>
              <a:spcAft>
                <a:spcPct val="0"/>
              </a:spcAft>
              <a:buNone/>
            </a:pPr>
            <a:endParaRPr lang="en-US" altLang="en-US" dirty="0">
              <a:solidFill>
                <a:schemeClr val="bg1"/>
              </a:solidFill>
              <a:latin typeface="Arial" panose="020B0604020202020204" pitchFamily="34" charset="0"/>
            </a:endParaRPr>
          </a:p>
          <a:p>
            <a:pPr marL="0" lvl="0" indent="0" eaLnBrk="0" fontAlgn="base" hangingPunct="0">
              <a:spcBef>
                <a:spcPct val="0"/>
              </a:spcBef>
              <a:spcAft>
                <a:spcPct val="0"/>
              </a:spcAft>
              <a:buNone/>
            </a:pPr>
            <a:endParaRPr lang="en-US" altLang="en-US" dirty="0">
              <a:solidFill>
                <a:schemeClr val="bg1"/>
              </a:solidFill>
              <a:latin typeface="Arial" panose="020B0604020202020204" pitchFamily="34" charset="0"/>
            </a:endParaRPr>
          </a:p>
          <a:p>
            <a:pPr marL="0" lvl="0" indent="0" eaLnBrk="0" fontAlgn="base" hangingPunct="0">
              <a:spcBef>
                <a:spcPct val="0"/>
              </a:spcBef>
              <a:spcAft>
                <a:spcPct val="0"/>
              </a:spcAft>
              <a:buNone/>
            </a:pPr>
            <a:endParaRPr lang="en-US" altLang="en-US" dirty="0">
              <a:solidFill>
                <a:schemeClr val="bg1"/>
              </a:solidFill>
              <a:latin typeface="Arial" panose="020B0604020202020204" pitchFamily="34" charset="0"/>
            </a:endParaRPr>
          </a:p>
          <a:p>
            <a:pPr marL="0" lvl="0" indent="0" eaLnBrk="0" fontAlgn="base" hangingPunct="0">
              <a:spcBef>
                <a:spcPct val="0"/>
              </a:spcBef>
              <a:spcAft>
                <a:spcPct val="0"/>
              </a:spcAft>
              <a:buNone/>
            </a:pPr>
            <a:endParaRPr lang="en-US" altLang="en-US" dirty="0">
              <a:solidFill>
                <a:schemeClr val="bg1"/>
              </a:solidFill>
              <a:latin typeface="Arial" panose="020B0604020202020204" pitchFamily="34" charset="0"/>
            </a:endParaRPr>
          </a:p>
          <a:p>
            <a:pPr marL="0" lvl="0" indent="0" eaLnBrk="0" fontAlgn="base" hangingPunct="0">
              <a:spcBef>
                <a:spcPct val="0"/>
              </a:spcBef>
              <a:spcAft>
                <a:spcPct val="0"/>
              </a:spcAft>
              <a:buNone/>
            </a:pPr>
            <a:endParaRPr lang="en-US" altLang="en-US" dirty="0">
              <a:solidFill>
                <a:schemeClr val="bg1"/>
              </a:solidFill>
              <a:latin typeface="Arial" panose="020B0604020202020204" pitchFamily="34" charset="0"/>
            </a:endParaRPr>
          </a:p>
          <a:p>
            <a:pPr marL="0" lvl="0" indent="0" eaLnBrk="0" fontAlgn="base" hangingPunct="0">
              <a:spcBef>
                <a:spcPct val="0"/>
              </a:spcBef>
              <a:spcAft>
                <a:spcPct val="0"/>
              </a:spcAft>
              <a:buNone/>
            </a:pPr>
            <a:endParaRPr lang="en-US" altLang="en-US" i="1" dirty="0">
              <a:solidFill>
                <a:schemeClr val="bg1"/>
              </a:solidFill>
              <a:latin typeface="Arial" panose="020B0604020202020204" pitchFamily="34" charset="0"/>
            </a:endParaRPr>
          </a:p>
          <a:p>
            <a:pPr marL="0" lvl="0" indent="0" eaLnBrk="0" fontAlgn="base" hangingPunct="0">
              <a:spcBef>
                <a:spcPct val="0"/>
              </a:spcBef>
              <a:spcAft>
                <a:spcPct val="0"/>
              </a:spcAft>
              <a:buNone/>
            </a:pPr>
            <a:r>
              <a:rPr lang="en-US" altLang="en-US" b="0" dirty="0">
                <a:solidFill>
                  <a:schemeClr val="bg1"/>
                </a:solidFill>
                <a:latin typeface="Arial" panose="020B0604020202020204" pitchFamily="34" charset="0"/>
              </a:rPr>
              <a:t>.</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graphicFrame>
        <p:nvGraphicFramePr>
          <p:cNvPr id="3" name="Diagram 2" descr="Placeholder Timeline&#10;">
            <a:extLst>
              <a:ext uri="{FF2B5EF4-FFF2-40B4-BE49-F238E27FC236}">
                <a16:creationId xmlns:a16="http://schemas.microsoft.com/office/drawing/2014/main" id="{073C5A0D-DFE8-4C7D-834F-C6443FF17576}"/>
              </a:ext>
            </a:extLst>
          </p:cNvPr>
          <p:cNvGraphicFramePr/>
          <p:nvPr>
            <p:extLst>
              <p:ext uri="{D42A27DB-BD31-4B8C-83A1-F6EECF244321}">
                <p14:modId xmlns:p14="http://schemas.microsoft.com/office/powerpoint/2010/main" val="2093223416"/>
              </p:ext>
            </p:extLst>
          </p:nvPr>
        </p:nvGraphicFramePr>
        <p:xfrm>
          <a:off x="895927" y="2641599"/>
          <a:ext cx="10669875" cy="34782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254133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C1B7-6E4E-3DEE-50C0-1CA3B14303EE}"/>
              </a:ext>
            </a:extLst>
          </p:cNvPr>
          <p:cNvSpPr>
            <a:spLocks noGrp="1"/>
          </p:cNvSpPr>
          <p:nvPr>
            <p:ph type="ctrTitle"/>
          </p:nvPr>
        </p:nvSpPr>
        <p:spPr>
          <a:xfrm>
            <a:off x="594360" y="411479"/>
            <a:ext cx="5486400" cy="3291840"/>
          </a:xfrm>
        </p:spPr>
        <p:txBody>
          <a:bodyPr/>
          <a:lstStyle/>
          <a:p>
            <a:r>
              <a:rPr lang="en-US" dirty="0"/>
              <a:t>Thank you</a:t>
            </a:r>
          </a:p>
        </p:txBody>
      </p:sp>
      <p:sp>
        <p:nvSpPr>
          <p:cNvPr id="3" name="Text Placeholder 2">
            <a:extLst>
              <a:ext uri="{FF2B5EF4-FFF2-40B4-BE49-F238E27FC236}">
                <a16:creationId xmlns:a16="http://schemas.microsoft.com/office/drawing/2014/main" id="{8BE734F0-2DDD-AF70-F13D-F9E4C1929411}"/>
              </a:ext>
            </a:extLst>
          </p:cNvPr>
          <p:cNvSpPr>
            <a:spLocks noGrp="1"/>
          </p:cNvSpPr>
          <p:nvPr>
            <p:ph type="body" sz="quarter" idx="11"/>
          </p:nvPr>
        </p:nvSpPr>
        <p:spPr>
          <a:xfrm>
            <a:off x="594360" y="4549552"/>
            <a:ext cx="5486400" cy="1645920"/>
          </a:xfrm>
        </p:spPr>
        <p:txBody>
          <a:bodyPr/>
          <a:lstStyle/>
          <a:p>
            <a:endParaRPr lang="en-US" dirty="0"/>
          </a:p>
        </p:txBody>
      </p:sp>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3.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{AD694314-2CF1-44F0-A0EF-FE03993623EB}tf78853419_win32</Template>
  <TotalTime>4457</TotalTime>
  <Words>1793</Words>
  <Application>Microsoft Office PowerPoint</Application>
  <PresentationFormat>Widescreen</PresentationFormat>
  <Paragraphs>228</Paragraphs>
  <Slides>19</Slides>
  <Notes>9</Notes>
  <HiddenSlides>1</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19</vt:i4>
      </vt:variant>
    </vt:vector>
  </HeadingPairs>
  <TitlesOfParts>
    <vt:vector size="28" baseType="lpstr">
      <vt:lpstr>Aptos</vt:lpstr>
      <vt:lpstr>Aptos Display</vt:lpstr>
      <vt:lpstr>Arial</vt:lpstr>
      <vt:lpstr>Baguet Script</vt:lpstr>
      <vt:lpstr>Calibri</vt:lpstr>
      <vt:lpstr>Franklin Gothic Book</vt:lpstr>
      <vt:lpstr>Franklin Gothic Demi</vt:lpstr>
      <vt:lpstr>Custom</vt:lpstr>
      <vt:lpstr>Office Theme</vt:lpstr>
      <vt:lpstr>A Novel Approach to Secure Execution in Embedded Systems: Custom ISA and Compiler Binding  </vt:lpstr>
      <vt:lpstr>Guidance and Evaluation Committee</vt:lpstr>
      <vt:lpstr>Sequence</vt:lpstr>
      <vt:lpstr>Introduction</vt:lpstr>
      <vt:lpstr>Context &amp; Motivation</vt:lpstr>
      <vt:lpstr>Our Approach</vt:lpstr>
      <vt:lpstr>Key binding</vt:lpstr>
      <vt:lpstr>WHY RISCV?</vt:lpstr>
      <vt:lpstr>Key Idea</vt:lpstr>
      <vt:lpstr>Literature Review</vt:lpstr>
      <vt:lpstr>Literature Review</vt:lpstr>
      <vt:lpstr>Literature Review</vt:lpstr>
      <vt:lpstr>Literature Review</vt:lpstr>
      <vt:lpstr>Problem Statement</vt:lpstr>
      <vt:lpstr>Aims And Objectives</vt:lpstr>
      <vt:lpstr>Proposed  Methodology</vt:lpstr>
      <vt:lpstr>PowerPoint Presentation</vt:lpstr>
      <vt:lpstr>Thesis Timeline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 Ayub</dc:creator>
  <cp:lastModifiedBy>Maria Ayub</cp:lastModifiedBy>
  <cp:revision>5</cp:revision>
  <dcterms:created xsi:type="dcterms:W3CDTF">2025-04-25T10:50:13Z</dcterms:created>
  <dcterms:modified xsi:type="dcterms:W3CDTF">2025-04-28T19:35:30Z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