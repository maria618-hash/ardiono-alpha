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4"/>
  </p:sldMasterIdLst>
  <p:notesMasterIdLst>
    <p:notesMasterId r:id="rId23"/>
  </p:notesMasterIdLst>
  <p:sldIdLst>
    <p:sldId id="278" r:id="rId5"/>
    <p:sldId id="274" r:id="rId6"/>
    <p:sldId id="277" r:id="rId7"/>
    <p:sldId id="275" r:id="rId8"/>
    <p:sldId id="276" r:id="rId9"/>
    <p:sldId id="256" r:id="rId10"/>
    <p:sldId id="261" r:id="rId11"/>
    <p:sldId id="257" r:id="rId12"/>
    <p:sldId id="262" r:id="rId13"/>
    <p:sldId id="263" r:id="rId14"/>
    <p:sldId id="264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82698-90A9-424C-90BF-DA7D61B5F8C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23E68-B2B4-40CF-88BB-6827B0D5D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3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9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6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2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5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0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85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76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0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4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29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8561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1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53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3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85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7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6922B8D-3499-4803-9C15-D1107C8D5AA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1A7F8-BF8E-432C-83D1-2FC7AC8B3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26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STRIVE </a:t>
            </a:r>
            <a:br>
              <a:rPr lang="en-US" dirty="0" smtClean="0"/>
            </a:br>
            <a:r>
              <a:rPr lang="en-US" dirty="0" smtClean="0"/>
              <a:t>COMPILER BINDING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Directorate of Computer architecture &amp;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8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4A005E-95BD-4BA7-8A96-97334EC9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4581"/>
            <a:ext cx="10515600" cy="1287829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BB494184-265A-42E6-8ADC-A0DF04032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6031" y="2240799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AE3D2FC9-DA38-4758-BA4A-8A45F5EC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6777" y="392352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xmlns="" id="{E611BB5E-12C2-4D6A-8C89-10CD321919B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4623" y="2018896"/>
            <a:ext cx="10289177" cy="222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/>
            </a:r>
            <a:br>
              <a:rPr lang="en-US" sz="3200" dirty="0"/>
            </a:br>
            <a:r>
              <a:rPr lang="en-US" sz="3200" i="1" dirty="0" smtClean="0"/>
              <a:t>“To </a:t>
            </a:r>
            <a:r>
              <a:rPr lang="en-US" sz="32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Bind</a:t>
            </a:r>
            <a:r>
              <a:rPr lang="en-US" sz="3200" i="1" dirty="0" smtClean="0"/>
              <a:t> a </a:t>
            </a:r>
            <a:r>
              <a:rPr lang="en-US" sz="32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r>
              <a:rPr lang="en-US" sz="3200" i="1" dirty="0" smtClean="0"/>
              <a:t> to a </a:t>
            </a:r>
            <a:r>
              <a:rPr lang="en-US" sz="32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Microcontroller</a:t>
            </a:r>
            <a:r>
              <a:rPr lang="en-US" sz="3200" i="1" dirty="0" smtClean="0"/>
              <a:t> in such a way that only a </a:t>
            </a:r>
            <a:r>
              <a:rPr lang="en-US" sz="32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registered user </a:t>
            </a:r>
            <a:r>
              <a:rPr lang="en-US" sz="3200" i="1" dirty="0" smtClean="0"/>
              <a:t>is able to </a:t>
            </a:r>
            <a:r>
              <a:rPr lang="en-US" sz="32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</a:t>
            </a:r>
            <a:r>
              <a:rPr lang="en-US" sz="3200" i="1" dirty="0" smtClean="0"/>
              <a:t> it”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77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4A005E-95BD-4BA7-8A96-97334EC9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4581"/>
            <a:ext cx="10515600" cy="1287829"/>
          </a:xfrm>
        </p:spPr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Justification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BB494184-265A-42E6-8ADC-A0DF04032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6031" y="2240799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AE3D2FC9-DA38-4758-BA4A-8A45F5EC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6777" y="392352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xmlns="" id="{E611BB5E-12C2-4D6A-8C89-10CD321919B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2011832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An attacker can erase a microcontroller program on a PCB and install a malicious program on it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can compromise the mission and no trace would be found of who programmed 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Since we have the control of chip manufacturing, we can implement a mechanism in the hardware which would not allow any program to run on it unless it is compiled by our </a:t>
            </a:r>
            <a:r>
              <a:rPr lang="en-US" alt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 compiler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7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C7B1A5D9-4658-472D-BC07-C1766AD39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8152"/>
            <a:ext cx="8035661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Novel Key Sharing Mechanism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Debug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unit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accessibility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controlled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key verification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Hardware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Security Features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Processor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locked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to a specific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for execution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Enhanced protection against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unauthorized code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execution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by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custom instruction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BB055BA-9DBD-4E72-90DE-78AB4B3B9D15}"/>
              </a:ext>
            </a:extLst>
          </p:cNvPr>
          <p:cNvSpPr txBox="1"/>
          <p:nvPr/>
        </p:nvSpPr>
        <p:spPr>
          <a:xfrm>
            <a:off x="838200" y="921181"/>
            <a:ext cx="8795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Calibri" panose="020F0502020204030204" pitchFamily="34" charset="0"/>
                <a:cs typeface="Calibri" panose="020F0502020204030204" pitchFamily="34" charset="0"/>
              </a:rPr>
              <a:t>NECOP Secure Compiler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9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F325400-5DF4-481D-AC6B-0E883A96BC13}"/>
              </a:ext>
            </a:extLst>
          </p:cNvPr>
          <p:cNvSpPr/>
          <p:nvPr/>
        </p:nvSpPr>
        <p:spPr>
          <a:xfrm>
            <a:off x="7294369" y="1687397"/>
            <a:ext cx="1372750" cy="7323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C93D0F1-5D49-45BC-953F-D3D0411A1345}"/>
              </a:ext>
            </a:extLst>
          </p:cNvPr>
          <p:cNvSpPr/>
          <p:nvPr/>
        </p:nvSpPr>
        <p:spPr>
          <a:xfrm>
            <a:off x="10324785" y="1609231"/>
            <a:ext cx="1372750" cy="7323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Debug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9C59F6D-0E51-4BB5-ADE1-C5EDA9EC0A51}"/>
              </a:ext>
            </a:extLst>
          </p:cNvPr>
          <p:cNvSpPr/>
          <p:nvPr/>
        </p:nvSpPr>
        <p:spPr>
          <a:xfrm>
            <a:off x="5063925" y="3175700"/>
            <a:ext cx="865986" cy="7253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Flash 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0BE4AD-9DA8-421D-8738-B7C4DD96A231}"/>
              </a:ext>
            </a:extLst>
          </p:cNvPr>
          <p:cNvSpPr/>
          <p:nvPr/>
        </p:nvSpPr>
        <p:spPr>
          <a:xfrm>
            <a:off x="7294369" y="3167850"/>
            <a:ext cx="1372750" cy="73230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Custom Instruction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C159380-9344-4D95-ABDA-081A32AA14F3}"/>
              </a:ext>
            </a:extLst>
          </p:cNvPr>
          <p:cNvSpPr/>
          <p:nvPr/>
        </p:nvSpPr>
        <p:spPr>
          <a:xfrm>
            <a:off x="7294369" y="4726469"/>
            <a:ext cx="1372750" cy="7323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Authenticator</a:t>
            </a:r>
            <a:endParaRPr lang="en-US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4EE84378-55DE-40A9-A6A9-D88A36976034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5929911" y="3534002"/>
            <a:ext cx="1364458" cy="439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xmlns="" id="{F576E8C6-6479-483F-8DA8-4031BE97BA42}"/>
              </a:ext>
            </a:extLst>
          </p:cNvPr>
          <p:cNvCxnSpPr>
            <a:stCxn id="9" idx="1"/>
            <a:endCxn id="7" idx="2"/>
          </p:cNvCxnSpPr>
          <p:nvPr/>
        </p:nvCxnSpPr>
        <p:spPr>
          <a:xfrm rot="10800000">
            <a:off x="5496919" y="3901096"/>
            <a:ext cx="1797451" cy="1191526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xmlns="" id="{E95A83BB-3FA3-445F-B0FF-42AFF1903F82}"/>
              </a:ext>
            </a:extLst>
          </p:cNvPr>
          <p:cNvCxnSpPr>
            <a:stCxn id="9" idx="3"/>
            <a:endCxn id="5" idx="2"/>
          </p:cNvCxnSpPr>
          <p:nvPr/>
        </p:nvCxnSpPr>
        <p:spPr>
          <a:xfrm flipV="1">
            <a:off x="8667119" y="2341535"/>
            <a:ext cx="2344041" cy="2751087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80ACDE68-9B42-48A0-B6B4-6B738C0AE186}"/>
              </a:ext>
            </a:extLst>
          </p:cNvPr>
          <p:cNvCxnSpPr>
            <a:endCxn id="8" idx="0"/>
          </p:cNvCxnSpPr>
          <p:nvPr/>
        </p:nvCxnSpPr>
        <p:spPr>
          <a:xfrm>
            <a:off x="7971866" y="2441375"/>
            <a:ext cx="8878" cy="72647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BB055BA-9DBD-4E72-90DE-78AB4B3B9D15}"/>
              </a:ext>
            </a:extLst>
          </p:cNvPr>
          <p:cNvSpPr txBox="1"/>
          <p:nvPr/>
        </p:nvSpPr>
        <p:spPr>
          <a:xfrm>
            <a:off x="502534" y="640109"/>
            <a:ext cx="8795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xmlns="" id="{C7B1A5D9-4658-472D-BC07-C1766AD39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751" y="1687397"/>
            <a:ext cx="427612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Security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Flash memory that stores the keys is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not connected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to the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system bus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. It is only accessible by a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compare unit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which is triggered by a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custom instruction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baseline="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Debug is only</a:t>
            </a:r>
            <a:r>
              <a:rPr lang="en-US" altLang="en-US" sz="1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enabled</a:t>
            </a:r>
            <a:r>
              <a:rPr lang="en-US" altLang="en-US" sz="1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when the </a:t>
            </a:r>
            <a:r>
              <a:rPr lang="en-US" alt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Authenticator</a:t>
            </a:r>
            <a:r>
              <a:rPr lang="en-US" altLang="en-US" sz="1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allows it to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Authenticator needs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the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last key 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in order to access the flash memory.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69306" y="3175700"/>
            <a:ext cx="1076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compare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307043" y="4814033"/>
            <a:ext cx="1255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uart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855792" y="4814032"/>
            <a:ext cx="1255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uart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7341242" y="6034747"/>
            <a:ext cx="1325877" cy="6785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PC</a:t>
            </a:r>
            <a:endParaRPr lang="en-US" dirty="0"/>
          </a:p>
        </p:txBody>
      </p:sp>
      <p:cxnSp>
        <p:nvCxnSpPr>
          <p:cNvPr id="20" name="Straight Arrow Connector 19"/>
          <p:cNvCxnSpPr>
            <a:stCxn id="10" idx="0"/>
          </p:cNvCxnSpPr>
          <p:nvPr/>
        </p:nvCxnSpPr>
        <p:spPr>
          <a:xfrm flipH="1" flipV="1">
            <a:off x="7992462" y="5458775"/>
            <a:ext cx="11719" cy="575972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93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51CA42F-4FE9-4E88-0486-B67A73656AF9}"/>
              </a:ext>
            </a:extLst>
          </p:cNvPr>
          <p:cNvSpPr/>
          <p:nvPr/>
        </p:nvSpPr>
        <p:spPr>
          <a:xfrm>
            <a:off x="2091681" y="1484671"/>
            <a:ext cx="1877438" cy="4317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80E7CA3-8DCB-ECF3-545A-67A06CAF1F34}"/>
              </a:ext>
            </a:extLst>
          </p:cNvPr>
          <p:cNvSpPr/>
          <p:nvPr/>
        </p:nvSpPr>
        <p:spPr>
          <a:xfrm>
            <a:off x="2091681" y="1052888"/>
            <a:ext cx="1877438" cy="4317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29295BA-00C4-910B-3EB7-4757B964E0B6}"/>
              </a:ext>
            </a:extLst>
          </p:cNvPr>
          <p:cNvSpPr/>
          <p:nvPr/>
        </p:nvSpPr>
        <p:spPr>
          <a:xfrm>
            <a:off x="2091681" y="1052888"/>
            <a:ext cx="1877438" cy="2266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      Flash memory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A64085D-ADAF-8DB1-C261-F77637608BD6}"/>
              </a:ext>
            </a:extLst>
          </p:cNvPr>
          <p:cNvSpPr/>
          <p:nvPr/>
        </p:nvSpPr>
        <p:spPr>
          <a:xfrm>
            <a:off x="5126477" y="3132305"/>
            <a:ext cx="5068110" cy="11381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                                                                </a:t>
            </a:r>
            <a:endParaRPr lang="en-US" sz="12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My custom Key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CD3581E-DD85-C048-CB17-62A3A19BB32A}"/>
              </a:ext>
            </a:extLst>
          </p:cNvPr>
          <p:cNvSpPr/>
          <p:nvPr/>
        </p:nvSpPr>
        <p:spPr>
          <a:xfrm>
            <a:off x="5126477" y="3132307"/>
            <a:ext cx="856034" cy="79766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833E49-69DD-1461-6097-684AFB8AECCA}"/>
              </a:ext>
            </a:extLst>
          </p:cNvPr>
          <p:cNvSpPr/>
          <p:nvPr/>
        </p:nvSpPr>
        <p:spPr>
          <a:xfrm>
            <a:off x="5969541" y="3132306"/>
            <a:ext cx="856034" cy="7976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6946DA8-8A21-74A5-F702-7B234B9C2A6B}"/>
              </a:ext>
            </a:extLst>
          </p:cNvPr>
          <p:cNvSpPr/>
          <p:nvPr/>
        </p:nvSpPr>
        <p:spPr>
          <a:xfrm>
            <a:off x="6822333" y="3132306"/>
            <a:ext cx="856034" cy="7976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80AADF3-6775-7A27-D2DA-21CD19BC2D7A}"/>
              </a:ext>
            </a:extLst>
          </p:cNvPr>
          <p:cNvSpPr/>
          <p:nvPr/>
        </p:nvSpPr>
        <p:spPr>
          <a:xfrm>
            <a:off x="7665397" y="3132306"/>
            <a:ext cx="856034" cy="7976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8B0AFE8-3216-7497-3589-4D189E37B4C0}"/>
              </a:ext>
            </a:extLst>
          </p:cNvPr>
          <p:cNvSpPr/>
          <p:nvPr/>
        </p:nvSpPr>
        <p:spPr>
          <a:xfrm>
            <a:off x="8518189" y="3132306"/>
            <a:ext cx="856034" cy="7976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E1896DB-A3CA-E374-FF9E-E08319E599BC}"/>
              </a:ext>
            </a:extLst>
          </p:cNvPr>
          <p:cNvSpPr/>
          <p:nvPr/>
        </p:nvSpPr>
        <p:spPr>
          <a:xfrm>
            <a:off x="9320718" y="3132306"/>
            <a:ext cx="856034" cy="7976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baseline="-25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9535F45-B443-84D1-3789-4498AD07E6D9}"/>
              </a:ext>
            </a:extLst>
          </p:cNvPr>
          <p:cNvSpPr txBox="1"/>
          <p:nvPr/>
        </p:nvSpPr>
        <p:spPr>
          <a:xfrm>
            <a:off x="5215836" y="3332041"/>
            <a:ext cx="673306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Start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9ABE06-84CF-3DD9-B8AE-F4C844F67017}"/>
              </a:ext>
            </a:extLst>
          </p:cNvPr>
          <p:cNvSpPr txBox="1"/>
          <p:nvPr/>
        </p:nvSpPr>
        <p:spPr>
          <a:xfrm>
            <a:off x="6845030" y="3332041"/>
            <a:ext cx="756416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Key-2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A039682-92A0-3A08-311B-62151D5AD9FE}"/>
              </a:ext>
            </a:extLst>
          </p:cNvPr>
          <p:cNvSpPr txBox="1"/>
          <p:nvPr/>
        </p:nvSpPr>
        <p:spPr>
          <a:xfrm>
            <a:off x="7708460" y="3338544"/>
            <a:ext cx="756939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Key-3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CE45570-4D2C-1CAC-1116-61AA23D00306}"/>
              </a:ext>
            </a:extLst>
          </p:cNvPr>
          <p:cNvSpPr txBox="1"/>
          <p:nvPr/>
        </p:nvSpPr>
        <p:spPr>
          <a:xfrm>
            <a:off x="8506805" y="3328928"/>
            <a:ext cx="912483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Enable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49C8F96-3595-5D13-807E-2D11A9B5938F}"/>
              </a:ext>
            </a:extLst>
          </p:cNvPr>
          <p:cNvSpPr txBox="1"/>
          <p:nvPr/>
        </p:nvSpPr>
        <p:spPr>
          <a:xfrm>
            <a:off x="9427013" y="3338544"/>
            <a:ext cx="673306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End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xmlns="" id="{153B6907-7459-CC43-12D0-165E0E8616B3}"/>
              </a:ext>
            </a:extLst>
          </p:cNvPr>
          <p:cNvSpPr/>
          <p:nvPr/>
        </p:nvSpPr>
        <p:spPr>
          <a:xfrm>
            <a:off x="5316151" y="801329"/>
            <a:ext cx="1435509" cy="97339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guet Script" panose="00000500000000000000" pitchFamily="2" charset="0"/>
              </a:rPr>
              <a:t>compare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CD32460-CE75-49EB-60DD-5E9034EDF98E}"/>
              </a:ext>
            </a:extLst>
          </p:cNvPr>
          <p:cNvSpPr txBox="1"/>
          <p:nvPr/>
        </p:nvSpPr>
        <p:spPr>
          <a:xfrm>
            <a:off x="2516077" y="1132949"/>
            <a:ext cx="1111045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Key-1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7AC01FF-A155-CB8B-7191-3B442AA6DD06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969119" y="1288026"/>
            <a:ext cx="134703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DABB22DF-53E9-286E-FDE0-14C554913B43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5557785" y="2292532"/>
            <a:ext cx="1315897" cy="363651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xmlns="" id="{FEAECD20-0639-A057-4983-825D66A8F056}"/>
              </a:ext>
            </a:extLst>
          </p:cNvPr>
          <p:cNvCxnSpPr>
            <a:stCxn id="8" idx="0"/>
            <a:endCxn id="18" idx="0"/>
          </p:cNvCxnSpPr>
          <p:nvPr/>
        </p:nvCxnSpPr>
        <p:spPr>
          <a:xfrm rot="16200000" flipV="1">
            <a:off x="4100666" y="-17378"/>
            <a:ext cx="2079418" cy="4219950"/>
          </a:xfrm>
          <a:prstGeom prst="bentConnector3">
            <a:avLst>
              <a:gd name="adj1" fmla="val 119977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BBF15C9D-3773-FFEC-172E-73E91BF8A348}"/>
              </a:ext>
            </a:extLst>
          </p:cNvPr>
          <p:cNvSpPr/>
          <p:nvPr/>
        </p:nvSpPr>
        <p:spPr>
          <a:xfrm>
            <a:off x="117987" y="1155289"/>
            <a:ext cx="1558647" cy="17157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Debug Unit</a:t>
            </a:r>
          </a:p>
        </p:txBody>
      </p:sp>
      <p:sp>
        <p:nvSpPr>
          <p:cNvPr id="36" name="Flowchart: Delay 35">
            <a:extLst>
              <a:ext uri="{FF2B5EF4-FFF2-40B4-BE49-F238E27FC236}">
                <a16:creationId xmlns:a16="http://schemas.microsoft.com/office/drawing/2014/main" xmlns="" id="{984DA2E8-F1F6-B139-FA66-6BAC20F9EA8A}"/>
              </a:ext>
            </a:extLst>
          </p:cNvPr>
          <p:cNvSpPr/>
          <p:nvPr/>
        </p:nvSpPr>
        <p:spPr>
          <a:xfrm>
            <a:off x="8649869" y="1095506"/>
            <a:ext cx="696980" cy="679217"/>
          </a:xfrm>
          <a:prstGeom prst="flowChartDelay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BDB68C90-E641-0B8D-0110-CBBB3E3A8904}"/>
              </a:ext>
            </a:extLst>
          </p:cNvPr>
          <p:cNvCxnSpPr>
            <a:stCxn id="21" idx="3"/>
          </p:cNvCxnSpPr>
          <p:nvPr/>
        </p:nvCxnSpPr>
        <p:spPr>
          <a:xfrm>
            <a:off x="6751660" y="1288026"/>
            <a:ext cx="187207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xmlns="" id="{A393442D-EED6-B2AC-D23E-CC401CB77B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926960" y="2261658"/>
            <a:ext cx="1561794" cy="179499"/>
          </a:xfrm>
          <a:prstGeom prst="bentConnector4">
            <a:avLst>
              <a:gd name="adj1" fmla="val 39128"/>
              <a:gd name="adj2" fmla="val 227354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xmlns="" id="{59CAD612-BDA9-B7A9-F23D-8F35E0017D0B}"/>
              </a:ext>
            </a:extLst>
          </p:cNvPr>
          <p:cNvCxnSpPr>
            <a:stCxn id="36" idx="3"/>
            <a:endCxn id="34" idx="0"/>
          </p:cNvCxnSpPr>
          <p:nvPr/>
        </p:nvCxnSpPr>
        <p:spPr>
          <a:xfrm flipH="1" flipV="1">
            <a:off x="897311" y="1155289"/>
            <a:ext cx="8449538" cy="279826"/>
          </a:xfrm>
          <a:prstGeom prst="bentConnector4">
            <a:avLst>
              <a:gd name="adj1" fmla="val -2705"/>
              <a:gd name="adj2" fmla="val 37523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E75F16BA-C173-700C-ACCC-B16ADFE35544}"/>
              </a:ext>
            </a:extLst>
          </p:cNvPr>
          <p:cNvSpPr/>
          <p:nvPr/>
        </p:nvSpPr>
        <p:spPr>
          <a:xfrm>
            <a:off x="9655277" y="4743274"/>
            <a:ext cx="2196045" cy="1838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         </a:t>
            </a:r>
            <a:r>
              <a:rPr lang="en-US" sz="1200" b="1" dirty="0" smtClean="0">
                <a:solidFill>
                  <a:schemeClr val="bg1"/>
                </a:solidFill>
                <a:latin typeface="Baguet Script" panose="00000500000000000000" pitchFamily="2" charset="0"/>
              </a:rPr>
              <a:t>Code </a:t>
            </a:r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Block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22107B82-4FA0-501E-830D-E78B59B76C24}"/>
              </a:ext>
            </a:extLst>
          </p:cNvPr>
          <p:cNvSpPr/>
          <p:nvPr/>
        </p:nvSpPr>
        <p:spPr>
          <a:xfrm>
            <a:off x="5299587" y="5826943"/>
            <a:ext cx="3008291" cy="7462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      </a:t>
            </a:r>
            <a:r>
              <a:rPr lang="en-US" sz="1200" b="1" dirty="0" smtClean="0">
                <a:solidFill>
                  <a:schemeClr val="bg1"/>
                </a:solidFill>
                <a:latin typeface="Baguet Script" panose="00000500000000000000" pitchFamily="2" charset="0"/>
              </a:rPr>
              <a:t>My </a:t>
            </a:r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custom </a:t>
            </a:r>
            <a:r>
              <a:rPr lang="en-US" sz="1200" b="1" dirty="0" smtClean="0">
                <a:solidFill>
                  <a:schemeClr val="bg1"/>
                </a:solidFill>
                <a:latin typeface="Baguet Script" panose="00000500000000000000" pitchFamily="2" charset="0"/>
              </a:rPr>
              <a:t>instruction</a:t>
            </a:r>
            <a:endParaRPr lang="en-US" sz="12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1DFB595C-FB8D-FF56-B290-21CCF01F7C9B}"/>
              </a:ext>
            </a:extLst>
          </p:cNvPr>
          <p:cNvSpPr/>
          <p:nvPr/>
        </p:nvSpPr>
        <p:spPr>
          <a:xfrm>
            <a:off x="5299586" y="5824446"/>
            <a:ext cx="1097971" cy="3291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opcode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93E27202-5328-2139-BB8A-C8B19FFA98C0}"/>
              </a:ext>
            </a:extLst>
          </p:cNvPr>
          <p:cNvSpPr/>
          <p:nvPr/>
        </p:nvSpPr>
        <p:spPr>
          <a:xfrm>
            <a:off x="6397559" y="5819056"/>
            <a:ext cx="1910318" cy="329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Baguet Script" panose="00000500000000000000" pitchFamily="2" charset="0"/>
              </a:rPr>
              <a:t>Imm</a:t>
            </a:r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 Value</a:t>
            </a: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xmlns="" id="{D21CC781-1A53-723F-B567-B3F935030E3D}"/>
              </a:ext>
            </a:extLst>
          </p:cNvPr>
          <p:cNvSpPr/>
          <p:nvPr/>
        </p:nvSpPr>
        <p:spPr>
          <a:xfrm>
            <a:off x="2794176" y="4886632"/>
            <a:ext cx="1435509" cy="97339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Baguet Script" panose="00000500000000000000" pitchFamily="2" charset="0"/>
              </a:rPr>
              <a:t>compare</a:t>
            </a:r>
            <a:endParaRPr lang="en-US" sz="1000" b="1" dirty="0">
              <a:solidFill>
                <a:schemeClr val="bg1"/>
              </a:solidFill>
              <a:latin typeface="Baguet Script" panose="00000500000000000000" pitchFamily="2" charset="0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xmlns="" id="{D49F5A10-0EA6-7BCA-7BAA-5129AF36573F}"/>
              </a:ext>
            </a:extLst>
          </p:cNvPr>
          <p:cNvCxnSpPr>
            <a:stCxn id="19" idx="1"/>
            <a:endCxn id="54" idx="1"/>
          </p:cNvCxnSpPr>
          <p:nvPr/>
        </p:nvCxnSpPr>
        <p:spPr>
          <a:xfrm rot="10800000" flipH="1" flipV="1">
            <a:off x="2091680" y="1700563"/>
            <a:ext cx="702495" cy="3672766"/>
          </a:xfrm>
          <a:prstGeom prst="bentConnector3">
            <a:avLst>
              <a:gd name="adj1" fmla="val -32541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3F26CEC5-B58D-2A1C-2E03-31CB14A7E915}"/>
              </a:ext>
            </a:extLst>
          </p:cNvPr>
          <p:cNvSpPr/>
          <p:nvPr/>
        </p:nvSpPr>
        <p:spPr>
          <a:xfrm>
            <a:off x="9655277" y="4743274"/>
            <a:ext cx="2196045" cy="3891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92E77983-066A-55CB-1D47-768D65D91F52}"/>
              </a:ext>
            </a:extLst>
          </p:cNvPr>
          <p:cNvSpPr/>
          <p:nvPr/>
        </p:nvSpPr>
        <p:spPr>
          <a:xfrm>
            <a:off x="9655277" y="5132439"/>
            <a:ext cx="2196045" cy="38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Code main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xmlns="" id="{45CC9FC6-31D0-C670-099A-F46594C91F6C}"/>
              </a:ext>
            </a:extLst>
          </p:cNvPr>
          <p:cNvCxnSpPr>
            <a:cxnSpLocks/>
            <a:stCxn id="52" idx="0"/>
          </p:cNvCxnSpPr>
          <p:nvPr/>
        </p:nvCxnSpPr>
        <p:spPr>
          <a:xfrm rot="5400000" flipH="1" flipV="1">
            <a:off x="8128001" y="4291779"/>
            <a:ext cx="751994" cy="2302560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xmlns="" id="{7B9D8AB8-F41A-A270-DDDC-874FD0B6EA17}"/>
              </a:ext>
            </a:extLst>
          </p:cNvPr>
          <p:cNvCxnSpPr>
            <a:stCxn id="57" idx="1"/>
            <a:endCxn id="54" idx="0"/>
          </p:cNvCxnSpPr>
          <p:nvPr/>
        </p:nvCxnSpPr>
        <p:spPr>
          <a:xfrm rot="10800000">
            <a:off x="3511931" y="4886633"/>
            <a:ext cx="6143346" cy="51225"/>
          </a:xfrm>
          <a:prstGeom prst="bentConnector4">
            <a:avLst>
              <a:gd name="adj1" fmla="val 44158"/>
              <a:gd name="adj2" fmla="val 642237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xmlns="" id="{7F2339F9-91E0-4A80-5F26-F184F564F5BF}"/>
              </a:ext>
            </a:extLst>
          </p:cNvPr>
          <p:cNvCxnSpPr>
            <a:stCxn id="54" idx="3"/>
            <a:endCxn id="58" idx="1"/>
          </p:cNvCxnSpPr>
          <p:nvPr/>
        </p:nvCxnSpPr>
        <p:spPr>
          <a:xfrm flipV="1">
            <a:off x="4229685" y="5327022"/>
            <a:ext cx="5425592" cy="46307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88E6EB05-5BA1-6D9C-4053-2CE89CF02BE9}"/>
              </a:ext>
            </a:extLst>
          </p:cNvPr>
          <p:cNvSpPr txBox="1"/>
          <p:nvPr/>
        </p:nvSpPr>
        <p:spPr>
          <a:xfrm>
            <a:off x="10080780" y="4742648"/>
            <a:ext cx="1423087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Baguet Script" panose="00000500000000000000" pitchFamily="2" charset="0"/>
              </a:rPr>
              <a:t>Imm</a:t>
            </a:r>
            <a:r>
              <a:rPr lang="en-US" sz="1200" b="1" dirty="0">
                <a:solidFill>
                  <a:schemeClr val="bg1"/>
                </a:solidFill>
                <a:latin typeface="Baguet Script" panose="00000500000000000000" pitchFamily="2" charset="0"/>
              </a:rPr>
              <a:t> value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254FC05F-E2F5-5191-8DFE-A0066D63293D}"/>
              </a:ext>
            </a:extLst>
          </p:cNvPr>
          <p:cNvSpPr txBox="1"/>
          <p:nvPr/>
        </p:nvSpPr>
        <p:spPr>
          <a:xfrm>
            <a:off x="525423" y="5895246"/>
            <a:ext cx="407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guet Script" panose="00000500000000000000" pitchFamily="2" charset="0"/>
              </a:rPr>
              <a:t>Compiler Binding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E66B635-CEF2-3B3C-8000-B60435C2AB56}"/>
              </a:ext>
            </a:extLst>
          </p:cNvPr>
          <p:cNvSpPr txBox="1"/>
          <p:nvPr/>
        </p:nvSpPr>
        <p:spPr>
          <a:xfrm>
            <a:off x="6077141" y="3328928"/>
            <a:ext cx="761477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guet Script" panose="020F0502020204030204" pitchFamily="2" charset="0"/>
              </a:rPr>
              <a:t>Key-1</a:t>
            </a:r>
          </a:p>
        </p:txBody>
      </p:sp>
    </p:spTree>
    <p:extLst>
      <p:ext uri="{BB962C8B-B14F-4D97-AF65-F5344CB8AC3E}">
        <p14:creationId xmlns:p14="http://schemas.microsoft.com/office/powerpoint/2010/main" val="58489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401 -0.02361 L 0.16276 -0.02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85 -0.02825 L 0.01185 -0.264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0.00533 C -0.00052 -0.0132 -0.00039 -0.02107 -0.00104 -0.02871 C -0.0013 -0.03241 -0.00365 -0.03333 -0.00508 -0.03542 C -0.00912 -0.04121 -0.00547 -0.03866 -0.01068 -0.04097 C -0.01341 -0.04815 -0.01068 -0.04306 -0.01472 -0.0463 C -0.01563 -0.04699 -0.01641 -0.04815 -0.01719 -0.04908 C -0.0181 -0.0507 -0.01862 -0.05208 -0.01953 -0.05324 C -0.02214 -0.05579 -0.02513 -0.05648 -0.02774 -0.05857 C -0.03711 -0.06644 -0.02956 -0.06158 -0.03815 -0.06945 C -0.03946 -0.0706 -0.04089 -0.07083 -0.04219 -0.07199 C -0.04479 -0.07431 -0.0474 -0.07732 -0.05026 -0.07871 C -0.05104 -0.0794 -0.05182 -0.07963 -0.05274 -0.08009 C -0.0586 -0.08472 -0.05313 -0.08218 -0.05925 -0.08472 C -0.06198 -0.0875 -0.06406 -0.09051 -0.06706 -0.09213 C -0.06875 -0.09329 -0.07201 -0.09491 -0.07201 -0.09468 C -0.07696 -0.1007 -0.07175 -0.0956 -0.07761 -0.09908 C -0.07878 -0.09977 -0.07982 -0.10116 -0.08073 -0.10185 C -0.08412 -0.10417 -0.08724 -0.10671 -0.09063 -0.1088 C -0.09128 -0.10903 -0.09219 -0.10949 -0.0931 -0.10996 C -0.09987 -0.11505 -0.09297 -0.11065 -0.09857 -0.11412 C -0.09948 -0.11482 -0.10026 -0.11597 -0.10104 -0.11667 C -0.10261 -0.11783 -0.10417 -0.11829 -0.10599 -0.11945 C -0.10938 -0.1213 -0.10755 -0.12037 -0.11159 -0.12222 C -0.11224 -0.12338 -0.11289 -0.12523 -0.11406 -0.12616 C -0.11602 -0.12778 -0.11836 -0.12778 -0.12044 -0.12894 L -0.12279 -0.13009 C -0.1237 -0.13102 -0.12435 -0.13195 -0.12526 -0.13287 C -0.1263 -0.1338 -0.12735 -0.13449 -0.12852 -0.13565 C -0.12878 -0.13611 -0.13334 -0.1419 -0.13412 -0.14236 C -0.13542 -0.14306 -0.13672 -0.14329 -0.13815 -0.14375 C -0.14388 -0.15 -0.14115 -0.14861 -0.14623 -0.15023 C -0.14714 -0.15139 -0.14792 -0.15208 -0.1487 -0.15301 C -0.14961 -0.15463 -0.15013 -0.15625 -0.15117 -0.15718 C -0.15209 -0.1581 -0.15326 -0.1581 -0.15443 -0.1588 C -0.15521 -0.15903 -0.15599 -0.15949 -0.15677 -0.15996 C -0.15821 -0.16111 -0.15938 -0.16273 -0.16081 -0.16412 C -0.16211 -0.16505 -0.16367 -0.16551 -0.16498 -0.1669 C -0.17344 -0.175 -0.16654 -0.17037 -0.17201 -0.17361 C -0.17292 -0.175 -0.17344 -0.17639 -0.17461 -0.17755 C -0.17526 -0.17824 -0.1763 -0.17824 -0.17709 -0.17894 C -0.17709 -0.17871 -0.18294 -0.18565 -0.18412 -0.18704 C -0.1849 -0.1882 -0.18594 -0.18843 -0.18672 -0.18958 C -0.19128 -0.19746 -0.18672 -0.19074 -0.19232 -0.19653 C -0.19349 -0.19769 -0.1944 -0.19931 -0.19544 -0.20046 C -0.19623 -0.20139 -0.19714 -0.20232 -0.19805 -0.20324 C -0.19935 -0.20463 -0.20078 -0.20579 -0.20196 -0.20741 C -0.20287 -0.20833 -0.20339 -0.21042 -0.20443 -0.21134 C -0.20873 -0.21528 -0.21341 -0.21759 -0.21732 -0.22222 C -0.21914 -0.22431 -0.22123 -0.22662 -0.22292 -0.22894 C -0.22435 -0.23079 -0.22552 -0.2331 -0.22696 -0.23426 C -0.22956 -0.23704 -0.23255 -0.23866 -0.23503 -0.24121 C -0.23828 -0.24445 -0.24141 -0.24769 -0.24479 -0.25046 C -0.2474 -0.25301 -0.25065 -0.25394 -0.25274 -0.25741 C -0.25625 -0.2632 -0.25417 -0.26065 -0.25938 -0.26412 C -0.26029 -0.26597 -0.2612 -0.26806 -0.2625 -0.26945 C -0.26367 -0.27107 -0.26524 -0.2713 -0.26641 -0.27246 C -0.26732 -0.27315 -0.2681 -0.27408 -0.26901 -0.27477 C -0.27578 -0.27986 -0.27175 -0.27523 -0.27774 -0.28033 C -0.28242 -0.28426 -0.27774 -0.28218 -0.28347 -0.28611 C -0.28451 -0.28634 -0.28568 -0.28658 -0.28672 -0.28704 C -0.29193 -0.29283 -0.2862 -0.28704 -0.29154 -0.29144 C -0.29375 -0.29283 -0.29584 -0.29468 -0.29805 -0.29676 C -0.29909 -0.29769 -0.3 -0.29884 -0.30117 -0.29931 C -0.30287 -0.30023 -0.30456 -0.30116 -0.30612 -0.30208 L -0.31237 -0.30486 C -0.31367 -0.30533 -0.31472 -0.30556 -0.31576 -0.30602 L -0.32057 -0.3088 C -0.32136 -0.30949 -0.32227 -0.30996 -0.32292 -0.31019 C -0.32409 -0.31065 -0.32526 -0.31111 -0.32617 -0.31158 C -0.32709 -0.31204 -0.32787 -0.3125 -0.32865 -0.31273 C -0.32969 -0.3132 -0.33086 -0.31366 -0.3319 -0.31412 C -0.33268 -0.31482 -0.33347 -0.31528 -0.33425 -0.31551 C -0.33581 -0.31621 -0.33763 -0.31644 -0.33919 -0.3169 C -0.34024 -0.31736 -0.34128 -0.31806 -0.34232 -0.31852 C -0.34531 -0.31921 -0.34675 -0.31945 -0.34961 -0.32107 C -0.35248 -0.32222 -0.35482 -0.32431 -0.35755 -0.325 C -0.35821 -0.325 -0.35873 -0.325 -0.35912 -0.325 " pathEditMode="relative" rAng="0" ptsTypes="AAAAAAAAAAAAAAAAAAAAA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56" y="-1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2 -0.02777 L -0.00482 -0.02754 C -0.01862 -0.02986 -0.02279 -0.03032 -0.04023 -0.03564 C -0.05807 -0.04097 -0.07591 -0.04606 -0.09362 -0.05347 C -0.09765 -0.05532 -0.10169 -0.05717 -0.10586 -0.05856 L -0.14193 -0.07152 C -0.14583 -0.07268 -0.14961 -0.07384 -0.15351 -0.07523 C -0.16094 -0.07824 -0.16836 -0.08148 -0.17578 -0.08425 C -0.18802 -0.08888 -0.18841 -0.08865 -0.19739 -0.09074 C -0.19935 -0.09166 -0.2013 -0.09259 -0.20325 -0.09328 C -0.20495 -0.09398 -0.20664 -0.09398 -0.20833 -0.09467 C -0.21601 -0.09768 -0.2237 -0.10092 -0.23138 -0.10486 C -0.23646 -0.1074 -0.2414 -0.11064 -0.24648 -0.1125 C -0.25104 -0.11412 -0.24896 -0.11319 -0.25299 -0.11504 C -0.2539 -0.11597 -0.25482 -0.11713 -0.25586 -0.11759 C -0.25755 -0.11851 -0.25924 -0.11851 -0.26094 -0.11898 C -0.26237 -0.11944 -0.2638 -0.11967 -0.26523 -0.12013 C -0.26601 -0.1206 -0.26667 -0.12106 -0.26745 -0.12152 C -0.26836 -0.12199 -0.2694 -0.12245 -0.27031 -0.12268 C -0.27513 -0.12708 -0.27122 -0.12407 -0.27604 -0.12662 C -0.28489 -0.13125 -0.27669 -0.12754 -0.28333 -0.13055 C -0.2845 -0.13171 -0.28568 -0.1331 -0.28685 -0.13425 C -0.28763 -0.13495 -0.28841 -0.13495 -0.28906 -0.13564 C -0.2918 -0.13842 -0.29427 -0.14166 -0.297 -0.14467 C -0.2987 -0.14629 -0.30039 -0.14791 -0.30208 -0.14976 C -0.30377 -0.15162 -0.30534 -0.15416 -0.30703 -0.15601 C -0.30768 -0.15671 -0.30859 -0.15671 -0.30924 -0.1574 C -0.31172 -0.15972 -0.31393 -0.16296 -0.3164 -0.16504 L -0.3237 -0.17152 C -0.32461 -0.17245 -0.32552 -0.17338 -0.32656 -0.17407 C -0.32734 -0.17453 -0.32799 -0.17476 -0.32877 -0.17546 C -0.32956 -0.17615 -0.33008 -0.17731 -0.33086 -0.178 C -0.33359 -0.18032 -0.33463 -0.18055 -0.33737 -0.18171 C -0.3388 -0.18356 -0.34023 -0.18541 -0.34167 -0.1868 C -0.34232 -0.1875 -0.3431 -0.18773 -0.34388 -0.18819 C -0.34505 -0.18888 -0.34635 -0.18981 -0.34752 -0.19074 C -0.34896 -0.19189 -0.35039 -0.19351 -0.35182 -0.19467 C -0.35521 -0.19722 -0.35859 -0.1993 -0.36185 -0.20231 C -0.3638 -0.20393 -0.36575 -0.20578 -0.36771 -0.2074 C -0.37187 -0.21064 -0.37734 -0.21388 -0.38138 -0.21759 C -0.38242 -0.21875 -0.3832 -0.2206 -0.38424 -0.22152 C -0.38515 -0.22222 -0.3862 -0.22222 -0.38711 -0.22268 C -0.38789 -0.22314 -0.38854 -0.22361 -0.38932 -0.22407 C -0.39154 -0.22662 -0.3918 -0.22731 -0.3944 -0.22916 C -0.39583 -0.23032 -0.39792 -0.23101 -0.39935 -0.23171 C -0.40443 -0.23773 -0.3987 -0.23148 -0.40377 -0.23564 C -0.41471 -0.24467 -0.40872 -0.24213 -0.41601 -0.24467 C -0.41719 -0.24537 -0.41849 -0.24606 -0.41966 -0.24722 C -0.42187 -0.24907 -0.42239 -0.25115 -0.42461 -0.25347 C -0.42851 -0.2574 -0.42565 -0.25277 -0.42747 -0.25601 " pathEditMode="relative" rAng="0" ptsTypes="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33" y="-1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544 -0.22893 L -0.44544 -0.2287 C -0.4457 -0.22361 -0.44583 -0.21782 -0.44622 -0.2125 C -0.44635 -0.21064 -0.44674 -0.20902 -0.447 -0.20717 C -0.44726 -0.20393 -0.44752 -0.20046 -0.44765 -0.19699 C -0.44935 -0.1618 -0.44739 -0.18958 -0.44909 -0.17013 C -0.44935 -0.16713 -0.44948 -0.16412 -0.44987 -0.16111 C -0.45013 -0.15856 -0.45078 -0.15601 -0.4513 -0.15347 C -0.45156 -0.15 -0.45169 -0.14652 -0.45195 -0.14305 C -0.45247 -0.13726 -0.45299 -0.13125 -0.45338 -0.12523 C -0.45364 -0.12175 -0.4539 -0.11828 -0.45417 -0.11504 C -0.45469 -0.10902 -0.45508 -0.103 -0.4556 -0.09699 L -0.45703 -0.08171 C -0.45729 -0.07569 -0.45742 -0.06967 -0.45781 -0.06365 C -0.45794 -0.06157 -0.45833 -0.05949 -0.45846 -0.05717 C -0.45872 -0.05463 -0.45911 -0.05208 -0.45924 -0.04953 C -0.4595 -0.0449 -0.45963 -0.04027 -0.45989 -0.03541 C -0.46015 -0.03194 -0.46042 -0.0287 -0.46068 -0.02523 C -0.46094 -0.02106 -0.46107 -0.01666 -0.46133 -0.0125 C -0.46172 -0.0081 -0.46289 0.00047 -0.46289 0.0007 C -0.46302 0.00764 -0.46328 0.01505 -0.46354 0.02223 C -0.4638 0.03033 -0.46393 0.03843 -0.46432 0.04653 C -0.46445 0.05093 -0.46484 0.0551 -0.46497 0.0595 C -0.46614 0.08936 -0.46445 0.07616 -0.4664 0.09005 C -0.46667 0.09561 -0.46693 0.10116 -0.46719 0.10672 C -0.46771 0.1176 -0.46797 0.11991 -0.46862 0.12987 C -0.46888 0.15602 -0.46888 0.18195 -0.46927 0.20811 C -0.4694 0.21112 -0.46992 0.21412 -0.47005 0.21713 C -0.47018 0.22084 -0.47005 0.22477 -0.47005 0.22871 " pathEditMode="relative" rAng="0" ptsTypes="AAAAAAAAAAAAAAAAAAAAAAAAAAA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" y="2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677 -0.00578 L -0.49935 0.0395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35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5" grpId="1"/>
      <p:bldP spid="22" grpId="0"/>
      <p:bldP spid="58" grpId="0" animBg="1"/>
      <p:bldP spid="73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31430E-3669-250D-CF04-EFE7C245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562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Key Binding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7970F1B-9201-0252-6523-3AABC4130B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2880"/>
            <a:ext cx="719171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Generation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26-bit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key is generated dynamically.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Timestamp, Machine ID, UUID, Random Selection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Database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Management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centralized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database stores key bindings.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tracking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secure execution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maintains integrity.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Log Tracking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system can retrieve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last log entry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security purposes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08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481DF-E0B2-29A7-5108-DA3BCDA4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Custom Instruction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5E6A1E-550D-169C-1037-46CE1E96D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78356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Instruction Details</a:t>
            </a:r>
            <a:endParaRPr lang="en-US" dirty="0" smtClean="0">
              <a:solidFill>
                <a:schemeClr val="accent3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Kc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is successfully added as first class instruction in RISCV ISA so It can be used in C/assembler programs and supported by GCC +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binutils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					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kc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                                  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Kc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imm20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 					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I-Type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Encoding				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Imm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[20 bits]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[5] </a:t>
            </a:r>
          </a:p>
          <a:p>
            <a:pPr marL="0" indent="0">
              <a:buNone/>
            </a:pPr>
            <a:endParaRPr lang="en-US" dirty="0" smtClean="0">
              <a:solidFill>
                <a:schemeClr val="accent3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3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A27C5E-CB53-A700-FE58-6AF52DAF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Testing my GCC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6DD5E0AE-59F7-44CB-97CE-1F3891B38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79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Windows Executable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Addition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Instruction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834477F-F736-CADC-F71E-1CAB20321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97" y="1758488"/>
            <a:ext cx="6337935" cy="8305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7" y="3377629"/>
            <a:ext cx="5794800" cy="306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2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0604CE-D197-32B0-1B7B-E1D4AF29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Testing my code with custom GCC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5F5F033-0FA4-7FF5-8A7B-B0EACBC65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605" y="1536619"/>
            <a:ext cx="8620125" cy="1333500"/>
          </a:xfrm>
        </p:spPr>
      </p:pic>
    </p:spTree>
    <p:extLst>
      <p:ext uri="{BB962C8B-B14F-4D97-AF65-F5344CB8AC3E}">
        <p14:creationId xmlns:p14="http://schemas.microsoft.com/office/powerpoint/2010/main" val="35125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53BC0C-6835-5DE0-6C5D-8156957F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GUI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4267FFE-AE77-4BAC-9214-121DB7EAD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538" y="1720139"/>
            <a:ext cx="734402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0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A809C-7953-51F5-5112-9FE09B14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 Features</a:t>
            </a:r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2D929381-72E0-9C7B-E1D6-4C1F5ED82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394" y="1702778"/>
            <a:ext cx="7476589" cy="4195762"/>
          </a:xfrm>
        </p:spPr>
      </p:pic>
    </p:spTree>
    <p:extLst>
      <p:ext uri="{BB962C8B-B14F-4D97-AF65-F5344CB8AC3E}">
        <p14:creationId xmlns:p14="http://schemas.microsoft.com/office/powerpoint/2010/main" val="129585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08FA0-204B-290E-E26B-7734A2CE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Code Compiling</a:t>
            </a:r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F11E80C-E42D-4B0C-BE2E-731245DF8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43" y="1557579"/>
            <a:ext cx="6365625" cy="4351338"/>
          </a:xfrm>
        </p:spPr>
      </p:pic>
    </p:spTree>
    <p:extLst>
      <p:ext uri="{BB962C8B-B14F-4D97-AF65-F5344CB8AC3E}">
        <p14:creationId xmlns:p14="http://schemas.microsoft.com/office/powerpoint/2010/main" val="201898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5DECE-763E-755E-A182-28797E36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Hex Viewer</a:t>
            </a:r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77D849A4-13EE-4817-B300-FA8B5BE80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19" y="1531446"/>
            <a:ext cx="6361956" cy="4351338"/>
          </a:xfrm>
        </p:spPr>
      </p:pic>
    </p:spTree>
    <p:extLst>
      <p:ext uri="{BB962C8B-B14F-4D97-AF65-F5344CB8AC3E}">
        <p14:creationId xmlns:p14="http://schemas.microsoft.com/office/powerpoint/2010/main" val="254520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BBD053-0B69-B362-E3FF-A2BDC6A7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Key Matching</a:t>
            </a:r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F38C87DA-1D3F-4FC7-A401-05EF81C41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9" y="1700222"/>
            <a:ext cx="5690616" cy="435133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BCCF4006-41F1-4E2A-B7F0-14268ECF5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61" y="1700222"/>
            <a:ext cx="5129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4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FDDBE1-7BDB-7AB6-3384-0070BE66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Updated Hex</a:t>
            </a:r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E62926E-3BC5-48B0-B298-87BE2E7E2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74" y="1598090"/>
            <a:ext cx="6360106" cy="4351338"/>
          </a:xfrm>
        </p:spPr>
      </p:pic>
    </p:spTree>
    <p:extLst>
      <p:ext uri="{BB962C8B-B14F-4D97-AF65-F5344CB8AC3E}">
        <p14:creationId xmlns:p14="http://schemas.microsoft.com/office/powerpoint/2010/main" val="71769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D814E9-416E-4178-912B-A7D24802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Connect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4A281CB-EB8D-469F-A415-A99213EAD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90494"/>
            <a:ext cx="59679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FB379CE-96AB-4D3C-B205-F600D0F75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875" y="1590494"/>
            <a:ext cx="504999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9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F404E6-95F4-44E3-BE9F-E080DF9D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Program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0DC43DD-2837-4647-8D0B-D60C95299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692" y="2052638"/>
            <a:ext cx="8324391" cy="4195762"/>
          </a:xfrm>
        </p:spPr>
      </p:pic>
    </p:spTree>
    <p:extLst>
      <p:ext uri="{BB962C8B-B14F-4D97-AF65-F5344CB8AC3E}">
        <p14:creationId xmlns:p14="http://schemas.microsoft.com/office/powerpoint/2010/main" val="318298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3D5EAAAFFE6C4E9A71ED658A84B409" ma:contentTypeVersion="5" ma:contentTypeDescription="Create a new document." ma:contentTypeScope="" ma:versionID="cd9cdf0f3fbf9e0e6dedc5060b7f1a41">
  <xsd:schema xmlns:xsd="http://www.w3.org/2001/XMLSchema" xmlns:xs="http://www.w3.org/2001/XMLSchema" xmlns:p="http://schemas.microsoft.com/office/2006/metadata/properties" xmlns:ns3="cf5c5450-bee3-40b8-b905-7d46d2de776a" targetNamespace="http://schemas.microsoft.com/office/2006/metadata/properties" ma:root="true" ma:fieldsID="e49ca4685cc3f034f5f46f4e88923f65" ns3:_="">
    <xsd:import namespace="cf5c5450-bee3-40b8-b905-7d46d2de776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c5450-bee3-40b8-b905-7d46d2de77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B5EE33-7BF0-4AAB-8BF9-A7BC24F744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885EBE-B96A-4BF0-90A6-5D53F3F4A3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5c5450-bee3-40b8-b905-7d46d2de77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846144-9541-4BFE-AD8E-D6031FD007E8}">
  <ds:schemaRefs>
    <ds:schemaRef ds:uri="http://schemas.microsoft.com/office/2006/documentManagement/types"/>
    <ds:schemaRef ds:uri="cf5c5450-bee3-40b8-b905-7d46d2de776a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14033</TotalTime>
  <Words>325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Baguet Script</vt:lpstr>
      <vt:lpstr>Calibri</vt:lpstr>
      <vt:lpstr>Calibri Light</vt:lpstr>
      <vt:lpstr>Century Gothic</vt:lpstr>
      <vt:lpstr>Wingdings 3</vt:lpstr>
      <vt:lpstr>Ion</vt:lpstr>
      <vt:lpstr>STRIVE  COMPILER BINDING</vt:lpstr>
      <vt:lpstr>Objective</vt:lpstr>
      <vt:lpstr>Justification</vt:lpstr>
      <vt:lpstr>PowerPoint Presentation</vt:lpstr>
      <vt:lpstr>PowerPoint Presentation</vt:lpstr>
      <vt:lpstr>PowerPoint Presentation</vt:lpstr>
      <vt:lpstr>Key Binding</vt:lpstr>
      <vt:lpstr>Custom Instruction</vt:lpstr>
      <vt:lpstr>Testing my GCC</vt:lpstr>
      <vt:lpstr>Testing my code with custom GCC</vt:lpstr>
      <vt:lpstr>GUI</vt:lpstr>
      <vt:lpstr>Application Features</vt:lpstr>
      <vt:lpstr>Code Compiling</vt:lpstr>
      <vt:lpstr>Hex Viewer</vt:lpstr>
      <vt:lpstr>Key Matching</vt:lpstr>
      <vt:lpstr>Updated Hex</vt:lpstr>
      <vt:lpstr>Connect Button</vt:lpstr>
      <vt:lpstr>Program Button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</dc:title>
  <dc:creator>Maria Ayub</dc:creator>
  <cp:lastModifiedBy>Maria Ayub</cp:lastModifiedBy>
  <cp:revision>36</cp:revision>
  <dcterms:created xsi:type="dcterms:W3CDTF">2024-11-26T11:53:58Z</dcterms:created>
  <dcterms:modified xsi:type="dcterms:W3CDTF">2025-09-11T05:37:58Z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0x010100B33D5EAAAFFE6C4E9A71ED658A84B409</vt:lpwstr>
  </property>
</Properties>
</file>